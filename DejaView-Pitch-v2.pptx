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[0:00-0:08] Hi, we're DAAP Developers. This is DéjàView: smart glasses that remember every Caterpillar machine and coach new technicians through repairs, hands-free and in their own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[0:08-0:20] Meet Luis. He's three weeks into his first technician job. A 320 excavator's boom is slow and it's throwing code 217. He's never seen this machine, the senior tech who knows it isn't here, and the answer is buried in English manuals and old notes. So he guesses.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[0:20-0:32] This isn't just Luis. Over 21,000 heavy-equipment technician jobs open every year, workers lose about a fifth of their time hunting for information, and a third of the construction workforce is Hispanic or Latino, with a higher fatal injury rate. The knowledge exists, but it's scattered, overwhelming, and English-first.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[0:32-0:42] We started by talking to Marcus, a product owner at Caterpillar. Safety is number one, so it has to be foolproof. Strikes and turnover push new people onto machines, and onboarding is slow. Our research showed the answer usually already exists; someone fixed it before. It just isn't where the technician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[0:42-0:52] DéjàView is smart glasses with a memory layer. Luis looks at the machine, asks out loud in Spanish, and hears that machine's history, what was wrongly blamed last time, and safe next steps. When he logs the fix by voice, the machine and the whole fleet 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[0:52-1:00] Each pain point maps to a feature: instant machine history, one answer with safety first, the tech's own language, shared memory so knowledge stays, and a hands-free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[1:00-1:06] Under the hood, five kinds of memory feed every answer. Every logged repair writes back, so the next answer is smarter, for this machine and the whole fleet.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[1:06-1:36] [Switch to the glasses tab.] Maya asks: boom is slow, code 217, have we seen this before? It recalls the last fix and warns that the valve was wrongly blamed. She logs that the sensor was fine and the line fitting was leaking. On the dashboard, the machine learned and the fleet pattern updated. Now Luis asks in Spanish and gets the whole answer in Spanish, including Maya's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North Star is simple: a new technician fixes an unfamiliar machine right the first time. Behind it are two success criteria: every repair starts safe, and new technicians can work on their own sooner. We'll measure all three in a pilot against technicians working without DéjàView.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[1:44-1:48] (Optional if short on time.) We chose hands-free over tablets, grounded answers over free-form AI, and an offline fallback because job sites lose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[1:48-1:56] Today we have a working prototype. Next is a 90-day pilot with one Cat dealer on real service records and Meta glasses. Then we scale to Cat's million-plus parts and live machine data, and finally every Cat machine gets a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[1:56-2:02] Next: more languages, smarter personalization, and scaling to all of Cat's data. DéjàView: every machine remembers, and every technician benefits.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0D10"/>
        </a:solidFill>
      </p:bgPr>
    </p:bg>
    <p:spTree>
      <p:nvGrpSpPr>
        <p:cNvPr id="1" name=""/>
        <p:cNvGrpSpPr/>
        <p:nvPr/>
      </p:nvGrpSpPr>
      <p:grpSpPr>
        <a:xfrm>
          <a:off x="0" y="0"/>
          <a:ext cx="0" cy="0"/>
          <a:chOff x="0" y="0"/>
          <a:chExt cx="0" cy="0"/>
        </a:xfrm>
      </p:grpSpPr>
      <p:sp>
        <p:nvSpPr>
          <p:cNvPr id="2" name="Shape 0"/>
          <p:cNvSpPr/>
          <p:nvPr/>
        </p:nvSpPr>
        <p:spPr>
          <a:xfrm>
            <a:off x="0" y="6784848"/>
            <a:ext cx="12191695" cy="73152"/>
          </a:xfrm>
          <a:prstGeom prst="rect">
            <a:avLst/>
          </a:prstGeom>
          <a:solidFill>
            <a:srgbClr val="FFCD11"/>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B0D10"/>
        </a:solidFill>
      </p:bgPr>
    </p:bg>
    <p:spTree>
      <p:nvGrpSpPr>
        <p:cNvPr id="1" name=""/>
        <p:cNvGrpSpPr/>
        <p:nvPr/>
      </p:nvGrpSpPr>
      <p:grpSpPr>
        <a:xfrm>
          <a:off x="0" y="0"/>
          <a:ext cx="0" cy="0"/>
          <a:chOff x="0" y="0"/>
          <a:chExt cx="0" cy="0"/>
        </a:xfrm>
      </p:grpSpPr>
      <p:sp>
        <p:nvSpPr>
          <p:cNvPr id="2" name="Shape 0"/>
          <p:cNvSpPr/>
          <p:nvPr/>
        </p:nvSpPr>
        <p:spPr>
          <a:xfrm>
            <a:off x="685800" y="6428232"/>
            <a:ext cx="128016" cy="128016"/>
          </a:xfrm>
          <a:prstGeom prst="rect">
            <a:avLst/>
          </a:prstGeom>
          <a:solidFill>
            <a:srgbClr val="FFCD11"/>
          </a:solidFill>
          <a:ln/>
        </p:spPr>
      </p:sp>
      <p:sp>
        <p:nvSpPr>
          <p:cNvPr id="3" name="Text 1"/>
          <p:cNvSpPr/>
          <p:nvPr/>
        </p:nvSpPr>
        <p:spPr>
          <a:xfrm>
            <a:off x="914400" y="6355080"/>
            <a:ext cx="4572000" cy="274320"/>
          </a:xfrm>
          <a:prstGeom prst="rect">
            <a:avLst/>
          </a:prstGeom>
          <a:noFill/>
          <a:ln/>
        </p:spPr>
        <p:txBody>
          <a:bodyPr wrap="square" lIns="0" tIns="0" rIns="0" bIns="0" rtlCol="0" anchor="ctr"/>
          <a:lstStyle/>
          <a:p>
            <a:pPr indent="0" marL="0">
              <a:buNone/>
            </a:pPr>
            <a:r>
              <a:rPr lang="en-US" sz="1000" dirty="0">
                <a:solidFill>
                  <a:srgbClr val="6B7480"/>
                </a:solidFill>
                <a:latin typeface="Segoe UI" pitchFamily="34" charset="0"/>
                <a:ea typeface="Segoe UI" pitchFamily="34" charset="-122"/>
                <a:cs typeface="Segoe UI" pitchFamily="34" charset="-120"/>
              </a:rPr>
              <a:t>DéjàView  ·  DAAP Developers</a:t>
            </a:r>
            <a:endParaRPr lang="en-US" sz="10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80"/>
                </a:solidFill>
                <a:latin typeface="Segoe UI"/>
                <a:ea typeface="Segoe UI"/>
                <a:cs typeface="Segoe U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80"/>
                </a:solidFill>
                <a:latin typeface="Segoe UI"/>
                <a:ea typeface="Segoe UI"/>
                <a:cs typeface="Segoe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slideLayout" Target="../slideLayouts/slideLayout3.xml"/><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image" Target="../media/image-6-15.png"/><Relationship Id="rId16" Type="http://schemas.openxmlformats.org/officeDocument/2006/relationships/slideLayout" Target="../slideLayouts/slideLayout3.xml"/><Relationship Id="rId1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583680" y="-1463040"/>
            <a:ext cx="6858000" cy="6858000"/>
          </a:xfrm>
          <a:prstGeom prst="ellipse">
            <a:avLst/>
          </a:prstGeom>
          <a:solidFill>
            <a:srgbClr val="FFCD11">
              <a:alpha val="6000"/>
            </a:srgbClr>
          </a:solidFill>
          <a:ln w="12700">
            <a:solidFill>
              <a:srgbClr val="FFCD11">
                <a:alpha val="0"/>
              </a:srgbClr>
            </a:solidFill>
            <a:prstDash val="solid"/>
          </a:ln>
        </p:spPr>
      </p:sp>
      <p:sp>
        <p:nvSpPr>
          <p:cNvPr id="3" name="Shape 1"/>
          <p:cNvSpPr/>
          <p:nvPr/>
        </p:nvSpPr>
        <p:spPr>
          <a:xfrm>
            <a:off x="685800" y="1188720"/>
            <a:ext cx="4709160" cy="365760"/>
          </a:xfrm>
          <a:prstGeom prst="roundRect">
            <a:avLst>
              <a:gd name="adj" fmla="val 50000"/>
            </a:avLst>
          </a:prstGeom>
          <a:solidFill>
            <a:srgbClr val="0B0D10">
              <a:alpha val="0"/>
            </a:srgbClr>
          </a:solidFill>
          <a:ln w="9525">
            <a:solidFill>
              <a:srgbClr val="FFCD11"/>
            </a:solidFill>
            <a:prstDash val="solid"/>
          </a:ln>
        </p:spPr>
      </p:sp>
      <p:sp>
        <p:nvSpPr>
          <p:cNvPr id="4" name="Text 2"/>
          <p:cNvSpPr/>
          <p:nvPr/>
        </p:nvSpPr>
        <p:spPr>
          <a:xfrm>
            <a:off x="685800" y="1188720"/>
            <a:ext cx="4709160" cy="365760"/>
          </a:xfrm>
          <a:prstGeom prst="rect">
            <a:avLst/>
          </a:prstGeom>
          <a:noFill/>
          <a:ln/>
        </p:spPr>
        <p:txBody>
          <a:bodyPr wrap="square" lIns="0" tIns="0" rIns="0" bIns="0" rtlCol="0" anchor="ctr"/>
          <a:lstStyle/>
          <a:p>
            <a:pPr algn="ctr" indent="0" marL="0">
              <a:lnSpc>
                <a:spcPct val="110000"/>
              </a:lnSpc>
              <a:buNone/>
            </a:pPr>
            <a:r>
              <a:rPr lang="en-US" sz="950" b="1" spc="100" kern="0" dirty="0">
                <a:solidFill>
                  <a:srgbClr val="FFCD11"/>
                </a:solidFill>
                <a:latin typeface="Segoe UI" pitchFamily="34" charset="0"/>
                <a:ea typeface="Segoe UI" pitchFamily="34" charset="-122"/>
                <a:cs typeface="Segoe UI" pitchFamily="34" charset="-120"/>
              </a:rPr>
              <a:t>HACK TO THE FUTURE  ·  CAT TRACK: MEMORY FOR PHYSICAL AI</a:t>
            </a:r>
            <a:endParaRPr lang="en-US" sz="950" dirty="0"/>
          </a:p>
        </p:txBody>
      </p:sp>
      <p:sp>
        <p:nvSpPr>
          <p:cNvPr id="5" name="Text 3"/>
          <p:cNvSpPr/>
          <p:nvPr/>
        </p:nvSpPr>
        <p:spPr>
          <a:xfrm>
            <a:off x="640080" y="1691640"/>
            <a:ext cx="5669280" cy="1325880"/>
          </a:xfrm>
          <a:prstGeom prst="rect">
            <a:avLst/>
          </a:prstGeom>
          <a:noFill/>
          <a:ln/>
        </p:spPr>
        <p:txBody>
          <a:bodyPr wrap="square" lIns="0" tIns="0" rIns="0" bIns="0" rtlCol="0" anchor="ctr"/>
          <a:lstStyle/>
          <a:p>
            <a:pPr indent="0" marL="0">
              <a:buNone/>
            </a:pPr>
            <a:r>
              <a:rPr lang="en-US" sz="8000" b="1" spc="-200" kern="0" dirty="0">
                <a:solidFill>
                  <a:srgbClr val="F2F3F5"/>
                </a:solidFill>
                <a:latin typeface="Segoe UI" pitchFamily="34" charset="0"/>
                <a:ea typeface="Segoe UI" pitchFamily="34" charset="-122"/>
                <a:cs typeface="Segoe UI" pitchFamily="34" charset="-120"/>
              </a:rPr>
              <a:t>Déjà</a:t>
            </a:r>
            <a:pPr indent="0" marL="0">
              <a:buNone/>
            </a:pPr>
            <a:r>
              <a:rPr lang="en-US" sz="8000" b="1" spc="-200" kern="0" dirty="0">
                <a:solidFill>
                  <a:srgbClr val="FFCD11"/>
                </a:solidFill>
                <a:latin typeface="Segoe UI" pitchFamily="34" charset="0"/>
                <a:ea typeface="Segoe UI" pitchFamily="34" charset="-122"/>
                <a:cs typeface="Segoe UI" pitchFamily="34" charset="-120"/>
              </a:rPr>
              <a:t>View</a:t>
            </a:r>
            <a:endParaRPr lang="en-US" sz="8000" dirty="0"/>
          </a:p>
        </p:txBody>
      </p:sp>
      <p:sp>
        <p:nvSpPr>
          <p:cNvPr id="6" name="Text 4"/>
          <p:cNvSpPr/>
          <p:nvPr/>
        </p:nvSpPr>
        <p:spPr>
          <a:xfrm>
            <a:off x="685800" y="3108960"/>
            <a:ext cx="5212080" cy="1097280"/>
          </a:xfrm>
          <a:prstGeom prst="rect">
            <a:avLst/>
          </a:prstGeom>
          <a:noFill/>
          <a:ln/>
        </p:spPr>
        <p:txBody>
          <a:bodyPr wrap="square" lIns="0" tIns="0" rIns="0" bIns="0" rtlCol="0" anchor="t"/>
          <a:lstStyle/>
          <a:p>
            <a:pPr algn="l" indent="0" marL="0">
              <a:lnSpc>
                <a:spcPct val="120000"/>
              </a:lnSpc>
              <a:buNone/>
            </a:pPr>
            <a:r>
              <a:rPr lang="en-US" sz="1900" dirty="0">
                <a:solidFill>
                  <a:srgbClr val="C9CED6"/>
                </a:solidFill>
                <a:latin typeface="Segoe UI" pitchFamily="34" charset="0"/>
                <a:ea typeface="Segoe UI" pitchFamily="34" charset="-122"/>
                <a:cs typeface="Segoe UI" pitchFamily="34" charset="-120"/>
              </a:rPr>
              <a:t>Smart glasses that remember every Caterpillar machine and coach new technicians through repairs, hands-free and in their own language.</a:t>
            </a:r>
            <a:endParaRPr lang="en-US" sz="1900" dirty="0"/>
          </a:p>
        </p:txBody>
      </p:sp>
      <p:pic>
        <p:nvPicPr>
          <p:cNvPr id="7" name="Image 0" descr="preencoded.png">    </p:cNvPr>
          <p:cNvPicPr>
            <a:picLocks noChangeAspect="1"/>
          </p:cNvPicPr>
          <p:nvPr/>
        </p:nvPicPr>
        <p:blipFill>
          <a:blip r:embed="rId1"/>
          <a:stretch>
            <a:fillRect/>
          </a:stretch>
        </p:blipFill>
        <p:spPr>
          <a:xfrm>
            <a:off x="685800" y="4443984"/>
            <a:ext cx="274320" cy="274320"/>
          </a:xfrm>
          <a:prstGeom prst="rect">
            <a:avLst/>
          </a:prstGeom>
        </p:spPr>
      </p:pic>
      <p:sp>
        <p:nvSpPr>
          <p:cNvPr id="8" name="Text 5"/>
          <p:cNvSpPr/>
          <p:nvPr/>
        </p:nvSpPr>
        <p:spPr>
          <a:xfrm>
            <a:off x="1051560" y="4443984"/>
            <a:ext cx="1417320" cy="292608"/>
          </a:xfrm>
          <a:prstGeom prst="rect">
            <a:avLst/>
          </a:prstGeom>
          <a:noFill/>
          <a:ln/>
        </p:spPr>
        <p:txBody>
          <a:bodyPr wrap="square" lIns="0" tIns="0" rIns="0" bIns="0" rtlCol="0" anchor="ctr"/>
          <a:lstStyle/>
          <a:p>
            <a:pPr algn="l" indent="0" marL="0">
              <a:lnSpc>
                <a:spcPct val="110000"/>
              </a:lnSpc>
              <a:buNone/>
            </a:pPr>
            <a:r>
              <a:rPr lang="en-US" sz="1200" dirty="0">
                <a:solidFill>
                  <a:srgbClr val="F2F3F5"/>
                </a:solidFill>
                <a:latin typeface="Segoe UI" pitchFamily="34" charset="0"/>
                <a:ea typeface="Segoe UI" pitchFamily="34" charset="-122"/>
                <a:cs typeface="Segoe UI" pitchFamily="34" charset="-120"/>
              </a:rPr>
              <a:t>Sees the machine</a:t>
            </a:r>
            <a:endParaRPr lang="en-US" sz="1200" dirty="0"/>
          </a:p>
        </p:txBody>
      </p:sp>
      <p:pic>
        <p:nvPicPr>
          <p:cNvPr id="9" name="Image 1" descr="preencoded.png">    </p:cNvPr>
          <p:cNvPicPr>
            <a:picLocks noChangeAspect="1"/>
          </p:cNvPicPr>
          <p:nvPr/>
        </p:nvPicPr>
        <p:blipFill>
          <a:blip r:embed="rId2"/>
          <a:stretch>
            <a:fillRect/>
          </a:stretch>
        </p:blipFill>
        <p:spPr>
          <a:xfrm>
            <a:off x="2468880" y="4443984"/>
            <a:ext cx="274320" cy="274320"/>
          </a:xfrm>
          <a:prstGeom prst="rect">
            <a:avLst/>
          </a:prstGeom>
        </p:spPr>
      </p:pic>
      <p:sp>
        <p:nvSpPr>
          <p:cNvPr id="10" name="Text 6"/>
          <p:cNvSpPr/>
          <p:nvPr/>
        </p:nvSpPr>
        <p:spPr>
          <a:xfrm>
            <a:off x="2834640" y="4443984"/>
            <a:ext cx="1417320" cy="292608"/>
          </a:xfrm>
          <a:prstGeom prst="rect">
            <a:avLst/>
          </a:prstGeom>
          <a:noFill/>
          <a:ln/>
        </p:spPr>
        <p:txBody>
          <a:bodyPr wrap="square" lIns="0" tIns="0" rIns="0" bIns="0" rtlCol="0" anchor="ctr"/>
          <a:lstStyle/>
          <a:p>
            <a:pPr algn="l" indent="0" marL="0">
              <a:lnSpc>
                <a:spcPct val="110000"/>
              </a:lnSpc>
              <a:buNone/>
            </a:pPr>
            <a:r>
              <a:rPr lang="en-US" sz="1200" dirty="0">
                <a:solidFill>
                  <a:srgbClr val="F2F3F5"/>
                </a:solidFill>
                <a:latin typeface="Segoe UI" pitchFamily="34" charset="0"/>
                <a:ea typeface="Segoe UI" pitchFamily="34" charset="-122"/>
                <a:cs typeface="Segoe UI" pitchFamily="34" charset="-120"/>
              </a:rPr>
              <a:t>Remembers its past</a:t>
            </a:r>
            <a:endParaRPr lang="en-US" sz="1200" dirty="0"/>
          </a:p>
        </p:txBody>
      </p:sp>
      <p:pic>
        <p:nvPicPr>
          <p:cNvPr id="11" name="Image 2" descr="preencoded.png">    </p:cNvPr>
          <p:cNvPicPr>
            <a:picLocks noChangeAspect="1"/>
          </p:cNvPicPr>
          <p:nvPr/>
        </p:nvPicPr>
        <p:blipFill>
          <a:blip r:embed="rId3"/>
          <a:stretch>
            <a:fillRect/>
          </a:stretch>
        </p:blipFill>
        <p:spPr>
          <a:xfrm>
            <a:off x="4251960" y="4443984"/>
            <a:ext cx="274320" cy="274320"/>
          </a:xfrm>
          <a:prstGeom prst="rect">
            <a:avLst/>
          </a:prstGeom>
        </p:spPr>
      </p:pic>
      <p:sp>
        <p:nvSpPr>
          <p:cNvPr id="12" name="Text 7"/>
          <p:cNvSpPr/>
          <p:nvPr/>
        </p:nvSpPr>
        <p:spPr>
          <a:xfrm>
            <a:off x="4617720" y="4443984"/>
            <a:ext cx="1417320" cy="292608"/>
          </a:xfrm>
          <a:prstGeom prst="rect">
            <a:avLst/>
          </a:prstGeom>
          <a:noFill/>
          <a:ln/>
        </p:spPr>
        <p:txBody>
          <a:bodyPr wrap="square" lIns="0" tIns="0" rIns="0" bIns="0" rtlCol="0" anchor="ctr"/>
          <a:lstStyle/>
          <a:p>
            <a:pPr algn="l" indent="0" marL="0">
              <a:lnSpc>
                <a:spcPct val="110000"/>
              </a:lnSpc>
              <a:buNone/>
            </a:pPr>
            <a:r>
              <a:rPr lang="en-US" sz="1200" dirty="0">
                <a:solidFill>
                  <a:srgbClr val="F2F3F5"/>
                </a:solidFill>
                <a:latin typeface="Segoe UI" pitchFamily="34" charset="0"/>
                <a:ea typeface="Segoe UI" pitchFamily="34" charset="-122"/>
                <a:cs typeface="Segoe UI" pitchFamily="34" charset="-120"/>
              </a:rPr>
              <a:t>Learns from every fix</a:t>
            </a:r>
            <a:endParaRPr lang="en-US" sz="1200" dirty="0"/>
          </a:p>
        </p:txBody>
      </p:sp>
      <p:sp>
        <p:nvSpPr>
          <p:cNvPr id="13" name="Shape 8"/>
          <p:cNvSpPr/>
          <p:nvPr/>
        </p:nvSpPr>
        <p:spPr>
          <a:xfrm>
            <a:off x="685800" y="5257800"/>
            <a:ext cx="548640" cy="548640"/>
          </a:xfrm>
          <a:prstGeom prst="roundRect">
            <a:avLst>
              <a:gd name="adj" fmla="val 16667"/>
            </a:avLst>
          </a:prstGeom>
          <a:solidFill>
            <a:srgbClr val="FFCD11">
              <a:alpha val="14000"/>
            </a:srgbClr>
          </a:solidFill>
          <a:ln w="9525">
            <a:solidFill>
              <a:srgbClr val="FFCD11">
                <a:alpha val="45000"/>
              </a:srgbClr>
            </a:solidFill>
            <a:prstDash val="solid"/>
          </a:ln>
        </p:spPr>
      </p:sp>
      <p:pic>
        <p:nvPicPr>
          <p:cNvPr id="14" name="Image 3" descr="preencoded.png">    </p:cNvPr>
          <p:cNvPicPr>
            <a:picLocks noChangeAspect="1"/>
          </p:cNvPicPr>
          <p:nvPr/>
        </p:nvPicPr>
        <p:blipFill>
          <a:blip r:embed="rId4"/>
          <a:stretch>
            <a:fillRect/>
          </a:stretch>
        </p:blipFill>
        <p:spPr>
          <a:xfrm>
            <a:off x="806501" y="5378501"/>
            <a:ext cx="307238" cy="307238"/>
          </a:xfrm>
          <a:prstGeom prst="rect">
            <a:avLst/>
          </a:prstGeom>
        </p:spPr>
      </p:pic>
      <p:sp>
        <p:nvSpPr>
          <p:cNvPr id="15" name="Text 9"/>
          <p:cNvSpPr/>
          <p:nvPr/>
        </p:nvSpPr>
        <p:spPr>
          <a:xfrm>
            <a:off x="1417320" y="5239512"/>
            <a:ext cx="3657600" cy="329184"/>
          </a:xfrm>
          <a:prstGeom prst="rect">
            <a:avLst/>
          </a:prstGeom>
          <a:noFill/>
          <a:ln/>
        </p:spPr>
        <p:txBody>
          <a:bodyPr wrap="square" lIns="0" tIns="0" rIns="0" bIns="0" rtlCol="0" anchor="t"/>
          <a:lstStyle/>
          <a:p>
            <a:pPr algn="l" indent="0" marL="0">
              <a:lnSpc>
                <a:spcPct val="110000"/>
              </a:lnSpc>
              <a:buNone/>
            </a:pPr>
            <a:r>
              <a:rPr lang="en-US" sz="1800" b="1" dirty="0">
                <a:solidFill>
                  <a:srgbClr val="F2F3F5"/>
                </a:solidFill>
                <a:latin typeface="Segoe UI" pitchFamily="34" charset="0"/>
                <a:ea typeface="Segoe UI" pitchFamily="34" charset="-122"/>
                <a:cs typeface="Segoe UI" pitchFamily="34" charset="-120"/>
              </a:rPr>
              <a:t>DAAP Developers</a:t>
            </a:r>
            <a:endParaRPr lang="en-US" sz="1800" dirty="0"/>
          </a:p>
        </p:txBody>
      </p:sp>
      <p:sp>
        <p:nvSpPr>
          <p:cNvPr id="16" name="Text 10"/>
          <p:cNvSpPr/>
          <p:nvPr/>
        </p:nvSpPr>
        <p:spPr>
          <a:xfrm>
            <a:off x="1417320" y="5550408"/>
            <a:ext cx="3657600" cy="274320"/>
          </a:xfrm>
          <a:prstGeom prst="rect">
            <a:avLst/>
          </a:prstGeom>
          <a:noFill/>
          <a:ln/>
        </p:spPr>
        <p:txBody>
          <a:bodyPr wrap="square" lIns="0" tIns="0" rIns="0" bIns="0" rtlCol="0" anchor="t"/>
          <a:lstStyle/>
          <a:p>
            <a:pPr algn="l" indent="0" marL="0">
              <a:lnSpc>
                <a:spcPct val="110000"/>
              </a:lnSpc>
              <a:buNone/>
            </a:pPr>
            <a:r>
              <a:rPr lang="en-US" sz="1200" dirty="0">
                <a:solidFill>
                  <a:srgbClr val="9AA3B0"/>
                </a:solidFill>
                <a:latin typeface="Segoe UI" pitchFamily="34" charset="0"/>
                <a:ea typeface="Segoe UI" pitchFamily="34" charset="-122"/>
                <a:cs typeface="Segoe UI" pitchFamily="34" charset="-120"/>
              </a:rPr>
              <a:t>Built for new technicians and operators</a:t>
            </a:r>
            <a:endParaRPr lang="en-US" sz="1200" dirty="0"/>
          </a:p>
        </p:txBody>
      </p:sp>
      <p:sp>
        <p:nvSpPr>
          <p:cNvPr id="17" name="Text 11"/>
          <p:cNvSpPr/>
          <p:nvPr/>
        </p:nvSpPr>
        <p:spPr>
          <a:xfrm>
            <a:off x="6355080" y="1298448"/>
            <a:ext cx="3657600" cy="228600"/>
          </a:xfrm>
          <a:prstGeom prst="rect">
            <a:avLst/>
          </a:prstGeom>
          <a:noFill/>
          <a:ln/>
        </p:spPr>
        <p:txBody>
          <a:bodyPr wrap="square" lIns="0" tIns="0" rIns="0" bIns="0" rtlCol="0" anchor="t"/>
          <a:lstStyle/>
          <a:p>
            <a:pPr algn="l" indent="0" marL="0">
              <a:lnSpc>
                <a:spcPct val="110000"/>
              </a:lnSpc>
              <a:buNone/>
            </a:pPr>
            <a:r>
              <a:rPr lang="en-US" sz="1000" b="1" spc="200" kern="0" dirty="0">
                <a:solidFill>
                  <a:srgbClr val="FFCD11"/>
                </a:solidFill>
                <a:latin typeface="Segoe UI" pitchFamily="34" charset="0"/>
                <a:ea typeface="Segoe UI" pitchFamily="34" charset="-122"/>
                <a:cs typeface="Segoe UI" pitchFamily="34" charset="-120"/>
              </a:rPr>
              <a:t>WHAT THE TECHNICIAN SEES</a:t>
            </a:r>
            <a:endParaRPr lang="en-US" sz="1000" dirty="0"/>
          </a:p>
        </p:txBody>
      </p:sp>
      <p:sp>
        <p:nvSpPr>
          <p:cNvPr id="18" name="Shape 12"/>
          <p:cNvSpPr/>
          <p:nvPr/>
        </p:nvSpPr>
        <p:spPr>
          <a:xfrm>
            <a:off x="6309360" y="1581912"/>
            <a:ext cx="5257800" cy="2997518"/>
          </a:xfrm>
          <a:prstGeom prst="roundRect">
            <a:avLst>
              <a:gd name="adj" fmla="val 2440"/>
            </a:avLst>
          </a:prstGeom>
          <a:solidFill>
            <a:srgbClr val="161A20"/>
          </a:solidFill>
          <a:ln w="15875">
            <a:solidFill>
              <a:srgbClr val="FFCD11"/>
            </a:solidFill>
            <a:prstDash val="solid"/>
          </a:ln>
        </p:spPr>
      </p:sp>
      <p:pic>
        <p:nvPicPr>
          <p:cNvPr id="19" name="Image 4" descr="C:\Users\aarav\Projects\cat-track\scripts\deck-assets\glasses-ask.png">    </p:cNvPr>
          <p:cNvPicPr>
            <a:picLocks noChangeAspect="1"/>
          </p:cNvPicPr>
          <p:nvPr/>
        </p:nvPicPr>
        <p:blipFill>
          <a:blip r:embed="rId5"/>
          <a:stretch>
            <a:fillRect/>
          </a:stretch>
        </p:blipFill>
        <p:spPr>
          <a:xfrm>
            <a:off x="6355080" y="1627632"/>
            <a:ext cx="5166360" cy="2906078"/>
          </a:xfrm>
          <a:prstGeom prst="rect">
            <a:avLst/>
          </a:prstGeom>
        </p:spPr>
      </p:pic>
      <p:sp>
        <p:nvSpPr>
          <p:cNvPr id="20" name="Text 13"/>
          <p:cNvSpPr/>
          <p:nvPr/>
        </p:nvSpPr>
        <p:spPr>
          <a:xfrm>
            <a:off x="6355080" y="4636008"/>
            <a:ext cx="5166360" cy="274320"/>
          </a:xfrm>
          <a:prstGeom prst="rect">
            <a:avLst/>
          </a:prstGeom>
          <a:noFill/>
          <a:ln/>
        </p:spPr>
        <p:txBody>
          <a:bodyPr wrap="square" lIns="0" tIns="0" rIns="0" bIns="0" rtlCol="0" anchor="t"/>
          <a:lstStyle/>
          <a:p>
            <a:pPr algn="l" indent="0" marL="0">
              <a:lnSpc>
                <a:spcPct val="110000"/>
              </a:lnSpc>
              <a:buNone/>
            </a:pPr>
            <a:r>
              <a:rPr lang="en-US" sz="1100" i="1" dirty="0">
                <a:solidFill>
                  <a:srgbClr val="6B7480"/>
                </a:solidFill>
                <a:latin typeface="Segoe UI" pitchFamily="34" charset="0"/>
                <a:ea typeface="Segoe UI" pitchFamily="34" charset="-122"/>
                <a:cs typeface="Segoe UI" pitchFamily="34" charset="-120"/>
              </a:rPr>
              <a:t>Our working prototype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85800" y="649224"/>
            <a:ext cx="320040" cy="27432"/>
          </a:xfrm>
          <a:prstGeom prst="rect">
            <a:avLst/>
          </a:prstGeom>
          <a:solidFill>
            <a:srgbClr val="FFCD11"/>
          </a:solidFill>
          <a:ln w="12700">
            <a:solidFill>
              <a:srgbClr val="FFCD11"/>
            </a:solidFill>
            <a:prstDash val="solid"/>
          </a:ln>
        </p:spPr>
      </p:sp>
      <p:sp>
        <p:nvSpPr>
          <p:cNvPr id="3" name="Text 1"/>
          <p:cNvSpPr/>
          <p:nvPr/>
        </p:nvSpPr>
        <p:spPr>
          <a:xfrm>
            <a:off x="1115568" y="512064"/>
            <a:ext cx="7315200" cy="292608"/>
          </a:xfrm>
          <a:prstGeom prst="rect">
            <a:avLst/>
          </a:prstGeom>
          <a:noFill/>
          <a:ln/>
        </p:spPr>
        <p:txBody>
          <a:bodyPr wrap="square" lIns="0" tIns="0" rIns="0" bIns="0" rtlCol="0" anchor="ctr"/>
          <a:lstStyle/>
          <a:p>
            <a:pPr indent="0" marL="0">
              <a:buNone/>
            </a:pPr>
            <a:r>
              <a:rPr lang="en-US" sz="1100" b="1" spc="300" kern="0" dirty="0">
                <a:solidFill>
                  <a:srgbClr val="FFCD11"/>
                </a:solidFill>
                <a:latin typeface="Segoe UI" pitchFamily="34" charset="0"/>
                <a:ea typeface="Segoe UI" pitchFamily="34" charset="-122"/>
                <a:cs typeface="Segoe UI" pitchFamily="34" charset="-120"/>
              </a:rPr>
              <a:t>01   </a:t>
            </a:r>
            <a:pPr indent="0" marL="0">
              <a:buNone/>
            </a:pPr>
            <a:r>
              <a:rPr lang="en-US" sz="1100" b="1" spc="300" kern="0" dirty="0">
                <a:solidFill>
                  <a:srgbClr val="9AA3B0"/>
                </a:solidFill>
                <a:latin typeface="Segoe UI" pitchFamily="34" charset="0"/>
                <a:ea typeface="Segoe UI" pitchFamily="34" charset="-122"/>
                <a:cs typeface="Segoe UI" pitchFamily="34" charset="-120"/>
              </a:rPr>
              <a:t>MEET THE USER</a:t>
            </a:r>
            <a:endParaRPr lang="en-US" sz="1100" dirty="0"/>
          </a:p>
        </p:txBody>
      </p:sp>
      <p:sp>
        <p:nvSpPr>
          <p:cNvPr id="4" name="Text 2"/>
          <p:cNvSpPr/>
          <p:nvPr/>
        </p:nvSpPr>
        <p:spPr>
          <a:xfrm>
            <a:off x="685800" y="896112"/>
            <a:ext cx="10789920" cy="868680"/>
          </a:xfrm>
          <a:prstGeom prst="rect">
            <a:avLst/>
          </a:prstGeom>
          <a:noFill/>
          <a:ln/>
        </p:spPr>
        <p:txBody>
          <a:bodyPr wrap="square" lIns="0" tIns="0" rIns="0" bIns="0" rtlCol="0" anchor="t"/>
          <a:lstStyle/>
          <a:p>
            <a:pPr indent="0" marL="0">
              <a:lnSpc>
                <a:spcPct val="95000"/>
              </a:lnSpc>
              <a:buNone/>
            </a:pPr>
            <a:r>
              <a:rPr lang="en-US" sz="3200" b="1" dirty="0">
                <a:solidFill>
                  <a:srgbClr val="F2F3F5"/>
                </a:solidFill>
                <a:latin typeface="Segoe UI" pitchFamily="34" charset="0"/>
                <a:ea typeface="Segoe UI" pitchFamily="34" charset="-122"/>
                <a:cs typeface="Segoe UI" pitchFamily="34" charset="-120"/>
              </a:rPr>
              <a:t>Meet Luis.</a:t>
            </a:r>
            <a:pPr indent="0" marL="0">
              <a:lnSpc>
                <a:spcPct val="95000"/>
              </a:lnSpc>
              <a:buNone/>
            </a:pPr>
            <a:r>
              <a:rPr lang="en-US" sz="3200" b="1" dirty="0">
                <a:solidFill>
                  <a:srgbClr val="FFCD11"/>
                </a:solidFill>
                <a:latin typeface="Segoe UI" pitchFamily="34" charset="0"/>
                <a:ea typeface="Segoe UI" pitchFamily="34" charset="-122"/>
                <a:cs typeface="Segoe UI" pitchFamily="34" charset="-120"/>
              </a:rPr>
              <a:t> Three weeks into his first job as a technician.</a:t>
            </a:r>
            <a:endParaRPr lang="en-US" sz="3200" dirty="0"/>
          </a:p>
        </p:txBody>
      </p:sp>
      <p:sp>
        <p:nvSpPr>
          <p:cNvPr id="5" name="Shape 3"/>
          <p:cNvSpPr/>
          <p:nvPr/>
        </p:nvSpPr>
        <p:spPr>
          <a:xfrm>
            <a:off x="685800" y="2011680"/>
            <a:ext cx="3749040" cy="4023360"/>
          </a:xfrm>
          <a:prstGeom prst="roundRect">
            <a:avLst>
              <a:gd name="adj" fmla="val 2927"/>
            </a:avLst>
          </a:prstGeom>
          <a:solidFill>
            <a:srgbClr val="161A20"/>
          </a:solidFill>
          <a:ln w="12700">
            <a:solidFill>
              <a:srgbClr val="262C35"/>
            </a:solidFill>
            <a:prstDash val="solid"/>
          </a:ln>
        </p:spPr>
      </p:sp>
      <p:sp>
        <p:nvSpPr>
          <p:cNvPr id="6" name="Shape 4"/>
          <p:cNvSpPr/>
          <p:nvPr/>
        </p:nvSpPr>
        <p:spPr>
          <a:xfrm>
            <a:off x="960120" y="2286000"/>
            <a:ext cx="640080" cy="640080"/>
          </a:xfrm>
          <a:prstGeom prst="roundRect">
            <a:avLst>
              <a:gd name="adj" fmla="val 14286"/>
            </a:avLst>
          </a:prstGeom>
          <a:solidFill>
            <a:srgbClr val="FFCD11">
              <a:alpha val="14000"/>
            </a:srgbClr>
          </a:solidFill>
          <a:ln w="9525">
            <a:solidFill>
              <a:srgbClr val="FFCD11">
                <a:alpha val="45000"/>
              </a:srgbClr>
            </a:solidFill>
            <a:prstDash val="solid"/>
          </a:ln>
        </p:spPr>
      </p:sp>
      <p:pic>
        <p:nvPicPr>
          <p:cNvPr id="7" name="Image 0" descr="preencoded.png">    </p:cNvPr>
          <p:cNvPicPr>
            <a:picLocks noChangeAspect="1"/>
          </p:cNvPicPr>
          <p:nvPr/>
        </p:nvPicPr>
        <p:blipFill>
          <a:blip r:embed="rId1"/>
          <a:stretch>
            <a:fillRect/>
          </a:stretch>
        </p:blipFill>
        <p:spPr>
          <a:xfrm>
            <a:off x="1100938" y="2426818"/>
            <a:ext cx="358445" cy="358445"/>
          </a:xfrm>
          <a:prstGeom prst="rect">
            <a:avLst/>
          </a:prstGeom>
        </p:spPr>
      </p:pic>
      <p:sp>
        <p:nvSpPr>
          <p:cNvPr id="8" name="Text 5"/>
          <p:cNvSpPr/>
          <p:nvPr/>
        </p:nvSpPr>
        <p:spPr>
          <a:xfrm>
            <a:off x="960120" y="3063240"/>
            <a:ext cx="3291840" cy="384048"/>
          </a:xfrm>
          <a:prstGeom prst="rect">
            <a:avLst/>
          </a:prstGeom>
          <a:noFill/>
          <a:ln/>
        </p:spPr>
        <p:txBody>
          <a:bodyPr wrap="square" lIns="0" tIns="0" rIns="0" bIns="0" rtlCol="0" anchor="t"/>
          <a:lstStyle/>
          <a:p>
            <a:pPr algn="l" indent="0" marL="0">
              <a:lnSpc>
                <a:spcPct val="110000"/>
              </a:lnSpc>
              <a:buNone/>
            </a:pPr>
            <a:r>
              <a:rPr lang="en-US" sz="2200" b="1" dirty="0">
                <a:solidFill>
                  <a:srgbClr val="F2F3F5"/>
                </a:solidFill>
                <a:latin typeface="Segoe UI" pitchFamily="34" charset="0"/>
                <a:ea typeface="Segoe UI" pitchFamily="34" charset="-122"/>
                <a:cs typeface="Segoe UI" pitchFamily="34" charset="-120"/>
              </a:rPr>
              <a:t>Luis Ortega</a:t>
            </a:r>
            <a:endParaRPr lang="en-US" sz="2200" dirty="0"/>
          </a:p>
        </p:txBody>
      </p:sp>
      <p:sp>
        <p:nvSpPr>
          <p:cNvPr id="9" name="Text 6"/>
          <p:cNvSpPr/>
          <p:nvPr/>
        </p:nvSpPr>
        <p:spPr>
          <a:xfrm>
            <a:off x="960120" y="3456432"/>
            <a:ext cx="3291840" cy="274320"/>
          </a:xfrm>
          <a:prstGeom prst="rect">
            <a:avLst/>
          </a:prstGeom>
          <a:noFill/>
          <a:ln/>
        </p:spPr>
        <p:txBody>
          <a:bodyPr wrap="square" lIns="0" tIns="0" rIns="0" bIns="0" rtlCol="0" anchor="t"/>
          <a:lstStyle/>
          <a:p>
            <a:pPr algn="l" indent="0" marL="0">
              <a:lnSpc>
                <a:spcPct val="110000"/>
              </a:lnSpc>
              <a:buNone/>
            </a:pPr>
            <a:r>
              <a:rPr lang="en-US" sz="1300" b="1" dirty="0">
                <a:solidFill>
                  <a:srgbClr val="FFCD11"/>
                </a:solidFill>
                <a:latin typeface="Segoe UI" pitchFamily="34" charset="0"/>
                <a:ea typeface="Segoe UI" pitchFamily="34" charset="-122"/>
                <a:cs typeface="Segoe UI" pitchFamily="34" charset="-120"/>
              </a:rPr>
              <a:t>New field technician</a:t>
            </a:r>
            <a:endParaRPr lang="en-US" sz="1300" dirty="0"/>
          </a:p>
        </p:txBody>
      </p:sp>
      <p:pic>
        <p:nvPicPr>
          <p:cNvPr id="10" name="Image 1" descr="preencoded.png">    </p:cNvPr>
          <p:cNvPicPr>
            <a:picLocks noChangeAspect="1"/>
          </p:cNvPicPr>
          <p:nvPr/>
        </p:nvPicPr>
        <p:blipFill>
          <a:blip r:embed="rId2"/>
          <a:stretch>
            <a:fillRect/>
          </a:stretch>
        </p:blipFill>
        <p:spPr>
          <a:xfrm>
            <a:off x="960120" y="3931920"/>
            <a:ext cx="237744" cy="237744"/>
          </a:xfrm>
          <a:prstGeom prst="rect">
            <a:avLst/>
          </a:prstGeom>
        </p:spPr>
      </p:pic>
      <p:sp>
        <p:nvSpPr>
          <p:cNvPr id="11" name="Text 7"/>
          <p:cNvSpPr/>
          <p:nvPr/>
        </p:nvSpPr>
        <p:spPr>
          <a:xfrm>
            <a:off x="1325880" y="3913632"/>
            <a:ext cx="2926080" cy="292608"/>
          </a:xfrm>
          <a:prstGeom prst="rect">
            <a:avLst/>
          </a:prstGeom>
          <a:noFill/>
          <a:ln/>
        </p:spPr>
        <p:txBody>
          <a:bodyPr wrap="square" lIns="0" tIns="0" rIns="0" bIns="0" rtlCol="0" anchor="ctr"/>
          <a:lstStyle/>
          <a:p>
            <a:pPr algn="l" indent="0" marL="0">
              <a:lnSpc>
                <a:spcPct val="110000"/>
              </a:lnSpc>
              <a:buNone/>
            </a:pPr>
            <a:r>
              <a:rPr lang="en-US" sz="1300" dirty="0">
                <a:solidFill>
                  <a:srgbClr val="C9CED6"/>
                </a:solidFill>
                <a:latin typeface="Segoe UI" pitchFamily="34" charset="0"/>
                <a:ea typeface="Segoe UI" pitchFamily="34" charset="-122"/>
                <a:cs typeface="Segoe UI" pitchFamily="34" charset="-120"/>
              </a:rPr>
              <a:t>3 weeks on the job</a:t>
            </a:r>
            <a:endParaRPr lang="en-US" sz="1300" dirty="0"/>
          </a:p>
        </p:txBody>
      </p:sp>
      <p:pic>
        <p:nvPicPr>
          <p:cNvPr id="12" name="Image 2" descr="preencoded.png">    </p:cNvPr>
          <p:cNvPicPr>
            <a:picLocks noChangeAspect="1"/>
          </p:cNvPicPr>
          <p:nvPr/>
        </p:nvPicPr>
        <p:blipFill>
          <a:blip r:embed="rId3"/>
          <a:stretch>
            <a:fillRect/>
          </a:stretch>
        </p:blipFill>
        <p:spPr>
          <a:xfrm>
            <a:off x="960120" y="4407408"/>
            <a:ext cx="237744" cy="237744"/>
          </a:xfrm>
          <a:prstGeom prst="rect">
            <a:avLst/>
          </a:prstGeom>
        </p:spPr>
      </p:pic>
      <p:sp>
        <p:nvSpPr>
          <p:cNvPr id="13" name="Text 8"/>
          <p:cNvSpPr/>
          <p:nvPr/>
        </p:nvSpPr>
        <p:spPr>
          <a:xfrm>
            <a:off x="1325880" y="4389120"/>
            <a:ext cx="2926080" cy="292608"/>
          </a:xfrm>
          <a:prstGeom prst="rect">
            <a:avLst/>
          </a:prstGeom>
          <a:noFill/>
          <a:ln/>
        </p:spPr>
        <p:txBody>
          <a:bodyPr wrap="square" lIns="0" tIns="0" rIns="0" bIns="0" rtlCol="0" anchor="ctr"/>
          <a:lstStyle/>
          <a:p>
            <a:pPr algn="l" indent="0" marL="0">
              <a:lnSpc>
                <a:spcPct val="110000"/>
              </a:lnSpc>
              <a:buNone/>
            </a:pPr>
            <a:r>
              <a:rPr lang="en-US" sz="1300" dirty="0">
                <a:solidFill>
                  <a:srgbClr val="C9CED6"/>
                </a:solidFill>
                <a:latin typeface="Segoe UI" pitchFamily="34" charset="0"/>
                <a:ea typeface="Segoe UI" pitchFamily="34" charset="-122"/>
                <a:cs typeface="Segoe UI" pitchFamily="34" charset="-120"/>
              </a:rPr>
              <a:t>Spanish is his first language</a:t>
            </a:r>
            <a:endParaRPr lang="en-US" sz="1300" dirty="0"/>
          </a:p>
        </p:txBody>
      </p:sp>
      <p:pic>
        <p:nvPicPr>
          <p:cNvPr id="14" name="Image 3" descr="preencoded.png">    </p:cNvPr>
          <p:cNvPicPr>
            <a:picLocks noChangeAspect="1"/>
          </p:cNvPicPr>
          <p:nvPr/>
        </p:nvPicPr>
        <p:blipFill>
          <a:blip r:embed="rId4"/>
          <a:stretch>
            <a:fillRect/>
          </a:stretch>
        </p:blipFill>
        <p:spPr>
          <a:xfrm>
            <a:off x="960120" y="4882896"/>
            <a:ext cx="237744" cy="237744"/>
          </a:xfrm>
          <a:prstGeom prst="rect">
            <a:avLst/>
          </a:prstGeom>
        </p:spPr>
      </p:pic>
      <p:sp>
        <p:nvSpPr>
          <p:cNvPr id="15" name="Text 9"/>
          <p:cNvSpPr/>
          <p:nvPr/>
        </p:nvSpPr>
        <p:spPr>
          <a:xfrm>
            <a:off x="1325880" y="4864608"/>
            <a:ext cx="2926080" cy="292608"/>
          </a:xfrm>
          <a:prstGeom prst="rect">
            <a:avLst/>
          </a:prstGeom>
          <a:noFill/>
          <a:ln/>
        </p:spPr>
        <p:txBody>
          <a:bodyPr wrap="square" lIns="0" tIns="0" rIns="0" bIns="0" rtlCol="0" anchor="ctr"/>
          <a:lstStyle/>
          <a:p>
            <a:pPr algn="l" indent="0" marL="0">
              <a:lnSpc>
                <a:spcPct val="110000"/>
              </a:lnSpc>
              <a:buNone/>
            </a:pPr>
            <a:r>
              <a:rPr lang="en-US" sz="1300" dirty="0">
                <a:solidFill>
                  <a:srgbClr val="C9CED6"/>
                </a:solidFill>
                <a:latin typeface="Segoe UI" pitchFamily="34" charset="0"/>
                <a:ea typeface="Segoe UI" pitchFamily="34" charset="-122"/>
                <a:cs typeface="Segoe UI" pitchFamily="34" charset="-120"/>
              </a:rPr>
              <a:t>Learning by shadowing senior techs</a:t>
            </a:r>
            <a:endParaRPr lang="en-US" sz="1300" dirty="0"/>
          </a:p>
        </p:txBody>
      </p:sp>
      <p:pic>
        <p:nvPicPr>
          <p:cNvPr id="16" name="Image 4" descr="preencoded.png">    </p:cNvPr>
          <p:cNvPicPr>
            <a:picLocks noChangeAspect="1"/>
          </p:cNvPicPr>
          <p:nvPr/>
        </p:nvPicPr>
        <p:blipFill>
          <a:blip r:embed="rId5"/>
          <a:stretch>
            <a:fillRect/>
          </a:stretch>
        </p:blipFill>
        <p:spPr>
          <a:xfrm>
            <a:off x="960120" y="5358384"/>
            <a:ext cx="237744" cy="237744"/>
          </a:xfrm>
          <a:prstGeom prst="rect">
            <a:avLst/>
          </a:prstGeom>
        </p:spPr>
      </p:pic>
      <p:sp>
        <p:nvSpPr>
          <p:cNvPr id="17" name="Text 10"/>
          <p:cNvSpPr/>
          <p:nvPr/>
        </p:nvSpPr>
        <p:spPr>
          <a:xfrm>
            <a:off x="1325880" y="5340096"/>
            <a:ext cx="2926080" cy="292608"/>
          </a:xfrm>
          <a:prstGeom prst="rect">
            <a:avLst/>
          </a:prstGeom>
          <a:noFill/>
          <a:ln/>
        </p:spPr>
        <p:txBody>
          <a:bodyPr wrap="square" lIns="0" tIns="0" rIns="0" bIns="0" rtlCol="0" anchor="ctr"/>
          <a:lstStyle/>
          <a:p>
            <a:pPr algn="l" indent="0" marL="0">
              <a:lnSpc>
                <a:spcPct val="110000"/>
              </a:lnSpc>
              <a:buNone/>
            </a:pPr>
            <a:r>
              <a:rPr lang="en-US" sz="1300" dirty="0">
                <a:solidFill>
                  <a:srgbClr val="C9CED6"/>
                </a:solidFill>
                <a:latin typeface="Segoe UI" pitchFamily="34" charset="0"/>
                <a:ea typeface="Segoe UI" pitchFamily="34" charset="-122"/>
                <a:cs typeface="Segoe UI" pitchFamily="34" charset="-120"/>
              </a:rPr>
              <a:t>Wants to do it right, and safely</a:t>
            </a:r>
            <a:endParaRPr lang="en-US" sz="1300" dirty="0"/>
          </a:p>
        </p:txBody>
      </p:sp>
      <p:sp>
        <p:nvSpPr>
          <p:cNvPr id="18" name="Text 11"/>
          <p:cNvSpPr/>
          <p:nvPr/>
        </p:nvSpPr>
        <p:spPr>
          <a:xfrm>
            <a:off x="4800600" y="2011680"/>
            <a:ext cx="3657600" cy="228600"/>
          </a:xfrm>
          <a:prstGeom prst="rect">
            <a:avLst/>
          </a:prstGeom>
          <a:noFill/>
          <a:ln/>
        </p:spPr>
        <p:txBody>
          <a:bodyPr wrap="square" lIns="0" tIns="0" rIns="0" bIns="0" rtlCol="0" anchor="t"/>
          <a:lstStyle/>
          <a:p>
            <a:pPr algn="l" indent="0" marL="0">
              <a:lnSpc>
                <a:spcPct val="110000"/>
              </a:lnSpc>
              <a:buNone/>
            </a:pPr>
            <a:r>
              <a:rPr lang="en-US" sz="1000" b="1" spc="200" kern="0" dirty="0">
                <a:solidFill>
                  <a:srgbClr val="FFCD11"/>
                </a:solidFill>
                <a:latin typeface="Segoe UI" pitchFamily="34" charset="0"/>
                <a:ea typeface="Segoe UI" pitchFamily="34" charset="-122"/>
                <a:cs typeface="Segoe UI" pitchFamily="34" charset="-120"/>
              </a:rPr>
              <a:t>MONDAY, 7:00 AM</a:t>
            </a:r>
            <a:endParaRPr lang="en-US" sz="1000" dirty="0"/>
          </a:p>
        </p:txBody>
      </p:sp>
      <p:sp>
        <p:nvSpPr>
          <p:cNvPr id="19" name="Shape 12"/>
          <p:cNvSpPr/>
          <p:nvPr/>
        </p:nvSpPr>
        <p:spPr>
          <a:xfrm>
            <a:off x="4800600" y="2395728"/>
            <a:ext cx="384048" cy="384048"/>
          </a:xfrm>
          <a:prstGeom prst="ellipse">
            <a:avLst/>
          </a:prstGeom>
          <a:solidFill>
            <a:srgbClr val="FFCD11"/>
          </a:solidFill>
          <a:ln w="12700">
            <a:solidFill>
              <a:srgbClr val="FFCD11"/>
            </a:solidFill>
            <a:prstDash val="solid"/>
          </a:ln>
        </p:spPr>
      </p:sp>
      <p:sp>
        <p:nvSpPr>
          <p:cNvPr id="20" name="Text 13"/>
          <p:cNvSpPr/>
          <p:nvPr/>
        </p:nvSpPr>
        <p:spPr>
          <a:xfrm>
            <a:off x="4800600" y="2395728"/>
            <a:ext cx="384048" cy="384048"/>
          </a:xfrm>
          <a:prstGeom prst="rect">
            <a:avLst/>
          </a:prstGeom>
          <a:noFill/>
          <a:ln/>
        </p:spPr>
        <p:txBody>
          <a:bodyPr wrap="square" lIns="0" tIns="0" rIns="0" bIns="0" rtlCol="0" anchor="ctr"/>
          <a:lstStyle/>
          <a:p>
            <a:pPr algn="ctr" indent="0" marL="0">
              <a:lnSpc>
                <a:spcPct val="110000"/>
              </a:lnSpc>
              <a:buNone/>
            </a:pPr>
            <a:r>
              <a:rPr lang="en-US" sz="1400" b="1" dirty="0">
                <a:solidFill>
                  <a:srgbClr val="111111"/>
                </a:solidFill>
                <a:latin typeface="Segoe UI" pitchFamily="34" charset="0"/>
                <a:ea typeface="Segoe UI" pitchFamily="34" charset="-122"/>
                <a:cs typeface="Segoe UI" pitchFamily="34" charset="-120"/>
              </a:rPr>
              <a:t>1</a:t>
            </a:r>
            <a:endParaRPr lang="en-US" sz="1400" dirty="0"/>
          </a:p>
        </p:txBody>
      </p:sp>
      <p:sp>
        <p:nvSpPr>
          <p:cNvPr id="21" name="Text 14"/>
          <p:cNvSpPr/>
          <p:nvPr/>
        </p:nvSpPr>
        <p:spPr>
          <a:xfrm>
            <a:off x="5394960" y="2377440"/>
            <a:ext cx="6035040" cy="347472"/>
          </a:xfrm>
          <a:prstGeom prst="rect">
            <a:avLst/>
          </a:prstGeom>
          <a:noFill/>
          <a:ln/>
        </p:spPr>
        <p:txBody>
          <a:bodyPr wrap="square" lIns="0" tIns="0" rIns="0" bIns="0" rtlCol="0" anchor="t"/>
          <a:lstStyle/>
          <a:p>
            <a:pPr algn="l" indent="0" marL="0">
              <a:lnSpc>
                <a:spcPct val="110000"/>
              </a:lnSpc>
              <a:buNone/>
            </a:pPr>
            <a:r>
              <a:rPr lang="en-US" sz="1700" b="1" dirty="0">
                <a:solidFill>
                  <a:srgbClr val="F2F3F5"/>
                </a:solidFill>
                <a:latin typeface="Segoe UI" pitchFamily="34" charset="0"/>
                <a:ea typeface="Segoe UI" pitchFamily="34" charset="-122"/>
                <a:cs typeface="Segoe UI" pitchFamily="34" charset="-120"/>
              </a:rPr>
              <a:t>A 320 excavator's boom is slow. Fault code 217.</a:t>
            </a:r>
            <a:endParaRPr lang="en-US" sz="1700" dirty="0"/>
          </a:p>
        </p:txBody>
      </p:sp>
      <p:sp>
        <p:nvSpPr>
          <p:cNvPr id="22" name="Text 15"/>
          <p:cNvSpPr/>
          <p:nvPr/>
        </p:nvSpPr>
        <p:spPr>
          <a:xfrm>
            <a:off x="5394960" y="2743200"/>
            <a:ext cx="6035040" cy="365760"/>
          </a:xfrm>
          <a:prstGeom prst="rect">
            <a:avLst/>
          </a:prstGeom>
          <a:noFill/>
          <a:ln/>
        </p:spPr>
        <p:txBody>
          <a:bodyPr wrap="square" lIns="0" tIns="0" rIns="0" bIns="0" rtlCol="0" anchor="t"/>
          <a:lstStyle/>
          <a:p>
            <a:pPr algn="l" indent="0" marL="0">
              <a:lnSpc>
                <a:spcPct val="110000"/>
              </a:lnSpc>
              <a:buNone/>
            </a:pPr>
            <a:r>
              <a:rPr lang="en-US" sz="1300" dirty="0">
                <a:solidFill>
                  <a:srgbClr val="9AA3B0"/>
                </a:solidFill>
                <a:latin typeface="Segoe UI" pitchFamily="34" charset="0"/>
                <a:ea typeface="Segoe UI" pitchFamily="34" charset="-122"/>
                <a:cs typeface="Segoe UI" pitchFamily="34" charset="-120"/>
              </a:rPr>
              <a:t>It's a machine he has never worked on.</a:t>
            </a:r>
            <a:endParaRPr lang="en-US" sz="1300" dirty="0"/>
          </a:p>
        </p:txBody>
      </p:sp>
      <p:sp>
        <p:nvSpPr>
          <p:cNvPr id="23" name="Shape 16"/>
          <p:cNvSpPr/>
          <p:nvPr/>
        </p:nvSpPr>
        <p:spPr>
          <a:xfrm>
            <a:off x="4800600" y="3310128"/>
            <a:ext cx="384048" cy="384048"/>
          </a:xfrm>
          <a:prstGeom prst="ellipse">
            <a:avLst/>
          </a:prstGeom>
          <a:solidFill>
            <a:srgbClr val="FFCD11"/>
          </a:solidFill>
          <a:ln w="12700">
            <a:solidFill>
              <a:srgbClr val="FFCD11"/>
            </a:solidFill>
            <a:prstDash val="solid"/>
          </a:ln>
        </p:spPr>
      </p:sp>
      <p:sp>
        <p:nvSpPr>
          <p:cNvPr id="24" name="Text 17"/>
          <p:cNvSpPr/>
          <p:nvPr/>
        </p:nvSpPr>
        <p:spPr>
          <a:xfrm>
            <a:off x="4800600" y="3310128"/>
            <a:ext cx="384048" cy="384048"/>
          </a:xfrm>
          <a:prstGeom prst="rect">
            <a:avLst/>
          </a:prstGeom>
          <a:noFill/>
          <a:ln/>
        </p:spPr>
        <p:txBody>
          <a:bodyPr wrap="square" lIns="0" tIns="0" rIns="0" bIns="0" rtlCol="0" anchor="ctr"/>
          <a:lstStyle/>
          <a:p>
            <a:pPr algn="ctr" indent="0" marL="0">
              <a:lnSpc>
                <a:spcPct val="110000"/>
              </a:lnSpc>
              <a:buNone/>
            </a:pPr>
            <a:r>
              <a:rPr lang="en-US" sz="1400" b="1" dirty="0">
                <a:solidFill>
                  <a:srgbClr val="111111"/>
                </a:solidFill>
                <a:latin typeface="Segoe UI" pitchFamily="34" charset="0"/>
                <a:ea typeface="Segoe UI" pitchFamily="34" charset="-122"/>
                <a:cs typeface="Segoe UI" pitchFamily="34" charset="-120"/>
              </a:rPr>
              <a:t>2</a:t>
            </a:r>
            <a:endParaRPr lang="en-US" sz="1400" dirty="0"/>
          </a:p>
        </p:txBody>
      </p:sp>
      <p:sp>
        <p:nvSpPr>
          <p:cNvPr id="25" name="Text 18"/>
          <p:cNvSpPr/>
          <p:nvPr/>
        </p:nvSpPr>
        <p:spPr>
          <a:xfrm>
            <a:off x="5394960" y="3291840"/>
            <a:ext cx="6035040" cy="347472"/>
          </a:xfrm>
          <a:prstGeom prst="rect">
            <a:avLst/>
          </a:prstGeom>
          <a:noFill/>
          <a:ln/>
        </p:spPr>
        <p:txBody>
          <a:bodyPr wrap="square" lIns="0" tIns="0" rIns="0" bIns="0" rtlCol="0" anchor="t"/>
          <a:lstStyle/>
          <a:p>
            <a:pPr algn="l" indent="0" marL="0">
              <a:lnSpc>
                <a:spcPct val="110000"/>
              </a:lnSpc>
              <a:buNone/>
            </a:pPr>
            <a:r>
              <a:rPr lang="en-US" sz="1700" b="1" dirty="0">
                <a:solidFill>
                  <a:srgbClr val="F2F3F5"/>
                </a:solidFill>
                <a:latin typeface="Segoe UI" pitchFamily="34" charset="0"/>
                <a:ea typeface="Segoe UI" pitchFamily="34" charset="-122"/>
                <a:cs typeface="Segoe UI" pitchFamily="34" charset="-120"/>
              </a:rPr>
              <a:t>The senior tech who knows it isn't here.</a:t>
            </a:r>
            <a:endParaRPr lang="en-US" sz="1700" dirty="0"/>
          </a:p>
        </p:txBody>
      </p:sp>
      <p:sp>
        <p:nvSpPr>
          <p:cNvPr id="26" name="Text 19"/>
          <p:cNvSpPr/>
          <p:nvPr/>
        </p:nvSpPr>
        <p:spPr>
          <a:xfrm>
            <a:off x="5394960" y="3657600"/>
            <a:ext cx="6035040" cy="365760"/>
          </a:xfrm>
          <a:prstGeom prst="rect">
            <a:avLst/>
          </a:prstGeom>
          <a:noFill/>
          <a:ln/>
        </p:spPr>
        <p:txBody>
          <a:bodyPr wrap="square" lIns="0" tIns="0" rIns="0" bIns="0" rtlCol="0" anchor="t"/>
          <a:lstStyle/>
          <a:p>
            <a:pPr algn="l" indent="0" marL="0">
              <a:lnSpc>
                <a:spcPct val="110000"/>
              </a:lnSpc>
              <a:buNone/>
            </a:pPr>
            <a:r>
              <a:rPr lang="en-US" sz="1300" dirty="0">
                <a:solidFill>
                  <a:srgbClr val="9AA3B0"/>
                </a:solidFill>
                <a:latin typeface="Segoe UI" pitchFamily="34" charset="0"/>
                <a:ea typeface="Segoe UI" pitchFamily="34" charset="-122"/>
                <a:cs typeface="Segoe UI" pitchFamily="34" charset="-120"/>
              </a:rPr>
              <a:t>Strikes and turnover push new people onto machines fast.</a:t>
            </a:r>
            <a:endParaRPr lang="en-US" sz="1300" dirty="0"/>
          </a:p>
        </p:txBody>
      </p:sp>
      <p:sp>
        <p:nvSpPr>
          <p:cNvPr id="27" name="Shape 20"/>
          <p:cNvSpPr/>
          <p:nvPr/>
        </p:nvSpPr>
        <p:spPr>
          <a:xfrm>
            <a:off x="4800600" y="4224528"/>
            <a:ext cx="384048" cy="384048"/>
          </a:xfrm>
          <a:prstGeom prst="ellipse">
            <a:avLst/>
          </a:prstGeom>
          <a:solidFill>
            <a:srgbClr val="FFCD11"/>
          </a:solidFill>
          <a:ln w="12700">
            <a:solidFill>
              <a:srgbClr val="FFCD11"/>
            </a:solidFill>
            <a:prstDash val="solid"/>
          </a:ln>
        </p:spPr>
      </p:sp>
      <p:sp>
        <p:nvSpPr>
          <p:cNvPr id="28" name="Text 21"/>
          <p:cNvSpPr/>
          <p:nvPr/>
        </p:nvSpPr>
        <p:spPr>
          <a:xfrm>
            <a:off x="4800600" y="4224528"/>
            <a:ext cx="384048" cy="384048"/>
          </a:xfrm>
          <a:prstGeom prst="rect">
            <a:avLst/>
          </a:prstGeom>
          <a:noFill/>
          <a:ln/>
        </p:spPr>
        <p:txBody>
          <a:bodyPr wrap="square" lIns="0" tIns="0" rIns="0" bIns="0" rtlCol="0" anchor="ctr"/>
          <a:lstStyle/>
          <a:p>
            <a:pPr algn="ctr" indent="0" marL="0">
              <a:lnSpc>
                <a:spcPct val="110000"/>
              </a:lnSpc>
              <a:buNone/>
            </a:pPr>
            <a:r>
              <a:rPr lang="en-US" sz="1400" b="1" dirty="0">
                <a:solidFill>
                  <a:srgbClr val="111111"/>
                </a:solidFill>
                <a:latin typeface="Segoe UI" pitchFamily="34" charset="0"/>
                <a:ea typeface="Segoe UI" pitchFamily="34" charset="-122"/>
                <a:cs typeface="Segoe UI" pitchFamily="34" charset="-120"/>
              </a:rPr>
              <a:t>3</a:t>
            </a:r>
            <a:endParaRPr lang="en-US" sz="1400" dirty="0"/>
          </a:p>
        </p:txBody>
      </p:sp>
      <p:sp>
        <p:nvSpPr>
          <p:cNvPr id="29" name="Text 22"/>
          <p:cNvSpPr/>
          <p:nvPr/>
        </p:nvSpPr>
        <p:spPr>
          <a:xfrm>
            <a:off x="5394960" y="4206240"/>
            <a:ext cx="6035040" cy="347472"/>
          </a:xfrm>
          <a:prstGeom prst="rect">
            <a:avLst/>
          </a:prstGeom>
          <a:noFill/>
          <a:ln/>
        </p:spPr>
        <p:txBody>
          <a:bodyPr wrap="square" lIns="0" tIns="0" rIns="0" bIns="0" rtlCol="0" anchor="t"/>
          <a:lstStyle/>
          <a:p>
            <a:pPr algn="l" indent="0" marL="0">
              <a:lnSpc>
                <a:spcPct val="110000"/>
              </a:lnSpc>
              <a:buNone/>
            </a:pPr>
            <a:r>
              <a:rPr lang="en-US" sz="1700" b="1" dirty="0">
                <a:solidFill>
                  <a:srgbClr val="F2F3F5"/>
                </a:solidFill>
                <a:latin typeface="Segoe UI" pitchFamily="34" charset="0"/>
                <a:ea typeface="Segoe UI" pitchFamily="34" charset="-122"/>
                <a:cs typeface="Segoe UI" pitchFamily="34" charset="-120"/>
              </a:rPr>
              <a:t>The answer is buried.</a:t>
            </a:r>
            <a:endParaRPr lang="en-US" sz="1700" dirty="0"/>
          </a:p>
        </p:txBody>
      </p:sp>
      <p:sp>
        <p:nvSpPr>
          <p:cNvPr id="30" name="Text 23"/>
          <p:cNvSpPr/>
          <p:nvPr/>
        </p:nvSpPr>
        <p:spPr>
          <a:xfrm>
            <a:off x="5394960" y="4572000"/>
            <a:ext cx="6035040" cy="365760"/>
          </a:xfrm>
          <a:prstGeom prst="rect">
            <a:avLst/>
          </a:prstGeom>
          <a:noFill/>
          <a:ln/>
        </p:spPr>
        <p:txBody>
          <a:bodyPr wrap="square" lIns="0" tIns="0" rIns="0" bIns="0" rtlCol="0" anchor="t"/>
          <a:lstStyle/>
          <a:p>
            <a:pPr algn="l" indent="0" marL="0">
              <a:lnSpc>
                <a:spcPct val="110000"/>
              </a:lnSpc>
              <a:buNone/>
            </a:pPr>
            <a:r>
              <a:rPr lang="en-US" sz="1300" dirty="0">
                <a:solidFill>
                  <a:srgbClr val="9AA3B0"/>
                </a:solidFill>
                <a:latin typeface="Segoe UI" pitchFamily="34" charset="0"/>
                <a:ea typeface="Segoe UI" pitchFamily="34" charset="-122"/>
                <a:cs typeface="Segoe UI" pitchFamily="34" charset="-120"/>
              </a:rPr>
              <a:t>Manuals, fault notes and service records, scattered and mostly in English.</a:t>
            </a:r>
            <a:endParaRPr lang="en-US" sz="1300" dirty="0"/>
          </a:p>
        </p:txBody>
      </p:sp>
      <p:sp>
        <p:nvSpPr>
          <p:cNvPr id="31" name="Shape 24"/>
          <p:cNvSpPr/>
          <p:nvPr/>
        </p:nvSpPr>
        <p:spPr>
          <a:xfrm>
            <a:off x="4800600" y="5138928"/>
            <a:ext cx="384048" cy="384048"/>
          </a:xfrm>
          <a:prstGeom prst="ellipse">
            <a:avLst/>
          </a:prstGeom>
          <a:solidFill>
            <a:srgbClr val="FFCD11"/>
          </a:solidFill>
          <a:ln w="12700">
            <a:solidFill>
              <a:srgbClr val="FFCD11"/>
            </a:solidFill>
            <a:prstDash val="solid"/>
          </a:ln>
        </p:spPr>
      </p:sp>
      <p:sp>
        <p:nvSpPr>
          <p:cNvPr id="32" name="Text 25"/>
          <p:cNvSpPr/>
          <p:nvPr/>
        </p:nvSpPr>
        <p:spPr>
          <a:xfrm>
            <a:off x="4800600" y="5138928"/>
            <a:ext cx="384048" cy="384048"/>
          </a:xfrm>
          <a:prstGeom prst="rect">
            <a:avLst/>
          </a:prstGeom>
          <a:noFill/>
          <a:ln/>
        </p:spPr>
        <p:txBody>
          <a:bodyPr wrap="square" lIns="0" tIns="0" rIns="0" bIns="0" rtlCol="0" anchor="ctr"/>
          <a:lstStyle/>
          <a:p>
            <a:pPr algn="ctr" indent="0" marL="0">
              <a:lnSpc>
                <a:spcPct val="110000"/>
              </a:lnSpc>
              <a:buNone/>
            </a:pPr>
            <a:r>
              <a:rPr lang="en-US" sz="1400" b="1" dirty="0">
                <a:solidFill>
                  <a:srgbClr val="111111"/>
                </a:solidFill>
                <a:latin typeface="Segoe UI" pitchFamily="34" charset="0"/>
                <a:ea typeface="Segoe UI" pitchFamily="34" charset="-122"/>
                <a:cs typeface="Segoe UI" pitchFamily="34" charset="-120"/>
              </a:rPr>
              <a:t>4</a:t>
            </a:r>
            <a:endParaRPr lang="en-US" sz="1400" dirty="0"/>
          </a:p>
        </p:txBody>
      </p:sp>
      <p:sp>
        <p:nvSpPr>
          <p:cNvPr id="33" name="Text 26"/>
          <p:cNvSpPr/>
          <p:nvPr/>
        </p:nvSpPr>
        <p:spPr>
          <a:xfrm>
            <a:off x="5394960" y="5120640"/>
            <a:ext cx="6035040" cy="347472"/>
          </a:xfrm>
          <a:prstGeom prst="rect">
            <a:avLst/>
          </a:prstGeom>
          <a:noFill/>
          <a:ln/>
        </p:spPr>
        <p:txBody>
          <a:bodyPr wrap="square" lIns="0" tIns="0" rIns="0" bIns="0" rtlCol="0" anchor="t"/>
          <a:lstStyle/>
          <a:p>
            <a:pPr algn="l" indent="0" marL="0">
              <a:lnSpc>
                <a:spcPct val="110000"/>
              </a:lnSpc>
              <a:buNone/>
            </a:pPr>
            <a:r>
              <a:rPr lang="en-US" sz="1700" b="1" dirty="0">
                <a:solidFill>
                  <a:srgbClr val="F87171"/>
                </a:solidFill>
                <a:latin typeface="Segoe UI" pitchFamily="34" charset="0"/>
                <a:ea typeface="Segoe UI" pitchFamily="34" charset="-122"/>
                <a:cs typeface="Segoe UI" pitchFamily="34" charset="-120"/>
              </a:rPr>
              <a:t>So he guesses.</a:t>
            </a:r>
            <a:endParaRPr lang="en-US" sz="1700" dirty="0"/>
          </a:p>
        </p:txBody>
      </p:sp>
      <p:sp>
        <p:nvSpPr>
          <p:cNvPr id="34" name="Text 27"/>
          <p:cNvSpPr/>
          <p:nvPr/>
        </p:nvSpPr>
        <p:spPr>
          <a:xfrm>
            <a:off x="5394960" y="5486400"/>
            <a:ext cx="6035040" cy="365760"/>
          </a:xfrm>
          <a:prstGeom prst="rect">
            <a:avLst/>
          </a:prstGeom>
          <a:noFill/>
          <a:ln/>
        </p:spPr>
        <p:txBody>
          <a:bodyPr wrap="square" lIns="0" tIns="0" rIns="0" bIns="0" rtlCol="0" anchor="t"/>
          <a:lstStyle/>
          <a:p>
            <a:pPr algn="l" indent="0" marL="0">
              <a:lnSpc>
                <a:spcPct val="110000"/>
              </a:lnSpc>
              <a:buNone/>
            </a:pPr>
            <a:r>
              <a:rPr lang="en-US" sz="1300" dirty="0">
                <a:solidFill>
                  <a:srgbClr val="9AA3B0"/>
                </a:solidFill>
                <a:latin typeface="Segoe UI" pitchFamily="34" charset="0"/>
                <a:ea typeface="Segoe UI" pitchFamily="34" charset="-122"/>
                <a:cs typeface="Segoe UI" pitchFamily="34" charset="-120"/>
              </a:rPr>
              <a:t>Wrong part, lost hours, and a real safety risk.</a:t>
            </a:r>
            <a:endParaRPr lang="en-US" sz="13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80"/>
                </a:solidFill>
                <a:latin typeface="Segoe UI"/>
                <a:ea typeface="Segoe UI"/>
                <a:cs typeface="Segoe U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85800" y="649224"/>
            <a:ext cx="320040" cy="27432"/>
          </a:xfrm>
          <a:prstGeom prst="rect">
            <a:avLst/>
          </a:prstGeom>
          <a:solidFill>
            <a:srgbClr val="FFCD11"/>
          </a:solidFill>
          <a:ln w="12700">
            <a:solidFill>
              <a:srgbClr val="FFCD11"/>
            </a:solidFill>
            <a:prstDash val="solid"/>
          </a:ln>
        </p:spPr>
      </p:sp>
      <p:sp>
        <p:nvSpPr>
          <p:cNvPr id="3" name="Text 1"/>
          <p:cNvSpPr/>
          <p:nvPr/>
        </p:nvSpPr>
        <p:spPr>
          <a:xfrm>
            <a:off x="1115568" y="512064"/>
            <a:ext cx="7315200" cy="292608"/>
          </a:xfrm>
          <a:prstGeom prst="rect">
            <a:avLst/>
          </a:prstGeom>
          <a:noFill/>
          <a:ln/>
        </p:spPr>
        <p:txBody>
          <a:bodyPr wrap="square" lIns="0" tIns="0" rIns="0" bIns="0" rtlCol="0" anchor="ctr"/>
          <a:lstStyle/>
          <a:p>
            <a:pPr indent="0" marL="0">
              <a:buNone/>
            </a:pPr>
            <a:r>
              <a:rPr lang="en-US" sz="1100" b="1" spc="300" kern="0" dirty="0">
                <a:solidFill>
                  <a:srgbClr val="FFCD11"/>
                </a:solidFill>
                <a:latin typeface="Segoe UI" pitchFamily="34" charset="0"/>
                <a:ea typeface="Segoe UI" pitchFamily="34" charset="-122"/>
                <a:cs typeface="Segoe UI" pitchFamily="34" charset="-120"/>
              </a:rPr>
              <a:t>02   </a:t>
            </a:r>
            <a:pPr indent="0" marL="0">
              <a:buNone/>
            </a:pPr>
            <a:r>
              <a:rPr lang="en-US" sz="1100" b="1" spc="300" kern="0" dirty="0">
                <a:solidFill>
                  <a:srgbClr val="9AA3B0"/>
                </a:solidFill>
                <a:latin typeface="Segoe UI" pitchFamily="34" charset="0"/>
                <a:ea typeface="Segoe UI" pitchFamily="34" charset="-122"/>
                <a:cs typeface="Segoe UI" pitchFamily="34" charset="-120"/>
              </a:rPr>
              <a:t>THE PROBLEM</a:t>
            </a:r>
            <a:endParaRPr lang="en-US" sz="1100" dirty="0"/>
          </a:p>
        </p:txBody>
      </p:sp>
      <p:sp>
        <p:nvSpPr>
          <p:cNvPr id="4" name="Text 2"/>
          <p:cNvSpPr/>
          <p:nvPr/>
        </p:nvSpPr>
        <p:spPr>
          <a:xfrm>
            <a:off x="685800" y="896112"/>
            <a:ext cx="10789920" cy="868680"/>
          </a:xfrm>
          <a:prstGeom prst="rect">
            <a:avLst/>
          </a:prstGeom>
          <a:noFill/>
          <a:ln/>
        </p:spPr>
        <p:txBody>
          <a:bodyPr wrap="square" lIns="0" tIns="0" rIns="0" bIns="0" rtlCol="0" anchor="t"/>
          <a:lstStyle/>
          <a:p>
            <a:pPr indent="0" marL="0">
              <a:lnSpc>
                <a:spcPct val="95000"/>
              </a:lnSpc>
              <a:buNone/>
            </a:pPr>
            <a:r>
              <a:rPr lang="en-US" sz="3200" b="1" dirty="0">
                <a:solidFill>
                  <a:srgbClr val="F2F3F5"/>
                </a:solidFill>
                <a:latin typeface="Segoe UI" pitchFamily="34" charset="0"/>
                <a:ea typeface="Segoe UI" pitchFamily="34" charset="-122"/>
                <a:cs typeface="Segoe UI" pitchFamily="34" charset="-120"/>
              </a:rPr>
              <a:t>Machine knowledge is scattered,</a:t>
            </a:r>
            <a:pPr indent="0" marL="0">
              <a:lnSpc>
                <a:spcPct val="95000"/>
              </a:lnSpc>
              <a:buNone/>
            </a:pPr>
            <a:r>
              <a:rPr lang="en-US" sz="3200" b="1" dirty="0">
                <a:solidFill>
                  <a:srgbClr val="FFCD11"/>
                </a:solidFill>
                <a:latin typeface="Segoe UI" pitchFamily="34" charset="0"/>
                <a:ea typeface="Segoe UI" pitchFamily="34" charset="-122"/>
                <a:cs typeface="Segoe UI" pitchFamily="34" charset="-120"/>
              </a:rPr>
              <a:t> and new technicians pay the price.</a:t>
            </a:r>
            <a:endParaRPr lang="en-US" sz="3200" dirty="0"/>
          </a:p>
        </p:txBody>
      </p:sp>
      <p:sp>
        <p:nvSpPr>
          <p:cNvPr id="5" name="Shape 3"/>
          <p:cNvSpPr/>
          <p:nvPr/>
        </p:nvSpPr>
        <p:spPr>
          <a:xfrm>
            <a:off x="685800" y="1965960"/>
            <a:ext cx="3474720" cy="1920240"/>
          </a:xfrm>
          <a:prstGeom prst="roundRect">
            <a:avLst>
              <a:gd name="adj" fmla="val 5714"/>
            </a:avLst>
          </a:prstGeom>
          <a:solidFill>
            <a:srgbClr val="161A20"/>
          </a:solidFill>
          <a:ln w="12700">
            <a:solidFill>
              <a:srgbClr val="262C35"/>
            </a:solidFill>
            <a:prstDash val="solid"/>
          </a:ln>
        </p:spPr>
      </p:sp>
      <p:sp>
        <p:nvSpPr>
          <p:cNvPr id="6" name="Shape 4"/>
          <p:cNvSpPr/>
          <p:nvPr/>
        </p:nvSpPr>
        <p:spPr>
          <a:xfrm>
            <a:off x="960120" y="2212848"/>
            <a:ext cx="512064" cy="512064"/>
          </a:xfrm>
          <a:prstGeom prst="roundRect">
            <a:avLst>
              <a:gd name="adj" fmla="val 17857"/>
            </a:avLst>
          </a:prstGeom>
          <a:solidFill>
            <a:srgbClr val="F87171">
              <a:alpha val="14000"/>
            </a:srgbClr>
          </a:solidFill>
          <a:ln w="9525">
            <a:solidFill>
              <a:srgbClr val="F87171">
                <a:alpha val="45000"/>
              </a:srgbClr>
            </a:solidFill>
            <a:prstDash val="solid"/>
          </a:ln>
        </p:spPr>
      </p:sp>
      <p:pic>
        <p:nvPicPr>
          <p:cNvPr id="7" name="Image 0" descr="preencoded.png">    </p:cNvPr>
          <p:cNvPicPr>
            <a:picLocks noChangeAspect="1"/>
          </p:cNvPicPr>
          <p:nvPr/>
        </p:nvPicPr>
        <p:blipFill>
          <a:blip r:embed="rId1"/>
          <a:stretch>
            <a:fillRect/>
          </a:stretch>
        </p:blipFill>
        <p:spPr>
          <a:xfrm>
            <a:off x="1072774" y="2325502"/>
            <a:ext cx="286756" cy="286756"/>
          </a:xfrm>
          <a:prstGeom prst="rect">
            <a:avLst/>
          </a:prstGeom>
        </p:spPr>
      </p:pic>
      <p:sp>
        <p:nvSpPr>
          <p:cNvPr id="8" name="Text 5"/>
          <p:cNvSpPr/>
          <p:nvPr/>
        </p:nvSpPr>
        <p:spPr>
          <a:xfrm>
            <a:off x="960120" y="2834640"/>
            <a:ext cx="3017520" cy="329184"/>
          </a:xfrm>
          <a:prstGeom prst="rect">
            <a:avLst/>
          </a:prstGeom>
          <a:noFill/>
          <a:ln/>
        </p:spPr>
        <p:txBody>
          <a:bodyPr wrap="square" lIns="0" tIns="0" rIns="0" bIns="0" rtlCol="0" anchor="t"/>
          <a:lstStyle/>
          <a:p>
            <a:pPr algn="l" indent="0" marL="0">
              <a:lnSpc>
                <a:spcPct val="110000"/>
              </a:lnSpc>
              <a:buNone/>
            </a:pPr>
            <a:r>
              <a:rPr lang="en-US" sz="1700" b="1" dirty="0">
                <a:solidFill>
                  <a:srgbClr val="F2F3F5"/>
                </a:solidFill>
                <a:latin typeface="Segoe UI" pitchFamily="34" charset="0"/>
                <a:ea typeface="Segoe UI" pitchFamily="34" charset="-122"/>
                <a:cs typeface="Segoe UI" pitchFamily="34" charset="-120"/>
              </a:rPr>
              <a:t>Unfamiliar machines</a:t>
            </a:r>
            <a:endParaRPr lang="en-US" sz="1700" dirty="0"/>
          </a:p>
        </p:txBody>
      </p:sp>
      <p:sp>
        <p:nvSpPr>
          <p:cNvPr id="9" name="Text 6"/>
          <p:cNvSpPr/>
          <p:nvPr/>
        </p:nvSpPr>
        <p:spPr>
          <a:xfrm>
            <a:off x="960120" y="3182112"/>
            <a:ext cx="2971800" cy="658368"/>
          </a:xfrm>
          <a:prstGeom prst="rect">
            <a:avLst/>
          </a:prstGeom>
          <a:noFill/>
          <a:ln/>
        </p:spPr>
        <p:txBody>
          <a:bodyPr wrap="square" lIns="0" tIns="0" rIns="0" bIns="0" rtlCol="0" anchor="t"/>
          <a:lstStyle/>
          <a:p>
            <a:pPr algn="l" indent="0" marL="0">
              <a:lnSpc>
                <a:spcPct val="110000"/>
              </a:lnSpc>
              <a:buNone/>
            </a:pPr>
            <a:r>
              <a:rPr lang="en-US" sz="1200" dirty="0">
                <a:solidFill>
                  <a:srgbClr val="9AA3B0"/>
                </a:solidFill>
                <a:latin typeface="Segoe UI" pitchFamily="34" charset="0"/>
                <a:ea typeface="Segoe UI" pitchFamily="34" charset="-122"/>
                <a:cs typeface="Segoe UI" pitchFamily="34" charset="-120"/>
              </a:rPr>
              <a:t>Every machine has a past: repeat faults, misdiagnoses, quirks. That history lives in senior techs' heads.</a:t>
            </a:r>
            <a:endParaRPr lang="en-US" sz="1200" dirty="0"/>
          </a:p>
        </p:txBody>
      </p:sp>
      <p:sp>
        <p:nvSpPr>
          <p:cNvPr id="10" name="Shape 7"/>
          <p:cNvSpPr/>
          <p:nvPr/>
        </p:nvSpPr>
        <p:spPr>
          <a:xfrm>
            <a:off x="4357116" y="1965960"/>
            <a:ext cx="3474720" cy="1920240"/>
          </a:xfrm>
          <a:prstGeom prst="roundRect">
            <a:avLst>
              <a:gd name="adj" fmla="val 5714"/>
            </a:avLst>
          </a:prstGeom>
          <a:solidFill>
            <a:srgbClr val="161A20"/>
          </a:solidFill>
          <a:ln w="12700">
            <a:solidFill>
              <a:srgbClr val="262C35"/>
            </a:solidFill>
            <a:prstDash val="solid"/>
          </a:ln>
        </p:spPr>
      </p:sp>
      <p:sp>
        <p:nvSpPr>
          <p:cNvPr id="11" name="Shape 8"/>
          <p:cNvSpPr/>
          <p:nvPr/>
        </p:nvSpPr>
        <p:spPr>
          <a:xfrm>
            <a:off x="4631436" y="2212848"/>
            <a:ext cx="512064" cy="512064"/>
          </a:xfrm>
          <a:prstGeom prst="roundRect">
            <a:avLst>
              <a:gd name="adj" fmla="val 17857"/>
            </a:avLst>
          </a:prstGeom>
          <a:solidFill>
            <a:srgbClr val="FFCD11">
              <a:alpha val="14000"/>
            </a:srgbClr>
          </a:solidFill>
          <a:ln w="9525">
            <a:solidFill>
              <a:srgbClr val="FFCD11">
                <a:alpha val="45000"/>
              </a:srgbClr>
            </a:solidFill>
            <a:prstDash val="solid"/>
          </a:ln>
        </p:spPr>
      </p:sp>
      <p:pic>
        <p:nvPicPr>
          <p:cNvPr id="12" name="Image 1" descr="preencoded.png">    </p:cNvPr>
          <p:cNvPicPr>
            <a:picLocks noChangeAspect="1"/>
          </p:cNvPicPr>
          <p:nvPr/>
        </p:nvPicPr>
        <p:blipFill>
          <a:blip r:embed="rId2"/>
          <a:stretch>
            <a:fillRect/>
          </a:stretch>
        </p:blipFill>
        <p:spPr>
          <a:xfrm>
            <a:off x="4744090" y="2325502"/>
            <a:ext cx="286756" cy="286756"/>
          </a:xfrm>
          <a:prstGeom prst="rect">
            <a:avLst/>
          </a:prstGeom>
        </p:spPr>
      </p:pic>
      <p:sp>
        <p:nvSpPr>
          <p:cNvPr id="13" name="Text 9"/>
          <p:cNvSpPr/>
          <p:nvPr/>
        </p:nvSpPr>
        <p:spPr>
          <a:xfrm>
            <a:off x="4631436" y="2834640"/>
            <a:ext cx="3017520" cy="329184"/>
          </a:xfrm>
          <a:prstGeom prst="rect">
            <a:avLst/>
          </a:prstGeom>
          <a:noFill/>
          <a:ln/>
        </p:spPr>
        <p:txBody>
          <a:bodyPr wrap="square" lIns="0" tIns="0" rIns="0" bIns="0" rtlCol="0" anchor="t"/>
          <a:lstStyle/>
          <a:p>
            <a:pPr algn="l" indent="0" marL="0">
              <a:lnSpc>
                <a:spcPct val="110000"/>
              </a:lnSpc>
              <a:buNone/>
            </a:pPr>
            <a:r>
              <a:rPr lang="en-US" sz="1700" b="1" dirty="0">
                <a:solidFill>
                  <a:srgbClr val="F2F3F5"/>
                </a:solidFill>
                <a:latin typeface="Segoe UI" pitchFamily="34" charset="0"/>
                <a:ea typeface="Segoe UI" pitchFamily="34" charset="-122"/>
                <a:cs typeface="Segoe UI" pitchFamily="34" charset="-120"/>
              </a:rPr>
              <a:t>Information overload</a:t>
            </a:r>
            <a:endParaRPr lang="en-US" sz="1700" dirty="0"/>
          </a:p>
        </p:txBody>
      </p:sp>
      <p:sp>
        <p:nvSpPr>
          <p:cNvPr id="14" name="Text 10"/>
          <p:cNvSpPr/>
          <p:nvPr/>
        </p:nvSpPr>
        <p:spPr>
          <a:xfrm>
            <a:off x="4631436" y="3182112"/>
            <a:ext cx="2971800" cy="658368"/>
          </a:xfrm>
          <a:prstGeom prst="rect">
            <a:avLst/>
          </a:prstGeom>
          <a:noFill/>
          <a:ln/>
        </p:spPr>
        <p:txBody>
          <a:bodyPr wrap="square" lIns="0" tIns="0" rIns="0" bIns="0" rtlCol="0" anchor="t"/>
          <a:lstStyle/>
          <a:p>
            <a:pPr algn="l" indent="0" marL="0">
              <a:lnSpc>
                <a:spcPct val="110000"/>
              </a:lnSpc>
              <a:buNone/>
            </a:pPr>
            <a:r>
              <a:rPr lang="en-US" sz="1200" dirty="0">
                <a:solidFill>
                  <a:srgbClr val="9AA3B0"/>
                </a:solidFill>
                <a:latin typeface="Segoe UI" pitchFamily="34" charset="0"/>
                <a:ea typeface="Segoe UI" pitchFamily="34" charset="-122"/>
                <a:cs typeface="Segoe UI" pitchFamily="34" charset="-120"/>
              </a:rPr>
              <a:t>Manuals, fault codes, service records and notes live in different places. Cat has 1,000,000+ parts.</a:t>
            </a:r>
            <a:endParaRPr lang="en-US" sz="1200" dirty="0"/>
          </a:p>
        </p:txBody>
      </p:sp>
      <p:sp>
        <p:nvSpPr>
          <p:cNvPr id="15" name="Shape 11"/>
          <p:cNvSpPr/>
          <p:nvPr/>
        </p:nvSpPr>
        <p:spPr>
          <a:xfrm>
            <a:off x="8028432" y="1965960"/>
            <a:ext cx="3474720" cy="1920240"/>
          </a:xfrm>
          <a:prstGeom prst="roundRect">
            <a:avLst>
              <a:gd name="adj" fmla="val 5714"/>
            </a:avLst>
          </a:prstGeom>
          <a:solidFill>
            <a:srgbClr val="161A20"/>
          </a:solidFill>
          <a:ln w="12700">
            <a:solidFill>
              <a:srgbClr val="262C35"/>
            </a:solidFill>
            <a:prstDash val="solid"/>
          </a:ln>
        </p:spPr>
      </p:sp>
      <p:sp>
        <p:nvSpPr>
          <p:cNvPr id="16" name="Shape 12"/>
          <p:cNvSpPr/>
          <p:nvPr/>
        </p:nvSpPr>
        <p:spPr>
          <a:xfrm>
            <a:off x="8302752" y="2212848"/>
            <a:ext cx="512064" cy="512064"/>
          </a:xfrm>
          <a:prstGeom prst="roundRect">
            <a:avLst>
              <a:gd name="adj" fmla="val 17857"/>
            </a:avLst>
          </a:prstGeom>
          <a:solidFill>
            <a:srgbClr val="60A5FA">
              <a:alpha val="14000"/>
            </a:srgbClr>
          </a:solidFill>
          <a:ln w="9525">
            <a:solidFill>
              <a:srgbClr val="60A5FA">
                <a:alpha val="45000"/>
              </a:srgbClr>
            </a:solidFill>
            <a:prstDash val="solid"/>
          </a:ln>
        </p:spPr>
      </p:sp>
      <p:pic>
        <p:nvPicPr>
          <p:cNvPr id="17" name="Image 2" descr="preencoded.png">    </p:cNvPr>
          <p:cNvPicPr>
            <a:picLocks noChangeAspect="1"/>
          </p:cNvPicPr>
          <p:nvPr/>
        </p:nvPicPr>
        <p:blipFill>
          <a:blip r:embed="rId3"/>
          <a:stretch>
            <a:fillRect/>
          </a:stretch>
        </p:blipFill>
        <p:spPr>
          <a:xfrm>
            <a:off x="8415406" y="2325502"/>
            <a:ext cx="286756" cy="286756"/>
          </a:xfrm>
          <a:prstGeom prst="rect">
            <a:avLst/>
          </a:prstGeom>
        </p:spPr>
      </p:pic>
      <p:sp>
        <p:nvSpPr>
          <p:cNvPr id="18" name="Text 13"/>
          <p:cNvSpPr/>
          <p:nvPr/>
        </p:nvSpPr>
        <p:spPr>
          <a:xfrm>
            <a:off x="8302752" y="2834640"/>
            <a:ext cx="3017520" cy="329184"/>
          </a:xfrm>
          <a:prstGeom prst="rect">
            <a:avLst/>
          </a:prstGeom>
          <a:noFill/>
          <a:ln/>
        </p:spPr>
        <p:txBody>
          <a:bodyPr wrap="square" lIns="0" tIns="0" rIns="0" bIns="0" rtlCol="0" anchor="t"/>
          <a:lstStyle/>
          <a:p>
            <a:pPr algn="l" indent="0" marL="0">
              <a:lnSpc>
                <a:spcPct val="110000"/>
              </a:lnSpc>
              <a:buNone/>
            </a:pPr>
            <a:r>
              <a:rPr lang="en-US" sz="1700" b="1" dirty="0">
                <a:solidFill>
                  <a:srgbClr val="F2F3F5"/>
                </a:solidFill>
                <a:latin typeface="Segoe UI" pitchFamily="34" charset="0"/>
                <a:ea typeface="Segoe UI" pitchFamily="34" charset="-122"/>
                <a:cs typeface="Segoe UI" pitchFamily="34" charset="-120"/>
              </a:rPr>
              <a:t>Language barriers</a:t>
            </a:r>
            <a:endParaRPr lang="en-US" sz="1700" dirty="0"/>
          </a:p>
        </p:txBody>
      </p:sp>
      <p:sp>
        <p:nvSpPr>
          <p:cNvPr id="19" name="Text 14"/>
          <p:cNvSpPr/>
          <p:nvPr/>
        </p:nvSpPr>
        <p:spPr>
          <a:xfrm>
            <a:off x="8302752" y="3182112"/>
            <a:ext cx="2971800" cy="658368"/>
          </a:xfrm>
          <a:prstGeom prst="rect">
            <a:avLst/>
          </a:prstGeom>
          <a:noFill/>
          <a:ln/>
        </p:spPr>
        <p:txBody>
          <a:bodyPr wrap="square" lIns="0" tIns="0" rIns="0" bIns="0" rtlCol="0" anchor="t"/>
          <a:lstStyle/>
          <a:p>
            <a:pPr algn="l" indent="0" marL="0">
              <a:lnSpc>
                <a:spcPct val="110000"/>
              </a:lnSpc>
              <a:buNone/>
            </a:pPr>
            <a:r>
              <a:rPr lang="en-US" sz="1200" dirty="0">
                <a:solidFill>
                  <a:srgbClr val="9AA3B0"/>
                </a:solidFill>
                <a:latin typeface="Segoe UI" pitchFamily="34" charset="0"/>
                <a:ea typeface="Segoe UI" pitchFamily="34" charset="-122"/>
                <a:cs typeface="Segoe UI" pitchFamily="34" charset="-120"/>
              </a:rPr>
              <a:t>Documentation and tools are English-first. A big share of the workforce isn't.</a:t>
            </a:r>
            <a:endParaRPr lang="en-US" sz="1200" dirty="0"/>
          </a:p>
        </p:txBody>
      </p:sp>
      <p:sp>
        <p:nvSpPr>
          <p:cNvPr id="20" name="Shape 15"/>
          <p:cNvSpPr/>
          <p:nvPr/>
        </p:nvSpPr>
        <p:spPr>
          <a:xfrm>
            <a:off x="685800" y="4114800"/>
            <a:ext cx="10817352" cy="0"/>
          </a:xfrm>
          <a:prstGeom prst="line">
            <a:avLst/>
          </a:prstGeom>
          <a:noFill/>
          <a:ln w="12700">
            <a:solidFill>
              <a:srgbClr val="262C35"/>
            </a:solidFill>
            <a:prstDash val="solid"/>
          </a:ln>
        </p:spPr>
      </p:sp>
      <p:sp>
        <p:nvSpPr>
          <p:cNvPr id="21" name="Shape 16"/>
          <p:cNvSpPr/>
          <p:nvPr/>
        </p:nvSpPr>
        <p:spPr>
          <a:xfrm>
            <a:off x="685800" y="5577840"/>
            <a:ext cx="10817352" cy="0"/>
          </a:xfrm>
          <a:prstGeom prst="line">
            <a:avLst/>
          </a:prstGeom>
          <a:noFill/>
          <a:ln w="12700">
            <a:solidFill>
              <a:srgbClr val="262C35"/>
            </a:solidFill>
            <a:prstDash val="solid"/>
          </a:ln>
        </p:spPr>
      </p:sp>
      <p:sp>
        <p:nvSpPr>
          <p:cNvPr id="22" name="Text 17"/>
          <p:cNvSpPr/>
          <p:nvPr/>
        </p:nvSpPr>
        <p:spPr>
          <a:xfrm>
            <a:off x="914400" y="4251960"/>
            <a:ext cx="2377440" cy="502920"/>
          </a:xfrm>
          <a:prstGeom prst="rect">
            <a:avLst/>
          </a:prstGeom>
          <a:noFill/>
          <a:ln/>
        </p:spPr>
        <p:txBody>
          <a:bodyPr wrap="square" lIns="0" tIns="0" rIns="0" bIns="0" rtlCol="0" anchor="t"/>
          <a:lstStyle/>
          <a:p>
            <a:pPr algn="l" indent="0" marL="0">
              <a:lnSpc>
                <a:spcPct val="110000"/>
              </a:lnSpc>
              <a:buNone/>
            </a:pPr>
            <a:r>
              <a:rPr lang="en-US" sz="3000" b="1" dirty="0">
                <a:solidFill>
                  <a:srgbClr val="FFCD11"/>
                </a:solidFill>
                <a:latin typeface="Segoe UI" pitchFamily="34" charset="0"/>
                <a:ea typeface="Segoe UI" pitchFamily="34" charset="-122"/>
                <a:cs typeface="Segoe UI" pitchFamily="34" charset="-120"/>
              </a:rPr>
              <a:t>21,700</a:t>
            </a:r>
            <a:endParaRPr lang="en-US" sz="3000" dirty="0"/>
          </a:p>
        </p:txBody>
      </p:sp>
      <p:sp>
        <p:nvSpPr>
          <p:cNvPr id="23" name="Text 18"/>
          <p:cNvSpPr/>
          <p:nvPr/>
        </p:nvSpPr>
        <p:spPr>
          <a:xfrm>
            <a:off x="914400" y="4773168"/>
            <a:ext cx="2331720" cy="457200"/>
          </a:xfrm>
          <a:prstGeom prst="rect">
            <a:avLst/>
          </a:prstGeom>
          <a:noFill/>
          <a:ln/>
        </p:spPr>
        <p:txBody>
          <a:bodyPr wrap="square" lIns="0" tIns="0" rIns="0" bIns="0" rtlCol="0" anchor="t"/>
          <a:lstStyle/>
          <a:p>
            <a:pPr algn="l" indent="0" marL="0">
              <a:lnSpc>
                <a:spcPct val="110000"/>
              </a:lnSpc>
              <a:buNone/>
            </a:pPr>
            <a:r>
              <a:rPr lang="en-US" sz="1150" dirty="0">
                <a:solidFill>
                  <a:srgbClr val="C9CED6"/>
                </a:solidFill>
                <a:latin typeface="Segoe UI" pitchFamily="34" charset="0"/>
                <a:ea typeface="Segoe UI" pitchFamily="34" charset="-122"/>
                <a:cs typeface="Segoe UI" pitchFamily="34" charset="-120"/>
              </a:rPr>
              <a:t>heavy-equipment technician openings every year</a:t>
            </a:r>
            <a:endParaRPr lang="en-US" sz="1150" dirty="0"/>
          </a:p>
        </p:txBody>
      </p:sp>
      <p:sp>
        <p:nvSpPr>
          <p:cNvPr id="24" name="Text 19"/>
          <p:cNvSpPr/>
          <p:nvPr/>
        </p:nvSpPr>
        <p:spPr>
          <a:xfrm>
            <a:off x="914400" y="5266944"/>
            <a:ext cx="2331720" cy="228600"/>
          </a:xfrm>
          <a:prstGeom prst="rect">
            <a:avLst/>
          </a:prstGeom>
          <a:noFill/>
          <a:ln/>
        </p:spPr>
        <p:txBody>
          <a:bodyPr wrap="square" lIns="0" tIns="0" rIns="0" bIns="0" rtlCol="0" anchor="t"/>
          <a:lstStyle/>
          <a:p>
            <a:pPr algn="l" indent="0" marL="0">
              <a:lnSpc>
                <a:spcPct val="110000"/>
              </a:lnSpc>
              <a:buNone/>
            </a:pPr>
            <a:r>
              <a:rPr lang="en-US" sz="900" dirty="0">
                <a:solidFill>
                  <a:srgbClr val="6B7480"/>
                </a:solidFill>
                <a:latin typeface="Segoe UI" pitchFamily="34" charset="0"/>
                <a:ea typeface="Segoe UI" pitchFamily="34" charset="-122"/>
                <a:cs typeface="Segoe UI" pitchFamily="34" charset="-120"/>
              </a:rPr>
              <a:t>BLS, 2024-34 projections</a:t>
            </a:r>
            <a:endParaRPr lang="en-US" sz="900" dirty="0"/>
          </a:p>
        </p:txBody>
      </p:sp>
      <p:sp>
        <p:nvSpPr>
          <p:cNvPr id="25" name="Shape 20"/>
          <p:cNvSpPr/>
          <p:nvPr/>
        </p:nvSpPr>
        <p:spPr>
          <a:xfrm>
            <a:off x="3392424" y="4114800"/>
            <a:ext cx="0" cy="1463040"/>
          </a:xfrm>
          <a:prstGeom prst="line">
            <a:avLst/>
          </a:prstGeom>
          <a:noFill/>
          <a:ln w="12700">
            <a:solidFill>
              <a:srgbClr val="262C35"/>
            </a:solidFill>
            <a:prstDash val="solid"/>
          </a:ln>
        </p:spPr>
      </p:sp>
      <p:sp>
        <p:nvSpPr>
          <p:cNvPr id="26" name="Text 21"/>
          <p:cNvSpPr/>
          <p:nvPr/>
        </p:nvSpPr>
        <p:spPr>
          <a:xfrm>
            <a:off x="3621024" y="4251960"/>
            <a:ext cx="2377440" cy="502920"/>
          </a:xfrm>
          <a:prstGeom prst="rect">
            <a:avLst/>
          </a:prstGeom>
          <a:noFill/>
          <a:ln/>
        </p:spPr>
        <p:txBody>
          <a:bodyPr wrap="square" lIns="0" tIns="0" rIns="0" bIns="0" rtlCol="0" anchor="t"/>
          <a:lstStyle/>
          <a:p>
            <a:pPr algn="l" indent="0" marL="0">
              <a:lnSpc>
                <a:spcPct val="110000"/>
              </a:lnSpc>
              <a:buNone/>
            </a:pPr>
            <a:r>
              <a:rPr lang="en-US" sz="3000" b="1" dirty="0">
                <a:solidFill>
                  <a:srgbClr val="FFCD11"/>
                </a:solidFill>
                <a:latin typeface="Segoe UI" pitchFamily="34" charset="0"/>
                <a:ea typeface="Segoe UI" pitchFamily="34" charset="-122"/>
                <a:cs typeface="Segoe UI" pitchFamily="34" charset="-120"/>
              </a:rPr>
              <a:t>~19%</a:t>
            </a:r>
            <a:endParaRPr lang="en-US" sz="3000" dirty="0"/>
          </a:p>
        </p:txBody>
      </p:sp>
      <p:sp>
        <p:nvSpPr>
          <p:cNvPr id="27" name="Text 22"/>
          <p:cNvSpPr/>
          <p:nvPr/>
        </p:nvSpPr>
        <p:spPr>
          <a:xfrm>
            <a:off x="3621024" y="4773168"/>
            <a:ext cx="2331720" cy="457200"/>
          </a:xfrm>
          <a:prstGeom prst="rect">
            <a:avLst/>
          </a:prstGeom>
          <a:noFill/>
          <a:ln/>
        </p:spPr>
        <p:txBody>
          <a:bodyPr wrap="square" lIns="0" tIns="0" rIns="0" bIns="0" rtlCol="0" anchor="t"/>
          <a:lstStyle/>
          <a:p>
            <a:pPr algn="l" indent="0" marL="0">
              <a:lnSpc>
                <a:spcPct val="110000"/>
              </a:lnSpc>
              <a:buNone/>
            </a:pPr>
            <a:r>
              <a:rPr lang="en-US" sz="1150" dirty="0">
                <a:solidFill>
                  <a:srgbClr val="C9CED6"/>
                </a:solidFill>
                <a:latin typeface="Segoe UI" pitchFamily="34" charset="0"/>
                <a:ea typeface="Segoe UI" pitchFamily="34" charset="-122"/>
                <a:cs typeface="Segoe UI" pitchFamily="34" charset="-120"/>
              </a:rPr>
              <a:t>of a knowledge worker's week goes to searching for information</a:t>
            </a:r>
            <a:endParaRPr lang="en-US" sz="1150" dirty="0"/>
          </a:p>
        </p:txBody>
      </p:sp>
      <p:sp>
        <p:nvSpPr>
          <p:cNvPr id="28" name="Text 23"/>
          <p:cNvSpPr/>
          <p:nvPr/>
        </p:nvSpPr>
        <p:spPr>
          <a:xfrm>
            <a:off x="3621024" y="5266944"/>
            <a:ext cx="2331720" cy="228600"/>
          </a:xfrm>
          <a:prstGeom prst="rect">
            <a:avLst/>
          </a:prstGeom>
          <a:noFill/>
          <a:ln/>
        </p:spPr>
        <p:txBody>
          <a:bodyPr wrap="square" lIns="0" tIns="0" rIns="0" bIns="0" rtlCol="0" anchor="t"/>
          <a:lstStyle/>
          <a:p>
            <a:pPr algn="l" indent="0" marL="0">
              <a:lnSpc>
                <a:spcPct val="110000"/>
              </a:lnSpc>
              <a:buNone/>
            </a:pPr>
            <a:r>
              <a:rPr lang="en-US" sz="900" dirty="0">
                <a:solidFill>
                  <a:srgbClr val="6B7480"/>
                </a:solidFill>
                <a:latin typeface="Segoe UI" pitchFamily="34" charset="0"/>
                <a:ea typeface="Segoe UI" pitchFamily="34" charset="-122"/>
                <a:cs typeface="Segoe UI" pitchFamily="34" charset="-120"/>
              </a:rPr>
              <a:t>McKinsey Global Institute</a:t>
            </a:r>
            <a:endParaRPr lang="en-US" sz="900" dirty="0"/>
          </a:p>
        </p:txBody>
      </p:sp>
      <p:sp>
        <p:nvSpPr>
          <p:cNvPr id="29" name="Shape 24"/>
          <p:cNvSpPr/>
          <p:nvPr/>
        </p:nvSpPr>
        <p:spPr>
          <a:xfrm>
            <a:off x="6099048" y="4114800"/>
            <a:ext cx="0" cy="1463040"/>
          </a:xfrm>
          <a:prstGeom prst="line">
            <a:avLst/>
          </a:prstGeom>
          <a:noFill/>
          <a:ln w="12700">
            <a:solidFill>
              <a:srgbClr val="262C35"/>
            </a:solidFill>
            <a:prstDash val="solid"/>
          </a:ln>
        </p:spPr>
      </p:sp>
      <p:sp>
        <p:nvSpPr>
          <p:cNvPr id="30" name="Text 25"/>
          <p:cNvSpPr/>
          <p:nvPr/>
        </p:nvSpPr>
        <p:spPr>
          <a:xfrm>
            <a:off x="6327648" y="4251960"/>
            <a:ext cx="2377440" cy="502920"/>
          </a:xfrm>
          <a:prstGeom prst="rect">
            <a:avLst/>
          </a:prstGeom>
          <a:noFill/>
          <a:ln/>
        </p:spPr>
        <p:txBody>
          <a:bodyPr wrap="square" lIns="0" tIns="0" rIns="0" bIns="0" rtlCol="0" anchor="t"/>
          <a:lstStyle/>
          <a:p>
            <a:pPr algn="l" indent="0" marL="0">
              <a:lnSpc>
                <a:spcPct val="110000"/>
              </a:lnSpc>
              <a:buNone/>
            </a:pPr>
            <a:r>
              <a:rPr lang="en-US" sz="3000" b="1" dirty="0">
                <a:solidFill>
                  <a:srgbClr val="FFCD11"/>
                </a:solidFill>
                <a:latin typeface="Segoe UI" pitchFamily="34" charset="0"/>
                <a:ea typeface="Segoe UI" pitchFamily="34" charset="-122"/>
                <a:cs typeface="Segoe UI" pitchFamily="34" charset="-120"/>
              </a:rPr>
              <a:t>35%</a:t>
            </a:r>
            <a:endParaRPr lang="en-US" sz="3000" dirty="0"/>
          </a:p>
        </p:txBody>
      </p:sp>
      <p:sp>
        <p:nvSpPr>
          <p:cNvPr id="31" name="Text 26"/>
          <p:cNvSpPr/>
          <p:nvPr/>
        </p:nvSpPr>
        <p:spPr>
          <a:xfrm>
            <a:off x="6327648" y="4773168"/>
            <a:ext cx="2331720" cy="457200"/>
          </a:xfrm>
          <a:prstGeom prst="rect">
            <a:avLst/>
          </a:prstGeom>
          <a:noFill/>
          <a:ln/>
        </p:spPr>
        <p:txBody>
          <a:bodyPr wrap="square" lIns="0" tIns="0" rIns="0" bIns="0" rtlCol="0" anchor="t"/>
          <a:lstStyle/>
          <a:p>
            <a:pPr algn="l" indent="0" marL="0">
              <a:lnSpc>
                <a:spcPct val="110000"/>
              </a:lnSpc>
              <a:buNone/>
            </a:pPr>
            <a:r>
              <a:rPr lang="en-US" sz="1150" dirty="0">
                <a:solidFill>
                  <a:srgbClr val="C9CED6"/>
                </a:solidFill>
                <a:latin typeface="Segoe UI" pitchFamily="34" charset="0"/>
                <a:ea typeface="Segoe UI" pitchFamily="34" charset="-122"/>
                <a:cs typeface="Segoe UI" pitchFamily="34" charset="-120"/>
              </a:rPr>
              <a:t>of U.S. construction workers are Hispanic or Latino</a:t>
            </a:r>
            <a:endParaRPr lang="en-US" sz="1150" dirty="0"/>
          </a:p>
        </p:txBody>
      </p:sp>
      <p:sp>
        <p:nvSpPr>
          <p:cNvPr id="32" name="Text 27"/>
          <p:cNvSpPr/>
          <p:nvPr/>
        </p:nvSpPr>
        <p:spPr>
          <a:xfrm>
            <a:off x="6327648" y="5266944"/>
            <a:ext cx="2331720" cy="228600"/>
          </a:xfrm>
          <a:prstGeom prst="rect">
            <a:avLst/>
          </a:prstGeom>
          <a:noFill/>
          <a:ln/>
        </p:spPr>
        <p:txBody>
          <a:bodyPr wrap="square" lIns="0" tIns="0" rIns="0" bIns="0" rtlCol="0" anchor="t"/>
          <a:lstStyle/>
          <a:p>
            <a:pPr algn="l" indent="0" marL="0">
              <a:lnSpc>
                <a:spcPct val="110000"/>
              </a:lnSpc>
              <a:buNone/>
            </a:pPr>
            <a:r>
              <a:rPr lang="en-US" sz="900" dirty="0">
                <a:solidFill>
                  <a:srgbClr val="6B7480"/>
                </a:solidFill>
                <a:latin typeface="Segoe UI" pitchFamily="34" charset="0"/>
                <a:ea typeface="Segoe UI" pitchFamily="34" charset="-122"/>
                <a:cs typeface="Segoe UI" pitchFamily="34" charset="-120"/>
              </a:rPr>
              <a:t>BLS, 2024</a:t>
            </a:r>
            <a:endParaRPr lang="en-US" sz="900" dirty="0"/>
          </a:p>
        </p:txBody>
      </p:sp>
      <p:sp>
        <p:nvSpPr>
          <p:cNvPr id="33" name="Shape 28"/>
          <p:cNvSpPr/>
          <p:nvPr/>
        </p:nvSpPr>
        <p:spPr>
          <a:xfrm>
            <a:off x="8805672" y="4114800"/>
            <a:ext cx="0" cy="1463040"/>
          </a:xfrm>
          <a:prstGeom prst="line">
            <a:avLst/>
          </a:prstGeom>
          <a:noFill/>
          <a:ln w="12700">
            <a:solidFill>
              <a:srgbClr val="262C35"/>
            </a:solidFill>
            <a:prstDash val="solid"/>
          </a:ln>
        </p:spPr>
      </p:sp>
      <p:sp>
        <p:nvSpPr>
          <p:cNvPr id="34" name="Text 29"/>
          <p:cNvSpPr/>
          <p:nvPr/>
        </p:nvSpPr>
        <p:spPr>
          <a:xfrm>
            <a:off x="9034272" y="4251960"/>
            <a:ext cx="2377440" cy="502920"/>
          </a:xfrm>
          <a:prstGeom prst="rect">
            <a:avLst/>
          </a:prstGeom>
          <a:noFill/>
          <a:ln/>
        </p:spPr>
        <p:txBody>
          <a:bodyPr wrap="square" lIns="0" tIns="0" rIns="0" bIns="0" rtlCol="0" anchor="t"/>
          <a:lstStyle/>
          <a:p>
            <a:pPr algn="l" indent="0" marL="0">
              <a:lnSpc>
                <a:spcPct val="110000"/>
              </a:lnSpc>
              <a:buNone/>
            </a:pPr>
            <a:r>
              <a:rPr lang="en-US" sz="3000" b="1" dirty="0">
                <a:solidFill>
                  <a:srgbClr val="FFCD11"/>
                </a:solidFill>
                <a:latin typeface="Segoe UI" pitchFamily="34" charset="0"/>
                <a:ea typeface="Segoe UI" pitchFamily="34" charset="-122"/>
                <a:cs typeface="Segoe UI" pitchFamily="34" charset="-120"/>
              </a:rPr>
              <a:t>30%</a:t>
            </a:r>
            <a:endParaRPr lang="en-US" sz="3000" dirty="0"/>
          </a:p>
        </p:txBody>
      </p:sp>
      <p:sp>
        <p:nvSpPr>
          <p:cNvPr id="35" name="Text 30"/>
          <p:cNvSpPr/>
          <p:nvPr/>
        </p:nvSpPr>
        <p:spPr>
          <a:xfrm>
            <a:off x="9034272" y="4773168"/>
            <a:ext cx="2331720" cy="457200"/>
          </a:xfrm>
          <a:prstGeom prst="rect">
            <a:avLst/>
          </a:prstGeom>
          <a:noFill/>
          <a:ln/>
        </p:spPr>
        <p:txBody>
          <a:bodyPr wrap="square" lIns="0" tIns="0" rIns="0" bIns="0" rtlCol="0" anchor="t"/>
          <a:lstStyle/>
          <a:p>
            <a:pPr algn="l" indent="0" marL="0">
              <a:lnSpc>
                <a:spcPct val="110000"/>
              </a:lnSpc>
              <a:buNone/>
            </a:pPr>
            <a:r>
              <a:rPr lang="en-US" sz="1150" dirty="0">
                <a:solidFill>
                  <a:srgbClr val="C9CED6"/>
                </a:solidFill>
                <a:latin typeface="Segoe UI" pitchFamily="34" charset="0"/>
                <a:ea typeface="Segoe UI" pitchFamily="34" charset="-122"/>
                <a:cs typeface="Segoe UI" pitchFamily="34" charset="-120"/>
              </a:rPr>
              <a:t>higher fatal injury rate for Hispanic or Latino workers</a:t>
            </a:r>
            <a:endParaRPr lang="en-US" sz="1150" dirty="0"/>
          </a:p>
        </p:txBody>
      </p:sp>
      <p:sp>
        <p:nvSpPr>
          <p:cNvPr id="36" name="Text 31"/>
          <p:cNvSpPr/>
          <p:nvPr/>
        </p:nvSpPr>
        <p:spPr>
          <a:xfrm>
            <a:off x="9034272" y="5266944"/>
            <a:ext cx="2331720" cy="228600"/>
          </a:xfrm>
          <a:prstGeom prst="rect">
            <a:avLst/>
          </a:prstGeom>
          <a:noFill/>
          <a:ln/>
        </p:spPr>
        <p:txBody>
          <a:bodyPr wrap="square" lIns="0" tIns="0" rIns="0" bIns="0" rtlCol="0" anchor="t"/>
          <a:lstStyle/>
          <a:p>
            <a:pPr algn="l" indent="0" marL="0">
              <a:lnSpc>
                <a:spcPct val="110000"/>
              </a:lnSpc>
              <a:buNone/>
            </a:pPr>
            <a:r>
              <a:rPr lang="en-US" sz="900" dirty="0">
                <a:solidFill>
                  <a:srgbClr val="6B7480"/>
                </a:solidFill>
                <a:latin typeface="Segoe UI" pitchFamily="34" charset="0"/>
                <a:ea typeface="Segoe UI" pitchFamily="34" charset="-122"/>
                <a:cs typeface="Segoe UI" pitchFamily="34" charset="-120"/>
              </a:rPr>
              <a:t>BLS, 2024</a:t>
            </a:r>
            <a:endParaRPr lang="en-US" sz="900" dirty="0"/>
          </a:p>
        </p:txBody>
      </p:sp>
      <p:sp>
        <p:nvSpPr>
          <p:cNvPr id="37" name="Text 32"/>
          <p:cNvSpPr/>
          <p:nvPr/>
        </p:nvSpPr>
        <p:spPr>
          <a:xfrm>
            <a:off x="685800" y="5742432"/>
            <a:ext cx="10789920" cy="320040"/>
          </a:xfrm>
          <a:prstGeom prst="rect">
            <a:avLst/>
          </a:prstGeom>
          <a:noFill/>
          <a:ln/>
        </p:spPr>
        <p:txBody>
          <a:bodyPr wrap="square" lIns="0" tIns="0" rIns="0" bIns="0" rtlCol="0" anchor="ctr"/>
          <a:lstStyle/>
          <a:p>
            <a:pPr indent="0" marL="0">
              <a:buNone/>
            </a:pPr>
            <a:r>
              <a:rPr lang="en-US" sz="1000" b="1" spc="200" kern="0" dirty="0">
                <a:solidFill>
                  <a:srgbClr val="FFCD11"/>
                </a:solidFill>
                <a:latin typeface="Segoe UI" pitchFamily="34" charset="0"/>
                <a:ea typeface="Segoe UI" pitchFamily="34" charset="-122"/>
                <a:cs typeface="Segoe UI" pitchFamily="34" charset="-120"/>
              </a:rPr>
              <a:t>BARRIERS WE REMOVE   </a:t>
            </a:r>
            <a:pPr indent="0" marL="0">
              <a:buNone/>
            </a:pPr>
            <a:r>
              <a:rPr lang="en-US" sz="1400" dirty="0">
                <a:solidFill>
                  <a:srgbClr val="C9CED6"/>
                </a:solidFill>
                <a:latin typeface="Segoe UI" pitchFamily="34" charset="0"/>
                <a:ea typeface="Segoe UI" pitchFamily="34" charset="-122"/>
                <a:cs typeface="Segoe UI" pitchFamily="34" charset="-120"/>
              </a:rPr>
              <a:t>Cognitive  ·  Informational  ·  Linguistic</a:t>
            </a:r>
            <a:endParaRPr lang="en-US" sz="10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80"/>
                </a:solidFill>
                <a:latin typeface="Segoe UI"/>
                <a:ea typeface="Segoe UI"/>
                <a:cs typeface="Segoe U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85800" y="649224"/>
            <a:ext cx="320040" cy="27432"/>
          </a:xfrm>
          <a:prstGeom prst="rect">
            <a:avLst/>
          </a:prstGeom>
          <a:solidFill>
            <a:srgbClr val="FFCD11"/>
          </a:solidFill>
          <a:ln w="12700">
            <a:solidFill>
              <a:srgbClr val="FFCD11"/>
            </a:solidFill>
            <a:prstDash val="solid"/>
          </a:ln>
        </p:spPr>
      </p:sp>
      <p:sp>
        <p:nvSpPr>
          <p:cNvPr id="3" name="Text 1"/>
          <p:cNvSpPr/>
          <p:nvPr/>
        </p:nvSpPr>
        <p:spPr>
          <a:xfrm>
            <a:off x="1115568" y="512064"/>
            <a:ext cx="7315200" cy="292608"/>
          </a:xfrm>
          <a:prstGeom prst="rect">
            <a:avLst/>
          </a:prstGeom>
          <a:noFill/>
          <a:ln/>
        </p:spPr>
        <p:txBody>
          <a:bodyPr wrap="square" lIns="0" tIns="0" rIns="0" bIns="0" rtlCol="0" anchor="ctr"/>
          <a:lstStyle/>
          <a:p>
            <a:pPr indent="0" marL="0">
              <a:buNone/>
            </a:pPr>
            <a:r>
              <a:rPr lang="en-US" sz="1100" b="1" spc="300" kern="0" dirty="0">
                <a:solidFill>
                  <a:srgbClr val="FFCD11"/>
                </a:solidFill>
                <a:latin typeface="Segoe UI" pitchFamily="34" charset="0"/>
                <a:ea typeface="Segoe UI" pitchFamily="34" charset="-122"/>
                <a:cs typeface="Segoe UI" pitchFamily="34" charset="-120"/>
              </a:rPr>
              <a:t>03   </a:t>
            </a:r>
            <a:pPr indent="0" marL="0">
              <a:buNone/>
            </a:pPr>
            <a:r>
              <a:rPr lang="en-US" sz="1100" b="1" spc="300" kern="0" dirty="0">
                <a:solidFill>
                  <a:srgbClr val="9AA3B0"/>
                </a:solidFill>
                <a:latin typeface="Segoe UI" pitchFamily="34" charset="0"/>
                <a:ea typeface="Segoe UI" pitchFamily="34" charset="-122"/>
                <a:cs typeface="Segoe UI" pitchFamily="34" charset="-120"/>
              </a:rPr>
              <a:t>HOW WE GOT HERE</a:t>
            </a:r>
            <a:endParaRPr lang="en-US" sz="1100" dirty="0"/>
          </a:p>
        </p:txBody>
      </p:sp>
      <p:sp>
        <p:nvSpPr>
          <p:cNvPr id="4" name="Text 2"/>
          <p:cNvSpPr/>
          <p:nvPr/>
        </p:nvSpPr>
        <p:spPr>
          <a:xfrm>
            <a:off x="685800" y="896112"/>
            <a:ext cx="10789920" cy="868680"/>
          </a:xfrm>
          <a:prstGeom prst="rect">
            <a:avLst/>
          </a:prstGeom>
          <a:noFill/>
          <a:ln/>
        </p:spPr>
        <p:txBody>
          <a:bodyPr wrap="square" lIns="0" tIns="0" rIns="0" bIns="0" rtlCol="0" anchor="t"/>
          <a:lstStyle/>
          <a:p>
            <a:pPr indent="0" marL="0">
              <a:lnSpc>
                <a:spcPct val="95000"/>
              </a:lnSpc>
              <a:buNone/>
            </a:pPr>
            <a:r>
              <a:rPr lang="en-US" sz="3200" b="1" dirty="0">
                <a:solidFill>
                  <a:srgbClr val="F2F3F5"/>
                </a:solidFill>
                <a:latin typeface="Segoe UI" pitchFamily="34" charset="0"/>
                <a:ea typeface="Segoe UI" pitchFamily="34" charset="-122"/>
                <a:cs typeface="Segoe UI" pitchFamily="34" charset="-120"/>
              </a:rPr>
              <a:t>We talked to Caterpillar</a:t>
            </a:r>
            <a:pPr indent="0" marL="0">
              <a:lnSpc>
                <a:spcPct val="95000"/>
              </a:lnSpc>
              <a:buNone/>
            </a:pPr>
            <a:r>
              <a:rPr lang="en-US" sz="3200" b="1" dirty="0">
                <a:solidFill>
                  <a:srgbClr val="FFCD11"/>
                </a:solidFill>
                <a:latin typeface="Segoe UI" pitchFamily="34" charset="0"/>
                <a:ea typeface="Segoe UI" pitchFamily="34" charset="-122"/>
                <a:cs typeface="Segoe UI" pitchFamily="34" charset="-120"/>
              </a:rPr>
              <a:t> before writing a line of code.</a:t>
            </a:r>
            <a:endParaRPr lang="en-US" sz="3200" dirty="0"/>
          </a:p>
        </p:txBody>
      </p:sp>
      <p:sp>
        <p:nvSpPr>
          <p:cNvPr id="5" name="Shape 3"/>
          <p:cNvSpPr/>
          <p:nvPr/>
        </p:nvSpPr>
        <p:spPr>
          <a:xfrm>
            <a:off x="685800" y="1965960"/>
            <a:ext cx="5303520" cy="3383280"/>
          </a:xfrm>
          <a:prstGeom prst="roundRect">
            <a:avLst>
              <a:gd name="adj" fmla="val 3243"/>
            </a:avLst>
          </a:prstGeom>
          <a:solidFill>
            <a:srgbClr val="161A20"/>
          </a:solidFill>
          <a:ln w="12700">
            <a:solidFill>
              <a:srgbClr val="262C35"/>
            </a:solidFill>
            <a:prstDash val="solid"/>
          </a:ln>
        </p:spPr>
      </p:sp>
      <p:sp>
        <p:nvSpPr>
          <p:cNvPr id="6" name="Shape 4"/>
          <p:cNvSpPr/>
          <p:nvPr/>
        </p:nvSpPr>
        <p:spPr>
          <a:xfrm>
            <a:off x="960120" y="2240280"/>
            <a:ext cx="512064" cy="512064"/>
          </a:xfrm>
          <a:prstGeom prst="roundRect">
            <a:avLst>
              <a:gd name="adj" fmla="val 17857"/>
            </a:avLst>
          </a:prstGeom>
          <a:solidFill>
            <a:srgbClr val="FFCD11">
              <a:alpha val="14000"/>
            </a:srgbClr>
          </a:solidFill>
          <a:ln w="9525">
            <a:solidFill>
              <a:srgbClr val="FFCD11">
                <a:alpha val="45000"/>
              </a:srgbClr>
            </a:solidFill>
            <a:prstDash val="solid"/>
          </a:ln>
        </p:spPr>
      </p:sp>
      <p:pic>
        <p:nvPicPr>
          <p:cNvPr id="7" name="Image 0" descr="preencoded.png">    </p:cNvPr>
          <p:cNvPicPr>
            <a:picLocks noChangeAspect="1"/>
          </p:cNvPicPr>
          <p:nvPr/>
        </p:nvPicPr>
        <p:blipFill>
          <a:blip r:embed="rId1"/>
          <a:stretch>
            <a:fillRect/>
          </a:stretch>
        </p:blipFill>
        <p:spPr>
          <a:xfrm>
            <a:off x="1072774" y="2352934"/>
            <a:ext cx="286756" cy="286756"/>
          </a:xfrm>
          <a:prstGeom prst="rect">
            <a:avLst/>
          </a:prstGeom>
        </p:spPr>
      </p:pic>
      <p:sp>
        <p:nvSpPr>
          <p:cNvPr id="8" name="Text 5"/>
          <p:cNvSpPr/>
          <p:nvPr/>
        </p:nvSpPr>
        <p:spPr>
          <a:xfrm>
            <a:off x="1645920" y="2286000"/>
            <a:ext cx="3657600" cy="228600"/>
          </a:xfrm>
          <a:prstGeom prst="rect">
            <a:avLst/>
          </a:prstGeom>
          <a:noFill/>
          <a:ln/>
        </p:spPr>
        <p:txBody>
          <a:bodyPr wrap="square" lIns="0" tIns="0" rIns="0" bIns="0" rtlCol="0" anchor="t"/>
          <a:lstStyle/>
          <a:p>
            <a:pPr algn="l" indent="0" marL="0">
              <a:lnSpc>
                <a:spcPct val="110000"/>
              </a:lnSpc>
              <a:buNone/>
            </a:pPr>
            <a:r>
              <a:rPr lang="en-US" sz="1000" b="1" spc="200" kern="0" dirty="0">
                <a:solidFill>
                  <a:srgbClr val="FFCD11"/>
                </a:solidFill>
                <a:latin typeface="Segoe UI" pitchFamily="34" charset="0"/>
                <a:ea typeface="Segoe UI" pitchFamily="34" charset="-122"/>
                <a:cs typeface="Segoe UI" pitchFamily="34" charset="-120"/>
              </a:rPr>
              <a:t>INTERVIEW</a:t>
            </a:r>
            <a:endParaRPr lang="en-US" sz="1000" dirty="0"/>
          </a:p>
        </p:txBody>
      </p:sp>
      <p:sp>
        <p:nvSpPr>
          <p:cNvPr id="9" name="Text 6"/>
          <p:cNvSpPr/>
          <p:nvPr/>
        </p:nvSpPr>
        <p:spPr>
          <a:xfrm>
            <a:off x="1645920" y="2505456"/>
            <a:ext cx="4206240" cy="310896"/>
          </a:xfrm>
          <a:prstGeom prst="rect">
            <a:avLst/>
          </a:prstGeom>
          <a:noFill/>
          <a:ln/>
        </p:spPr>
        <p:txBody>
          <a:bodyPr wrap="square" lIns="0" tIns="0" rIns="0" bIns="0" rtlCol="0" anchor="t"/>
          <a:lstStyle/>
          <a:p>
            <a:pPr algn="l" indent="0" marL="0">
              <a:lnSpc>
                <a:spcPct val="110000"/>
              </a:lnSpc>
              <a:buNone/>
            </a:pPr>
            <a:r>
              <a:rPr lang="en-US" sz="1600" b="1" dirty="0">
                <a:solidFill>
                  <a:srgbClr val="F2F3F5"/>
                </a:solidFill>
                <a:latin typeface="Segoe UI" pitchFamily="34" charset="0"/>
                <a:ea typeface="Segoe UI" pitchFamily="34" charset="-122"/>
                <a:cs typeface="Segoe UI" pitchFamily="34" charset="-120"/>
              </a:rPr>
              <a:t>Marcus, Product Owner at Caterpillar</a:t>
            </a:r>
            <a:endParaRPr lang="en-US" sz="1600" dirty="0"/>
          </a:p>
        </p:txBody>
      </p:sp>
      <p:pic>
        <p:nvPicPr>
          <p:cNvPr id="10" name="Image 1" descr="preencoded.png">    </p:cNvPr>
          <p:cNvPicPr>
            <a:picLocks noChangeAspect="1"/>
          </p:cNvPicPr>
          <p:nvPr/>
        </p:nvPicPr>
        <p:blipFill>
          <a:blip r:embed="rId2"/>
          <a:stretch>
            <a:fillRect/>
          </a:stretch>
        </p:blipFill>
        <p:spPr>
          <a:xfrm>
            <a:off x="960120" y="3136392"/>
            <a:ext cx="201168" cy="201168"/>
          </a:xfrm>
          <a:prstGeom prst="rect">
            <a:avLst/>
          </a:prstGeom>
        </p:spPr>
      </p:pic>
      <p:sp>
        <p:nvSpPr>
          <p:cNvPr id="11" name="Text 7"/>
          <p:cNvSpPr/>
          <p:nvPr/>
        </p:nvSpPr>
        <p:spPr>
          <a:xfrm>
            <a:off x="1289304" y="3108960"/>
            <a:ext cx="4471416" cy="530352"/>
          </a:xfrm>
          <a:prstGeom prst="rect">
            <a:avLst/>
          </a:prstGeom>
          <a:noFill/>
          <a:ln/>
        </p:spPr>
        <p:txBody>
          <a:bodyPr wrap="square" lIns="0" tIns="0" rIns="0" bIns="0" rtlCol="0" anchor="t"/>
          <a:lstStyle/>
          <a:p>
            <a:pPr algn="l" indent="0" marL="0">
              <a:lnSpc>
                <a:spcPct val="110000"/>
              </a:lnSpc>
              <a:buNone/>
            </a:pPr>
            <a:r>
              <a:rPr lang="en-US" sz="1400" dirty="0">
                <a:solidFill>
                  <a:srgbClr val="C9CED6"/>
                </a:solidFill>
                <a:latin typeface="Segoe UI" pitchFamily="34" charset="0"/>
                <a:ea typeface="Segoe UI" pitchFamily="34" charset="-122"/>
                <a:cs typeface="Segoe UI" pitchFamily="34" charset="-120"/>
              </a:rPr>
              <a:t>Safety is the #1 priority, so any tool has to be foolproof</a:t>
            </a:r>
            <a:endParaRPr lang="en-US" sz="1400" dirty="0"/>
          </a:p>
        </p:txBody>
      </p:sp>
      <p:pic>
        <p:nvPicPr>
          <p:cNvPr id="12" name="Image 2" descr="preencoded.png">    </p:cNvPr>
          <p:cNvPicPr>
            <a:picLocks noChangeAspect="1"/>
          </p:cNvPicPr>
          <p:nvPr/>
        </p:nvPicPr>
        <p:blipFill>
          <a:blip r:embed="rId3"/>
          <a:stretch>
            <a:fillRect/>
          </a:stretch>
        </p:blipFill>
        <p:spPr>
          <a:xfrm>
            <a:off x="960120" y="3666744"/>
            <a:ext cx="201168" cy="201168"/>
          </a:xfrm>
          <a:prstGeom prst="rect">
            <a:avLst/>
          </a:prstGeom>
        </p:spPr>
      </p:pic>
      <p:sp>
        <p:nvSpPr>
          <p:cNvPr id="13" name="Text 8"/>
          <p:cNvSpPr/>
          <p:nvPr/>
        </p:nvSpPr>
        <p:spPr>
          <a:xfrm>
            <a:off x="1289304" y="3639312"/>
            <a:ext cx="4471416" cy="530352"/>
          </a:xfrm>
          <a:prstGeom prst="rect">
            <a:avLst/>
          </a:prstGeom>
          <a:noFill/>
          <a:ln/>
        </p:spPr>
        <p:txBody>
          <a:bodyPr wrap="square" lIns="0" tIns="0" rIns="0" bIns="0" rtlCol="0" anchor="t"/>
          <a:lstStyle/>
          <a:p>
            <a:pPr algn="l" indent="0" marL="0">
              <a:lnSpc>
                <a:spcPct val="110000"/>
              </a:lnSpc>
              <a:buNone/>
            </a:pPr>
            <a:r>
              <a:rPr lang="en-US" sz="1400" dirty="0">
                <a:solidFill>
                  <a:srgbClr val="C9CED6"/>
                </a:solidFill>
                <a:latin typeface="Segoe UI" pitchFamily="34" charset="0"/>
                <a:ea typeface="Segoe UI" pitchFamily="34" charset="-122"/>
                <a:cs typeface="Segoe UI" pitchFamily="34" charset="-120"/>
              </a:rPr>
              <a:t>Strikes and turnover put new people on machines fast</a:t>
            </a:r>
            <a:endParaRPr lang="en-US" sz="1400" dirty="0"/>
          </a:p>
        </p:txBody>
      </p:sp>
      <p:pic>
        <p:nvPicPr>
          <p:cNvPr id="14" name="Image 3" descr="preencoded.png">    </p:cNvPr>
          <p:cNvPicPr>
            <a:picLocks noChangeAspect="1"/>
          </p:cNvPicPr>
          <p:nvPr/>
        </p:nvPicPr>
        <p:blipFill>
          <a:blip r:embed="rId4"/>
          <a:stretch>
            <a:fillRect/>
          </a:stretch>
        </p:blipFill>
        <p:spPr>
          <a:xfrm>
            <a:off x="960120" y="4197096"/>
            <a:ext cx="201168" cy="201168"/>
          </a:xfrm>
          <a:prstGeom prst="rect">
            <a:avLst/>
          </a:prstGeom>
        </p:spPr>
      </p:pic>
      <p:sp>
        <p:nvSpPr>
          <p:cNvPr id="15" name="Text 9"/>
          <p:cNvSpPr/>
          <p:nvPr/>
        </p:nvSpPr>
        <p:spPr>
          <a:xfrm>
            <a:off x="1289304" y="4169664"/>
            <a:ext cx="4471416" cy="530352"/>
          </a:xfrm>
          <a:prstGeom prst="rect">
            <a:avLst/>
          </a:prstGeom>
          <a:noFill/>
          <a:ln/>
        </p:spPr>
        <p:txBody>
          <a:bodyPr wrap="square" lIns="0" tIns="0" rIns="0" bIns="0" rtlCol="0" anchor="t"/>
          <a:lstStyle/>
          <a:p>
            <a:pPr algn="l" indent="0" marL="0">
              <a:lnSpc>
                <a:spcPct val="110000"/>
              </a:lnSpc>
              <a:buNone/>
            </a:pPr>
            <a:r>
              <a:rPr lang="en-US" sz="1400" dirty="0">
                <a:solidFill>
                  <a:srgbClr val="C9CED6"/>
                </a:solidFill>
                <a:latin typeface="Segoe UI" pitchFamily="34" charset="0"/>
                <a:ea typeface="Segoe UI" pitchFamily="34" charset="-122"/>
                <a:cs typeface="Segoe UI" pitchFamily="34" charset="-120"/>
              </a:rPr>
              <a:t>Bringing new technicians up to speed takes a long time</a:t>
            </a:r>
            <a:endParaRPr lang="en-US" sz="1400" dirty="0"/>
          </a:p>
        </p:txBody>
      </p:sp>
      <p:pic>
        <p:nvPicPr>
          <p:cNvPr id="16" name="Image 4" descr="preencoded.png">    </p:cNvPr>
          <p:cNvPicPr>
            <a:picLocks noChangeAspect="1"/>
          </p:cNvPicPr>
          <p:nvPr/>
        </p:nvPicPr>
        <p:blipFill>
          <a:blip r:embed="rId5"/>
          <a:stretch>
            <a:fillRect/>
          </a:stretch>
        </p:blipFill>
        <p:spPr>
          <a:xfrm>
            <a:off x="960120" y="4727448"/>
            <a:ext cx="201168" cy="201168"/>
          </a:xfrm>
          <a:prstGeom prst="rect">
            <a:avLst/>
          </a:prstGeom>
        </p:spPr>
      </p:pic>
      <p:sp>
        <p:nvSpPr>
          <p:cNvPr id="17" name="Text 10"/>
          <p:cNvSpPr/>
          <p:nvPr/>
        </p:nvSpPr>
        <p:spPr>
          <a:xfrm>
            <a:off x="1289304" y="4700016"/>
            <a:ext cx="4471416" cy="530352"/>
          </a:xfrm>
          <a:prstGeom prst="rect">
            <a:avLst/>
          </a:prstGeom>
          <a:noFill/>
          <a:ln/>
        </p:spPr>
        <p:txBody>
          <a:bodyPr wrap="square" lIns="0" tIns="0" rIns="0" bIns="0" rtlCol="0" anchor="t"/>
          <a:lstStyle/>
          <a:p>
            <a:pPr algn="l" indent="0" marL="0">
              <a:lnSpc>
                <a:spcPct val="110000"/>
              </a:lnSpc>
              <a:buNone/>
            </a:pPr>
            <a:r>
              <a:rPr lang="en-US" sz="1400" dirty="0">
                <a:solidFill>
                  <a:srgbClr val="C9CED6"/>
                </a:solidFill>
                <a:latin typeface="Segoe UI" pitchFamily="34" charset="0"/>
                <a:ea typeface="Segoe UI" pitchFamily="34" charset="-122"/>
                <a:cs typeface="Segoe UI" pitchFamily="34" charset="-120"/>
              </a:rPr>
              <a:t>Cat has 1,000,000+ parts; nobody can memorize them</a:t>
            </a:r>
            <a:endParaRPr lang="en-US" sz="1400" dirty="0"/>
          </a:p>
        </p:txBody>
      </p:sp>
      <p:sp>
        <p:nvSpPr>
          <p:cNvPr id="18" name="Shape 11"/>
          <p:cNvSpPr/>
          <p:nvPr/>
        </p:nvSpPr>
        <p:spPr>
          <a:xfrm>
            <a:off x="6199632" y="1965960"/>
            <a:ext cx="5303520" cy="3383280"/>
          </a:xfrm>
          <a:prstGeom prst="roundRect">
            <a:avLst>
              <a:gd name="adj" fmla="val 3243"/>
            </a:avLst>
          </a:prstGeom>
          <a:solidFill>
            <a:srgbClr val="161A20"/>
          </a:solidFill>
          <a:ln w="12700">
            <a:solidFill>
              <a:srgbClr val="262C35"/>
            </a:solidFill>
            <a:prstDash val="solid"/>
          </a:ln>
        </p:spPr>
      </p:sp>
      <p:sp>
        <p:nvSpPr>
          <p:cNvPr id="19" name="Shape 12"/>
          <p:cNvSpPr/>
          <p:nvPr/>
        </p:nvSpPr>
        <p:spPr>
          <a:xfrm>
            <a:off x="6473952" y="2240280"/>
            <a:ext cx="512064" cy="512064"/>
          </a:xfrm>
          <a:prstGeom prst="roundRect">
            <a:avLst>
              <a:gd name="adj" fmla="val 17857"/>
            </a:avLst>
          </a:prstGeom>
          <a:solidFill>
            <a:srgbClr val="FFCD11">
              <a:alpha val="14000"/>
            </a:srgbClr>
          </a:solidFill>
          <a:ln w="9525">
            <a:solidFill>
              <a:srgbClr val="FFCD11">
                <a:alpha val="45000"/>
              </a:srgbClr>
            </a:solidFill>
            <a:prstDash val="solid"/>
          </a:ln>
        </p:spPr>
      </p:sp>
      <p:pic>
        <p:nvPicPr>
          <p:cNvPr id="20" name="Image 5" descr="preencoded.png">    </p:cNvPr>
          <p:cNvPicPr>
            <a:picLocks noChangeAspect="1"/>
          </p:cNvPicPr>
          <p:nvPr/>
        </p:nvPicPr>
        <p:blipFill>
          <a:blip r:embed="rId6"/>
          <a:stretch>
            <a:fillRect/>
          </a:stretch>
        </p:blipFill>
        <p:spPr>
          <a:xfrm>
            <a:off x="6586606" y="2352934"/>
            <a:ext cx="286756" cy="286756"/>
          </a:xfrm>
          <a:prstGeom prst="rect">
            <a:avLst/>
          </a:prstGeom>
        </p:spPr>
      </p:pic>
      <p:sp>
        <p:nvSpPr>
          <p:cNvPr id="21" name="Text 13"/>
          <p:cNvSpPr/>
          <p:nvPr/>
        </p:nvSpPr>
        <p:spPr>
          <a:xfrm>
            <a:off x="7159752" y="2286000"/>
            <a:ext cx="3657600" cy="228600"/>
          </a:xfrm>
          <a:prstGeom prst="rect">
            <a:avLst/>
          </a:prstGeom>
          <a:noFill/>
          <a:ln/>
        </p:spPr>
        <p:txBody>
          <a:bodyPr wrap="square" lIns="0" tIns="0" rIns="0" bIns="0" rtlCol="0" anchor="t"/>
          <a:lstStyle/>
          <a:p>
            <a:pPr algn="l" indent="0" marL="0">
              <a:lnSpc>
                <a:spcPct val="110000"/>
              </a:lnSpc>
              <a:buNone/>
            </a:pPr>
            <a:r>
              <a:rPr lang="en-US" sz="1000" b="1" spc="200" kern="0" dirty="0">
                <a:solidFill>
                  <a:srgbClr val="FFCD11"/>
                </a:solidFill>
                <a:latin typeface="Segoe UI" pitchFamily="34" charset="0"/>
                <a:ea typeface="Segoe UI" pitchFamily="34" charset="-122"/>
                <a:cs typeface="Segoe UI" pitchFamily="34" charset="-120"/>
              </a:rPr>
              <a:t>MARKET RESEARCH</a:t>
            </a:r>
            <a:endParaRPr lang="en-US" sz="1000" dirty="0"/>
          </a:p>
        </p:txBody>
      </p:sp>
      <p:sp>
        <p:nvSpPr>
          <p:cNvPr id="22" name="Text 14"/>
          <p:cNvSpPr/>
          <p:nvPr/>
        </p:nvSpPr>
        <p:spPr>
          <a:xfrm>
            <a:off x="7159752" y="2505456"/>
            <a:ext cx="4206240" cy="310896"/>
          </a:xfrm>
          <a:prstGeom prst="rect">
            <a:avLst/>
          </a:prstGeom>
          <a:noFill/>
          <a:ln/>
        </p:spPr>
        <p:txBody>
          <a:bodyPr wrap="square" lIns="0" tIns="0" rIns="0" bIns="0" rtlCol="0" anchor="t"/>
          <a:lstStyle/>
          <a:p>
            <a:pPr algn="l" indent="0" marL="0">
              <a:lnSpc>
                <a:spcPct val="110000"/>
              </a:lnSpc>
              <a:buNone/>
            </a:pPr>
            <a:r>
              <a:rPr lang="en-US" sz="1600" b="1" dirty="0">
                <a:solidFill>
                  <a:srgbClr val="F2F3F5"/>
                </a:solidFill>
                <a:latin typeface="Segoe UI" pitchFamily="34" charset="0"/>
                <a:ea typeface="Segoe UI" pitchFamily="34" charset="-122"/>
                <a:cs typeface="Segoe UI" pitchFamily="34" charset="-120"/>
              </a:rPr>
              <a:t>Shops, workforce and existing tools</a:t>
            </a:r>
            <a:endParaRPr lang="en-US" sz="1600" dirty="0"/>
          </a:p>
        </p:txBody>
      </p:sp>
      <p:pic>
        <p:nvPicPr>
          <p:cNvPr id="23" name="Image 6" descr="preencoded.png">    </p:cNvPr>
          <p:cNvPicPr>
            <a:picLocks noChangeAspect="1"/>
          </p:cNvPicPr>
          <p:nvPr/>
        </p:nvPicPr>
        <p:blipFill>
          <a:blip r:embed="rId7"/>
          <a:stretch>
            <a:fillRect/>
          </a:stretch>
        </p:blipFill>
        <p:spPr>
          <a:xfrm>
            <a:off x="6473952" y="3136392"/>
            <a:ext cx="201168" cy="201168"/>
          </a:xfrm>
          <a:prstGeom prst="rect">
            <a:avLst/>
          </a:prstGeom>
        </p:spPr>
      </p:pic>
      <p:sp>
        <p:nvSpPr>
          <p:cNvPr id="24" name="Text 15"/>
          <p:cNvSpPr/>
          <p:nvPr/>
        </p:nvSpPr>
        <p:spPr>
          <a:xfrm>
            <a:off x="6803136" y="3108960"/>
            <a:ext cx="4471416" cy="530352"/>
          </a:xfrm>
          <a:prstGeom prst="rect">
            <a:avLst/>
          </a:prstGeom>
          <a:noFill/>
          <a:ln/>
        </p:spPr>
        <p:txBody>
          <a:bodyPr wrap="square" lIns="0" tIns="0" rIns="0" bIns="0" rtlCol="0" anchor="t"/>
          <a:lstStyle/>
          <a:p>
            <a:pPr algn="l" indent="0" marL="0">
              <a:lnSpc>
                <a:spcPct val="110000"/>
              </a:lnSpc>
              <a:buNone/>
            </a:pPr>
            <a:r>
              <a:rPr lang="en-US" sz="1400" dirty="0">
                <a:solidFill>
                  <a:srgbClr val="C9CED6"/>
                </a:solidFill>
                <a:latin typeface="Segoe UI" pitchFamily="34" charset="0"/>
                <a:ea typeface="Segoe UI" pitchFamily="34" charset="-122"/>
                <a:cs typeface="Segoe UI" pitchFamily="34" charset="-120"/>
              </a:rPr>
              <a:t>Heavy-equipment shops struggle to hire and train technicians</a:t>
            </a:r>
            <a:endParaRPr lang="en-US" sz="1400" dirty="0"/>
          </a:p>
        </p:txBody>
      </p:sp>
      <p:pic>
        <p:nvPicPr>
          <p:cNvPr id="25" name="Image 7" descr="preencoded.png">    </p:cNvPr>
          <p:cNvPicPr>
            <a:picLocks noChangeAspect="1"/>
          </p:cNvPicPr>
          <p:nvPr/>
        </p:nvPicPr>
        <p:blipFill>
          <a:blip r:embed="rId8"/>
          <a:stretch>
            <a:fillRect/>
          </a:stretch>
        </p:blipFill>
        <p:spPr>
          <a:xfrm>
            <a:off x="6473952" y="3666744"/>
            <a:ext cx="201168" cy="201168"/>
          </a:xfrm>
          <a:prstGeom prst="rect">
            <a:avLst/>
          </a:prstGeom>
        </p:spPr>
      </p:pic>
      <p:sp>
        <p:nvSpPr>
          <p:cNvPr id="26" name="Text 16"/>
          <p:cNvSpPr/>
          <p:nvPr/>
        </p:nvSpPr>
        <p:spPr>
          <a:xfrm>
            <a:off x="6803136" y="3639312"/>
            <a:ext cx="4471416" cy="530352"/>
          </a:xfrm>
          <a:prstGeom prst="rect">
            <a:avLst/>
          </a:prstGeom>
          <a:noFill/>
          <a:ln/>
        </p:spPr>
        <p:txBody>
          <a:bodyPr wrap="square" lIns="0" tIns="0" rIns="0" bIns="0" rtlCol="0" anchor="t"/>
          <a:lstStyle/>
          <a:p>
            <a:pPr algn="l" indent="0" marL="0">
              <a:lnSpc>
                <a:spcPct val="110000"/>
              </a:lnSpc>
              <a:buNone/>
            </a:pPr>
            <a:r>
              <a:rPr lang="en-US" sz="1400" dirty="0">
                <a:solidFill>
                  <a:srgbClr val="C9CED6"/>
                </a:solidFill>
                <a:latin typeface="Segoe UI" pitchFamily="34" charset="0"/>
                <a:ea typeface="Segoe UI" pitchFamily="34" charset="-122"/>
                <a:cs typeface="Segoe UI" pitchFamily="34" charset="-120"/>
              </a:rPr>
              <a:t>Expert knowledge retires with senior technicians</a:t>
            </a:r>
            <a:endParaRPr lang="en-US" sz="1400" dirty="0"/>
          </a:p>
        </p:txBody>
      </p:sp>
      <p:pic>
        <p:nvPicPr>
          <p:cNvPr id="27" name="Image 8" descr="preencoded.png">    </p:cNvPr>
          <p:cNvPicPr>
            <a:picLocks noChangeAspect="1"/>
          </p:cNvPicPr>
          <p:nvPr/>
        </p:nvPicPr>
        <p:blipFill>
          <a:blip r:embed="rId9"/>
          <a:stretch>
            <a:fillRect/>
          </a:stretch>
        </p:blipFill>
        <p:spPr>
          <a:xfrm>
            <a:off x="6473952" y="4197096"/>
            <a:ext cx="201168" cy="201168"/>
          </a:xfrm>
          <a:prstGeom prst="rect">
            <a:avLst/>
          </a:prstGeom>
        </p:spPr>
      </p:pic>
      <p:sp>
        <p:nvSpPr>
          <p:cNvPr id="28" name="Text 17"/>
          <p:cNvSpPr/>
          <p:nvPr/>
        </p:nvSpPr>
        <p:spPr>
          <a:xfrm>
            <a:off x="6803136" y="4169664"/>
            <a:ext cx="4471416" cy="530352"/>
          </a:xfrm>
          <a:prstGeom prst="rect">
            <a:avLst/>
          </a:prstGeom>
          <a:noFill/>
          <a:ln/>
        </p:spPr>
        <p:txBody>
          <a:bodyPr wrap="square" lIns="0" tIns="0" rIns="0" bIns="0" rtlCol="0" anchor="t"/>
          <a:lstStyle/>
          <a:p>
            <a:pPr algn="l" indent="0" marL="0">
              <a:lnSpc>
                <a:spcPct val="110000"/>
              </a:lnSpc>
              <a:buNone/>
            </a:pPr>
            <a:r>
              <a:rPr lang="en-US" sz="1400" dirty="0">
                <a:solidFill>
                  <a:srgbClr val="C9CED6"/>
                </a:solidFill>
                <a:latin typeface="Segoe UI" pitchFamily="34" charset="0"/>
                <a:ea typeface="Segoe UI" pitchFamily="34" charset="-122"/>
                <a:cs typeface="Segoe UI" pitchFamily="34" charset="-120"/>
              </a:rPr>
              <a:t>Today's tools search manuals; none remember a single machine's history</a:t>
            </a:r>
            <a:endParaRPr lang="en-US" sz="1400" dirty="0"/>
          </a:p>
        </p:txBody>
      </p:sp>
      <p:pic>
        <p:nvPicPr>
          <p:cNvPr id="29" name="Image 9" descr="preencoded.png">    </p:cNvPr>
          <p:cNvPicPr>
            <a:picLocks noChangeAspect="1"/>
          </p:cNvPicPr>
          <p:nvPr/>
        </p:nvPicPr>
        <p:blipFill>
          <a:blip r:embed="rId10"/>
          <a:stretch>
            <a:fillRect/>
          </a:stretch>
        </p:blipFill>
        <p:spPr>
          <a:xfrm>
            <a:off x="6473952" y="4727448"/>
            <a:ext cx="201168" cy="201168"/>
          </a:xfrm>
          <a:prstGeom prst="rect">
            <a:avLst/>
          </a:prstGeom>
        </p:spPr>
      </p:pic>
      <p:sp>
        <p:nvSpPr>
          <p:cNvPr id="30" name="Text 18"/>
          <p:cNvSpPr/>
          <p:nvPr/>
        </p:nvSpPr>
        <p:spPr>
          <a:xfrm>
            <a:off x="6803136" y="4700016"/>
            <a:ext cx="4471416" cy="530352"/>
          </a:xfrm>
          <a:prstGeom prst="rect">
            <a:avLst/>
          </a:prstGeom>
          <a:noFill/>
          <a:ln/>
        </p:spPr>
        <p:txBody>
          <a:bodyPr wrap="square" lIns="0" tIns="0" rIns="0" bIns="0" rtlCol="0" anchor="t"/>
          <a:lstStyle/>
          <a:p>
            <a:pPr algn="l" indent="0" marL="0">
              <a:lnSpc>
                <a:spcPct val="110000"/>
              </a:lnSpc>
              <a:buNone/>
            </a:pPr>
            <a:r>
              <a:rPr lang="en-US" sz="1400" dirty="0">
                <a:solidFill>
                  <a:srgbClr val="C9CED6"/>
                </a:solidFill>
                <a:latin typeface="Segoe UI" pitchFamily="34" charset="0"/>
                <a:ea typeface="Segoe UI" pitchFamily="34" charset="-122"/>
                <a:cs typeface="Segoe UI" pitchFamily="34" charset="-120"/>
              </a:rPr>
              <a:t>Field work is hands-busy: phones and tablets get in the way</a:t>
            </a:r>
            <a:endParaRPr lang="en-US" sz="1400" dirty="0"/>
          </a:p>
        </p:txBody>
      </p:sp>
      <p:sp>
        <p:nvSpPr>
          <p:cNvPr id="31" name="Shape 19"/>
          <p:cNvSpPr/>
          <p:nvPr/>
        </p:nvSpPr>
        <p:spPr>
          <a:xfrm>
            <a:off x="685800" y="5532120"/>
            <a:ext cx="10817352" cy="594360"/>
          </a:xfrm>
          <a:prstGeom prst="roundRect">
            <a:avLst>
              <a:gd name="adj" fmla="val 18462"/>
            </a:avLst>
          </a:prstGeom>
          <a:solidFill>
            <a:srgbClr val="FFCD11">
              <a:alpha val="12000"/>
            </a:srgbClr>
          </a:solidFill>
          <a:ln w="12700">
            <a:solidFill>
              <a:srgbClr val="FFCD11"/>
            </a:solidFill>
            <a:prstDash val="solid"/>
          </a:ln>
        </p:spPr>
      </p:sp>
      <p:pic>
        <p:nvPicPr>
          <p:cNvPr id="32" name="Image 10" descr="preencoded.png">    </p:cNvPr>
          <p:cNvPicPr>
            <a:picLocks noChangeAspect="1"/>
          </p:cNvPicPr>
          <p:nvPr/>
        </p:nvPicPr>
        <p:blipFill>
          <a:blip r:embed="rId11"/>
          <a:stretch>
            <a:fillRect/>
          </a:stretch>
        </p:blipFill>
        <p:spPr>
          <a:xfrm>
            <a:off x="914400" y="5687568"/>
            <a:ext cx="274320" cy="274320"/>
          </a:xfrm>
          <a:prstGeom prst="rect">
            <a:avLst/>
          </a:prstGeom>
        </p:spPr>
      </p:pic>
      <p:sp>
        <p:nvSpPr>
          <p:cNvPr id="33" name="Text 20"/>
          <p:cNvSpPr/>
          <p:nvPr/>
        </p:nvSpPr>
        <p:spPr>
          <a:xfrm>
            <a:off x="1325880" y="5532120"/>
            <a:ext cx="10058400" cy="594360"/>
          </a:xfrm>
          <a:prstGeom prst="rect">
            <a:avLst/>
          </a:prstGeom>
          <a:noFill/>
          <a:ln/>
        </p:spPr>
        <p:txBody>
          <a:bodyPr wrap="square" lIns="0" tIns="0" rIns="0" bIns="0" rtlCol="0" anchor="ctr"/>
          <a:lstStyle/>
          <a:p>
            <a:pPr indent="0" marL="0">
              <a:buNone/>
            </a:pPr>
            <a:r>
              <a:rPr lang="en-US" sz="1500" b="1" dirty="0">
                <a:solidFill>
                  <a:srgbClr val="FFCD11"/>
                </a:solidFill>
                <a:latin typeface="Segoe UI" pitchFamily="34" charset="0"/>
                <a:ea typeface="Segoe UI" pitchFamily="34" charset="-122"/>
                <a:cs typeface="Segoe UI" pitchFamily="34" charset="-120"/>
              </a:rPr>
              <a:t>Key insight:  </a:t>
            </a:r>
            <a:pPr indent="0" marL="0">
              <a:buNone/>
            </a:pPr>
            <a:r>
              <a:rPr lang="en-US" sz="1500" dirty="0">
                <a:solidFill>
                  <a:srgbClr val="F2F3F5"/>
                </a:solidFill>
                <a:latin typeface="Segoe UI" pitchFamily="34" charset="0"/>
                <a:ea typeface="Segoe UI" pitchFamily="34" charset="-122"/>
                <a:cs typeface="Segoe UI" pitchFamily="34" charset="-120"/>
              </a:rPr>
              <a:t>the answer usually already exists. Someone fixed this before. It just isn't where the technician is.</a:t>
            </a:r>
            <a:endParaRPr lang="en-US" sz="15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80"/>
                </a:solidFill>
                <a:latin typeface="Segoe UI"/>
                <a:ea typeface="Segoe UI"/>
                <a:cs typeface="Segoe U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85800" y="649224"/>
            <a:ext cx="320040" cy="27432"/>
          </a:xfrm>
          <a:prstGeom prst="rect">
            <a:avLst/>
          </a:prstGeom>
          <a:solidFill>
            <a:srgbClr val="FFCD11"/>
          </a:solidFill>
          <a:ln w="12700">
            <a:solidFill>
              <a:srgbClr val="FFCD11"/>
            </a:solidFill>
            <a:prstDash val="solid"/>
          </a:ln>
        </p:spPr>
      </p:sp>
      <p:sp>
        <p:nvSpPr>
          <p:cNvPr id="3" name="Text 1"/>
          <p:cNvSpPr/>
          <p:nvPr/>
        </p:nvSpPr>
        <p:spPr>
          <a:xfrm>
            <a:off x="1115568" y="512064"/>
            <a:ext cx="7315200" cy="292608"/>
          </a:xfrm>
          <a:prstGeom prst="rect">
            <a:avLst/>
          </a:prstGeom>
          <a:noFill/>
          <a:ln/>
        </p:spPr>
        <p:txBody>
          <a:bodyPr wrap="square" lIns="0" tIns="0" rIns="0" bIns="0" rtlCol="0" anchor="ctr"/>
          <a:lstStyle/>
          <a:p>
            <a:pPr indent="0" marL="0">
              <a:buNone/>
            </a:pPr>
            <a:r>
              <a:rPr lang="en-US" sz="1100" b="1" spc="300" kern="0" dirty="0">
                <a:solidFill>
                  <a:srgbClr val="FFCD11"/>
                </a:solidFill>
                <a:latin typeface="Segoe UI" pitchFamily="34" charset="0"/>
                <a:ea typeface="Segoe UI" pitchFamily="34" charset="-122"/>
                <a:cs typeface="Segoe UI" pitchFamily="34" charset="-120"/>
              </a:rPr>
              <a:t>04   </a:t>
            </a:r>
            <a:pPr indent="0" marL="0">
              <a:buNone/>
            </a:pPr>
            <a:r>
              <a:rPr lang="en-US" sz="1100" b="1" spc="300" kern="0" dirty="0">
                <a:solidFill>
                  <a:srgbClr val="9AA3B0"/>
                </a:solidFill>
                <a:latin typeface="Segoe UI" pitchFamily="34" charset="0"/>
                <a:ea typeface="Segoe UI" pitchFamily="34" charset="-122"/>
                <a:cs typeface="Segoe UI" pitchFamily="34" charset="-120"/>
              </a:rPr>
              <a:t>OUR SOLUTION</a:t>
            </a:r>
            <a:endParaRPr lang="en-US" sz="1100" dirty="0"/>
          </a:p>
        </p:txBody>
      </p:sp>
      <p:sp>
        <p:nvSpPr>
          <p:cNvPr id="4" name="Text 2"/>
          <p:cNvSpPr/>
          <p:nvPr/>
        </p:nvSpPr>
        <p:spPr>
          <a:xfrm>
            <a:off x="685800" y="896112"/>
            <a:ext cx="10789920" cy="868680"/>
          </a:xfrm>
          <a:prstGeom prst="rect">
            <a:avLst/>
          </a:prstGeom>
          <a:noFill/>
          <a:ln/>
        </p:spPr>
        <p:txBody>
          <a:bodyPr wrap="square" lIns="0" tIns="0" rIns="0" bIns="0" rtlCol="0" anchor="t"/>
          <a:lstStyle/>
          <a:p>
            <a:pPr indent="0" marL="0">
              <a:lnSpc>
                <a:spcPct val="95000"/>
              </a:lnSpc>
              <a:buNone/>
            </a:pPr>
            <a:r>
              <a:rPr lang="en-US" sz="3200" b="1" dirty="0">
                <a:solidFill>
                  <a:srgbClr val="F2F3F5"/>
                </a:solidFill>
                <a:latin typeface="Segoe UI" pitchFamily="34" charset="0"/>
                <a:ea typeface="Segoe UI" pitchFamily="34" charset="-122"/>
                <a:cs typeface="Segoe UI" pitchFamily="34" charset="-120"/>
              </a:rPr>
              <a:t>DéjàView puts the machine's memory</a:t>
            </a:r>
            <a:pPr indent="0" marL="0">
              <a:lnSpc>
                <a:spcPct val="95000"/>
              </a:lnSpc>
              <a:buNone/>
            </a:pPr>
            <a:r>
              <a:rPr lang="en-US" sz="3200" b="1" dirty="0">
                <a:solidFill>
                  <a:srgbClr val="FFCD11"/>
                </a:solidFill>
                <a:latin typeface="Segoe UI" pitchFamily="34" charset="0"/>
                <a:ea typeface="Segoe UI" pitchFamily="34" charset="-122"/>
                <a:cs typeface="Segoe UI" pitchFamily="34" charset="-120"/>
              </a:rPr>
              <a:t> right in front of the technician.</a:t>
            </a:r>
            <a:endParaRPr lang="en-US" sz="3200" dirty="0"/>
          </a:p>
        </p:txBody>
      </p:sp>
      <p:sp>
        <p:nvSpPr>
          <p:cNvPr id="5" name="Shape 3"/>
          <p:cNvSpPr/>
          <p:nvPr/>
        </p:nvSpPr>
        <p:spPr>
          <a:xfrm>
            <a:off x="685800" y="1965960"/>
            <a:ext cx="6309360" cy="3589020"/>
          </a:xfrm>
          <a:prstGeom prst="roundRect">
            <a:avLst>
              <a:gd name="adj" fmla="val 2038"/>
            </a:avLst>
          </a:prstGeom>
          <a:solidFill>
            <a:srgbClr val="161A20"/>
          </a:solidFill>
          <a:ln w="15875">
            <a:solidFill>
              <a:srgbClr val="FFCD11"/>
            </a:solidFill>
            <a:prstDash val="solid"/>
          </a:ln>
        </p:spPr>
      </p:sp>
      <p:pic>
        <p:nvPicPr>
          <p:cNvPr id="6" name="Image 0" descr="C:\Users\aarav\Projects\cat-track\scripts\deck-assets\glasses-ask.png">    </p:cNvPr>
          <p:cNvPicPr>
            <a:picLocks noChangeAspect="1"/>
          </p:cNvPicPr>
          <p:nvPr/>
        </p:nvPicPr>
        <p:blipFill>
          <a:blip r:embed="rId1"/>
          <a:stretch>
            <a:fillRect/>
          </a:stretch>
        </p:blipFill>
        <p:spPr>
          <a:xfrm>
            <a:off x="731520" y="2011680"/>
            <a:ext cx="6217920" cy="3497580"/>
          </a:xfrm>
          <a:prstGeom prst="rect">
            <a:avLst/>
          </a:prstGeom>
        </p:spPr>
      </p:pic>
      <p:sp>
        <p:nvSpPr>
          <p:cNvPr id="7" name="Text 4"/>
          <p:cNvSpPr/>
          <p:nvPr/>
        </p:nvSpPr>
        <p:spPr>
          <a:xfrm>
            <a:off x="731520" y="5618988"/>
            <a:ext cx="6217920" cy="274320"/>
          </a:xfrm>
          <a:prstGeom prst="rect">
            <a:avLst/>
          </a:prstGeom>
          <a:noFill/>
          <a:ln/>
        </p:spPr>
        <p:txBody>
          <a:bodyPr wrap="square" lIns="0" tIns="0" rIns="0" bIns="0" rtlCol="0" anchor="t"/>
          <a:lstStyle/>
          <a:p>
            <a:pPr algn="l" indent="0" marL="0">
              <a:lnSpc>
                <a:spcPct val="110000"/>
              </a:lnSpc>
              <a:buNone/>
            </a:pPr>
            <a:r>
              <a:rPr lang="en-US" sz="1100" i="1" dirty="0">
                <a:solidFill>
                  <a:srgbClr val="6B7480"/>
                </a:solidFill>
                <a:latin typeface="Segoe UI" pitchFamily="34" charset="0"/>
                <a:ea typeface="Segoe UI" pitchFamily="34" charset="-122"/>
                <a:cs typeface="Segoe UI" pitchFamily="34" charset="-120"/>
              </a:rPr>
              <a:t>Working prototype: spoken answer, the machine's history, and safe next steps</a:t>
            </a:r>
            <a:endParaRPr lang="en-US" sz="1100" dirty="0"/>
          </a:p>
        </p:txBody>
      </p:sp>
      <p:sp>
        <p:nvSpPr>
          <p:cNvPr id="8" name="Shape 5"/>
          <p:cNvSpPr/>
          <p:nvPr/>
        </p:nvSpPr>
        <p:spPr>
          <a:xfrm>
            <a:off x="7315200" y="2011680"/>
            <a:ext cx="566928" cy="566928"/>
          </a:xfrm>
          <a:prstGeom prst="roundRect">
            <a:avLst>
              <a:gd name="adj" fmla="val 16129"/>
            </a:avLst>
          </a:prstGeom>
          <a:solidFill>
            <a:srgbClr val="FFCD11">
              <a:alpha val="14000"/>
            </a:srgbClr>
          </a:solidFill>
          <a:ln w="9525">
            <a:solidFill>
              <a:srgbClr val="FFCD11">
                <a:alpha val="45000"/>
              </a:srgbClr>
            </a:solidFill>
            <a:prstDash val="solid"/>
          </a:ln>
        </p:spPr>
      </p:sp>
      <p:pic>
        <p:nvPicPr>
          <p:cNvPr id="9" name="Image 1" descr="preencoded.png">    </p:cNvPr>
          <p:cNvPicPr>
            <a:picLocks noChangeAspect="1"/>
          </p:cNvPicPr>
          <p:nvPr/>
        </p:nvPicPr>
        <p:blipFill>
          <a:blip r:embed="rId2"/>
          <a:stretch>
            <a:fillRect/>
          </a:stretch>
        </p:blipFill>
        <p:spPr>
          <a:xfrm>
            <a:off x="7439924" y="2136404"/>
            <a:ext cx="317480" cy="317480"/>
          </a:xfrm>
          <a:prstGeom prst="rect">
            <a:avLst/>
          </a:prstGeom>
        </p:spPr>
      </p:pic>
      <p:sp>
        <p:nvSpPr>
          <p:cNvPr id="10" name="Text 6"/>
          <p:cNvSpPr/>
          <p:nvPr/>
        </p:nvSpPr>
        <p:spPr>
          <a:xfrm>
            <a:off x="8092440" y="1993392"/>
            <a:ext cx="3474720" cy="365760"/>
          </a:xfrm>
          <a:prstGeom prst="rect">
            <a:avLst/>
          </a:prstGeom>
          <a:noFill/>
          <a:ln/>
        </p:spPr>
        <p:txBody>
          <a:bodyPr wrap="square" lIns="0" tIns="0" rIns="0" bIns="0" rtlCol="0" anchor="t"/>
          <a:lstStyle/>
          <a:p>
            <a:pPr algn="l" indent="0" marL="0">
              <a:lnSpc>
                <a:spcPct val="110000"/>
              </a:lnSpc>
              <a:buNone/>
            </a:pPr>
            <a:r>
              <a:rPr lang="en-US" sz="2000" b="1" dirty="0">
                <a:solidFill>
                  <a:srgbClr val="F2F3F5"/>
                </a:solidFill>
                <a:latin typeface="Segoe UI" pitchFamily="34" charset="0"/>
                <a:ea typeface="Segoe UI" pitchFamily="34" charset="-122"/>
                <a:cs typeface="Segoe UI" pitchFamily="34" charset="-120"/>
              </a:rPr>
              <a:t>1. Look</a:t>
            </a:r>
            <a:endParaRPr lang="en-US" sz="2000" dirty="0"/>
          </a:p>
        </p:txBody>
      </p:sp>
      <p:sp>
        <p:nvSpPr>
          <p:cNvPr id="11" name="Text 7"/>
          <p:cNvSpPr/>
          <p:nvPr/>
        </p:nvSpPr>
        <p:spPr>
          <a:xfrm>
            <a:off x="8092440" y="2377440"/>
            <a:ext cx="3429000" cy="731520"/>
          </a:xfrm>
          <a:prstGeom prst="rect">
            <a:avLst/>
          </a:prstGeom>
          <a:noFill/>
          <a:ln/>
        </p:spPr>
        <p:txBody>
          <a:bodyPr wrap="square" lIns="0" tIns="0" rIns="0" bIns="0" rtlCol="0" anchor="t"/>
          <a:lstStyle/>
          <a:p>
            <a:pPr algn="l" indent="0" marL="0">
              <a:lnSpc>
                <a:spcPct val="110000"/>
              </a:lnSpc>
              <a:buNone/>
            </a:pPr>
            <a:r>
              <a:rPr lang="en-US" sz="1300" dirty="0">
                <a:solidFill>
                  <a:srgbClr val="9AA3B0"/>
                </a:solidFill>
                <a:latin typeface="Segoe UI" pitchFamily="34" charset="0"/>
                <a:ea typeface="Segoe UI" pitchFamily="34" charset="-122"/>
                <a:cs typeface="Segoe UI" pitchFamily="34" charset="-120"/>
              </a:rPr>
              <a:t>The glasses recognize the machine from its tag and camera.</a:t>
            </a:r>
            <a:endParaRPr lang="en-US" sz="1300" dirty="0"/>
          </a:p>
        </p:txBody>
      </p:sp>
      <p:sp>
        <p:nvSpPr>
          <p:cNvPr id="12" name="Shape 8"/>
          <p:cNvSpPr/>
          <p:nvPr/>
        </p:nvSpPr>
        <p:spPr>
          <a:xfrm>
            <a:off x="7315200" y="3218688"/>
            <a:ext cx="566928" cy="566928"/>
          </a:xfrm>
          <a:prstGeom prst="roundRect">
            <a:avLst>
              <a:gd name="adj" fmla="val 16129"/>
            </a:avLst>
          </a:prstGeom>
          <a:solidFill>
            <a:srgbClr val="FFCD11">
              <a:alpha val="14000"/>
            </a:srgbClr>
          </a:solidFill>
          <a:ln w="9525">
            <a:solidFill>
              <a:srgbClr val="FFCD11">
                <a:alpha val="45000"/>
              </a:srgbClr>
            </a:solidFill>
            <a:prstDash val="solid"/>
          </a:ln>
        </p:spPr>
      </p:sp>
      <p:pic>
        <p:nvPicPr>
          <p:cNvPr id="13" name="Image 2" descr="preencoded.png">    </p:cNvPr>
          <p:cNvPicPr>
            <a:picLocks noChangeAspect="1"/>
          </p:cNvPicPr>
          <p:nvPr/>
        </p:nvPicPr>
        <p:blipFill>
          <a:blip r:embed="rId3"/>
          <a:stretch>
            <a:fillRect/>
          </a:stretch>
        </p:blipFill>
        <p:spPr>
          <a:xfrm>
            <a:off x="7439924" y="3343412"/>
            <a:ext cx="317480" cy="317480"/>
          </a:xfrm>
          <a:prstGeom prst="rect">
            <a:avLst/>
          </a:prstGeom>
        </p:spPr>
      </p:pic>
      <p:sp>
        <p:nvSpPr>
          <p:cNvPr id="14" name="Text 9"/>
          <p:cNvSpPr/>
          <p:nvPr/>
        </p:nvSpPr>
        <p:spPr>
          <a:xfrm>
            <a:off x="8092440" y="3200400"/>
            <a:ext cx="3474720" cy="365760"/>
          </a:xfrm>
          <a:prstGeom prst="rect">
            <a:avLst/>
          </a:prstGeom>
          <a:noFill/>
          <a:ln/>
        </p:spPr>
        <p:txBody>
          <a:bodyPr wrap="square" lIns="0" tIns="0" rIns="0" bIns="0" rtlCol="0" anchor="t"/>
          <a:lstStyle/>
          <a:p>
            <a:pPr algn="l" indent="0" marL="0">
              <a:lnSpc>
                <a:spcPct val="110000"/>
              </a:lnSpc>
              <a:buNone/>
            </a:pPr>
            <a:r>
              <a:rPr lang="en-US" sz="2000" b="1" dirty="0">
                <a:solidFill>
                  <a:srgbClr val="F2F3F5"/>
                </a:solidFill>
                <a:latin typeface="Segoe UI" pitchFamily="34" charset="0"/>
                <a:ea typeface="Segoe UI" pitchFamily="34" charset="-122"/>
                <a:cs typeface="Segoe UI" pitchFamily="34" charset="-120"/>
              </a:rPr>
              <a:t>2. Ask</a:t>
            </a:r>
            <a:endParaRPr lang="en-US" sz="2000" dirty="0"/>
          </a:p>
        </p:txBody>
      </p:sp>
      <p:sp>
        <p:nvSpPr>
          <p:cNvPr id="15" name="Text 10"/>
          <p:cNvSpPr/>
          <p:nvPr/>
        </p:nvSpPr>
        <p:spPr>
          <a:xfrm>
            <a:off x="8092440" y="3584448"/>
            <a:ext cx="3429000" cy="731520"/>
          </a:xfrm>
          <a:prstGeom prst="rect">
            <a:avLst/>
          </a:prstGeom>
          <a:noFill/>
          <a:ln/>
        </p:spPr>
        <p:txBody>
          <a:bodyPr wrap="square" lIns="0" tIns="0" rIns="0" bIns="0" rtlCol="0" anchor="t"/>
          <a:lstStyle/>
          <a:p>
            <a:pPr algn="l" indent="0" marL="0">
              <a:lnSpc>
                <a:spcPct val="110000"/>
              </a:lnSpc>
              <a:buNone/>
            </a:pPr>
            <a:r>
              <a:rPr lang="en-US" sz="1300" dirty="0">
                <a:solidFill>
                  <a:srgbClr val="9AA3B0"/>
                </a:solidFill>
                <a:latin typeface="Segoe UI" pitchFamily="34" charset="0"/>
                <a:ea typeface="Segoe UI" pitchFamily="34" charset="-122"/>
                <a:cs typeface="Segoe UI" pitchFamily="34" charset="-120"/>
              </a:rPr>
              <a:t>Ask out loud, like “have we seen this before?”, and hear the answer in your language.</a:t>
            </a:r>
            <a:endParaRPr lang="en-US" sz="1300" dirty="0"/>
          </a:p>
        </p:txBody>
      </p:sp>
      <p:sp>
        <p:nvSpPr>
          <p:cNvPr id="16" name="Shape 11"/>
          <p:cNvSpPr/>
          <p:nvPr/>
        </p:nvSpPr>
        <p:spPr>
          <a:xfrm>
            <a:off x="7315200" y="4425696"/>
            <a:ext cx="566928" cy="566928"/>
          </a:xfrm>
          <a:prstGeom prst="roundRect">
            <a:avLst>
              <a:gd name="adj" fmla="val 16129"/>
            </a:avLst>
          </a:prstGeom>
          <a:solidFill>
            <a:srgbClr val="FFCD11">
              <a:alpha val="14000"/>
            </a:srgbClr>
          </a:solidFill>
          <a:ln w="9525">
            <a:solidFill>
              <a:srgbClr val="FFCD11">
                <a:alpha val="45000"/>
              </a:srgbClr>
            </a:solidFill>
            <a:prstDash val="solid"/>
          </a:ln>
        </p:spPr>
      </p:sp>
      <p:pic>
        <p:nvPicPr>
          <p:cNvPr id="17" name="Image 3" descr="preencoded.png">    </p:cNvPr>
          <p:cNvPicPr>
            <a:picLocks noChangeAspect="1"/>
          </p:cNvPicPr>
          <p:nvPr/>
        </p:nvPicPr>
        <p:blipFill>
          <a:blip r:embed="rId4"/>
          <a:stretch>
            <a:fillRect/>
          </a:stretch>
        </p:blipFill>
        <p:spPr>
          <a:xfrm>
            <a:off x="7439924" y="4550420"/>
            <a:ext cx="317480" cy="317480"/>
          </a:xfrm>
          <a:prstGeom prst="rect">
            <a:avLst/>
          </a:prstGeom>
        </p:spPr>
      </p:pic>
      <p:sp>
        <p:nvSpPr>
          <p:cNvPr id="18" name="Text 12"/>
          <p:cNvSpPr/>
          <p:nvPr/>
        </p:nvSpPr>
        <p:spPr>
          <a:xfrm>
            <a:off x="8092440" y="4407408"/>
            <a:ext cx="3474720" cy="365760"/>
          </a:xfrm>
          <a:prstGeom prst="rect">
            <a:avLst/>
          </a:prstGeom>
          <a:noFill/>
          <a:ln/>
        </p:spPr>
        <p:txBody>
          <a:bodyPr wrap="square" lIns="0" tIns="0" rIns="0" bIns="0" rtlCol="0" anchor="t"/>
          <a:lstStyle/>
          <a:p>
            <a:pPr algn="l" indent="0" marL="0">
              <a:lnSpc>
                <a:spcPct val="110000"/>
              </a:lnSpc>
              <a:buNone/>
            </a:pPr>
            <a:r>
              <a:rPr lang="en-US" sz="2000" b="1" dirty="0">
                <a:solidFill>
                  <a:srgbClr val="F2F3F5"/>
                </a:solidFill>
                <a:latin typeface="Segoe UI" pitchFamily="34" charset="0"/>
                <a:ea typeface="Segoe UI" pitchFamily="34" charset="-122"/>
                <a:cs typeface="Segoe UI" pitchFamily="34" charset="-120"/>
              </a:rPr>
              <a:t>3. Fix and teach</a:t>
            </a:r>
            <a:endParaRPr lang="en-US" sz="2000" dirty="0"/>
          </a:p>
        </p:txBody>
      </p:sp>
      <p:sp>
        <p:nvSpPr>
          <p:cNvPr id="19" name="Text 13"/>
          <p:cNvSpPr/>
          <p:nvPr/>
        </p:nvSpPr>
        <p:spPr>
          <a:xfrm>
            <a:off x="8092440" y="4791456"/>
            <a:ext cx="3429000" cy="731520"/>
          </a:xfrm>
          <a:prstGeom prst="rect">
            <a:avLst/>
          </a:prstGeom>
          <a:noFill/>
          <a:ln/>
        </p:spPr>
        <p:txBody>
          <a:bodyPr wrap="square" lIns="0" tIns="0" rIns="0" bIns="0" rtlCol="0" anchor="t"/>
          <a:lstStyle/>
          <a:p>
            <a:pPr algn="l" indent="0" marL="0">
              <a:lnSpc>
                <a:spcPct val="110000"/>
              </a:lnSpc>
              <a:buNone/>
            </a:pPr>
            <a:r>
              <a:rPr lang="en-US" sz="1300" dirty="0">
                <a:solidFill>
                  <a:srgbClr val="9AA3B0"/>
                </a:solidFill>
                <a:latin typeface="Segoe UI" pitchFamily="34" charset="0"/>
                <a:ea typeface="Segoe UI" pitchFamily="34" charset="-122"/>
                <a:cs typeface="Segoe UI" pitchFamily="34" charset="-120"/>
              </a:rPr>
              <a:t>Follow safe, step-by-step guidance. Say what you fixed, and the machine and the whole fleet learn.</a:t>
            </a:r>
            <a:endParaRPr lang="en-US" sz="13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80"/>
                </a:solidFill>
                <a:latin typeface="Segoe UI"/>
                <a:ea typeface="Segoe UI"/>
                <a:cs typeface="Segoe U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85800" y="649224"/>
            <a:ext cx="320040" cy="27432"/>
          </a:xfrm>
          <a:prstGeom prst="rect">
            <a:avLst/>
          </a:prstGeom>
          <a:solidFill>
            <a:srgbClr val="FFCD11"/>
          </a:solidFill>
          <a:ln w="12700">
            <a:solidFill>
              <a:srgbClr val="FFCD11"/>
            </a:solidFill>
            <a:prstDash val="solid"/>
          </a:ln>
        </p:spPr>
      </p:sp>
      <p:sp>
        <p:nvSpPr>
          <p:cNvPr id="3" name="Text 1"/>
          <p:cNvSpPr/>
          <p:nvPr/>
        </p:nvSpPr>
        <p:spPr>
          <a:xfrm>
            <a:off x="1115568" y="512064"/>
            <a:ext cx="7315200" cy="292608"/>
          </a:xfrm>
          <a:prstGeom prst="rect">
            <a:avLst/>
          </a:prstGeom>
          <a:noFill/>
          <a:ln/>
        </p:spPr>
        <p:txBody>
          <a:bodyPr wrap="square" lIns="0" tIns="0" rIns="0" bIns="0" rtlCol="0" anchor="ctr"/>
          <a:lstStyle/>
          <a:p>
            <a:pPr indent="0" marL="0">
              <a:buNone/>
            </a:pPr>
            <a:r>
              <a:rPr lang="en-US" sz="1100" b="1" spc="300" kern="0" dirty="0">
                <a:solidFill>
                  <a:srgbClr val="FFCD11"/>
                </a:solidFill>
                <a:latin typeface="Segoe UI" pitchFamily="34" charset="0"/>
                <a:ea typeface="Segoe UI" pitchFamily="34" charset="-122"/>
                <a:cs typeface="Segoe UI" pitchFamily="34" charset="-120"/>
              </a:rPr>
              <a:t>05   </a:t>
            </a:r>
            <a:pPr indent="0" marL="0">
              <a:buNone/>
            </a:pPr>
            <a:r>
              <a:rPr lang="en-US" sz="1100" b="1" spc="300" kern="0" dirty="0">
                <a:solidFill>
                  <a:srgbClr val="9AA3B0"/>
                </a:solidFill>
                <a:latin typeface="Segoe UI" pitchFamily="34" charset="0"/>
                <a:ea typeface="Segoe UI" pitchFamily="34" charset="-122"/>
                <a:cs typeface="Segoe UI" pitchFamily="34" charset="-120"/>
              </a:rPr>
              <a:t>HOW IT SOLVES THE PROBLEM</a:t>
            </a:r>
            <a:endParaRPr lang="en-US" sz="1100" dirty="0"/>
          </a:p>
        </p:txBody>
      </p:sp>
      <p:sp>
        <p:nvSpPr>
          <p:cNvPr id="4" name="Text 2"/>
          <p:cNvSpPr/>
          <p:nvPr/>
        </p:nvSpPr>
        <p:spPr>
          <a:xfrm>
            <a:off x="685800" y="896112"/>
            <a:ext cx="10789920" cy="868680"/>
          </a:xfrm>
          <a:prstGeom prst="rect">
            <a:avLst/>
          </a:prstGeom>
          <a:noFill/>
          <a:ln/>
        </p:spPr>
        <p:txBody>
          <a:bodyPr wrap="square" lIns="0" tIns="0" rIns="0" bIns="0" rtlCol="0" anchor="t"/>
          <a:lstStyle/>
          <a:p>
            <a:pPr indent="0" marL="0">
              <a:lnSpc>
                <a:spcPct val="95000"/>
              </a:lnSpc>
              <a:buNone/>
            </a:pPr>
            <a:r>
              <a:rPr lang="en-US" sz="3200" b="1" dirty="0">
                <a:solidFill>
                  <a:srgbClr val="F2F3F5"/>
                </a:solidFill>
                <a:latin typeface="Segoe UI" pitchFamily="34" charset="0"/>
                <a:ea typeface="Segoe UI" pitchFamily="34" charset="-122"/>
                <a:cs typeface="Segoe UI" pitchFamily="34" charset="-120"/>
              </a:rPr>
              <a:t>Every pain point has a direct answer.</a:t>
            </a:r>
            <a:endParaRPr lang="en-US" sz="3200" dirty="0"/>
          </a:p>
        </p:txBody>
      </p:sp>
      <p:sp>
        <p:nvSpPr>
          <p:cNvPr id="5" name="Text 3"/>
          <p:cNvSpPr/>
          <p:nvPr/>
        </p:nvSpPr>
        <p:spPr>
          <a:xfrm>
            <a:off x="685800" y="1874520"/>
            <a:ext cx="2743200" cy="228600"/>
          </a:xfrm>
          <a:prstGeom prst="rect">
            <a:avLst/>
          </a:prstGeom>
          <a:noFill/>
          <a:ln/>
        </p:spPr>
        <p:txBody>
          <a:bodyPr wrap="square" lIns="0" tIns="0" rIns="0" bIns="0" rtlCol="0" anchor="t"/>
          <a:lstStyle/>
          <a:p>
            <a:pPr algn="l" indent="0" marL="0">
              <a:lnSpc>
                <a:spcPct val="110000"/>
              </a:lnSpc>
              <a:buNone/>
            </a:pPr>
            <a:r>
              <a:rPr lang="en-US" sz="1000" b="1" spc="200" kern="0" dirty="0">
                <a:solidFill>
                  <a:srgbClr val="6B7480"/>
                </a:solidFill>
                <a:latin typeface="Segoe UI" pitchFamily="34" charset="0"/>
                <a:ea typeface="Segoe UI" pitchFamily="34" charset="-122"/>
                <a:cs typeface="Segoe UI" pitchFamily="34" charset="-120"/>
              </a:rPr>
              <a:t>PAIN POINT</a:t>
            </a:r>
            <a:endParaRPr lang="en-US" sz="1000" dirty="0"/>
          </a:p>
        </p:txBody>
      </p:sp>
      <p:sp>
        <p:nvSpPr>
          <p:cNvPr id="6" name="Text 4"/>
          <p:cNvSpPr/>
          <p:nvPr/>
        </p:nvSpPr>
        <p:spPr>
          <a:xfrm>
            <a:off x="4160520" y="1874520"/>
            <a:ext cx="4572000" cy="228600"/>
          </a:xfrm>
          <a:prstGeom prst="rect">
            <a:avLst/>
          </a:prstGeom>
          <a:noFill/>
          <a:ln/>
        </p:spPr>
        <p:txBody>
          <a:bodyPr wrap="square" lIns="0" tIns="0" rIns="0" bIns="0" rtlCol="0" anchor="t"/>
          <a:lstStyle/>
          <a:p>
            <a:pPr algn="l" indent="0" marL="0">
              <a:lnSpc>
                <a:spcPct val="110000"/>
              </a:lnSpc>
              <a:buNone/>
            </a:pPr>
            <a:r>
              <a:rPr lang="en-US" sz="1000" b="1" spc="200" kern="0" dirty="0">
                <a:solidFill>
                  <a:srgbClr val="6B7480"/>
                </a:solidFill>
                <a:latin typeface="Segoe UI" pitchFamily="34" charset="0"/>
                <a:ea typeface="Segoe UI" pitchFamily="34" charset="-122"/>
                <a:cs typeface="Segoe UI" pitchFamily="34" charset="-120"/>
              </a:rPr>
              <a:t>WHAT DÉJÀVIEW DOES</a:t>
            </a:r>
            <a:endParaRPr lang="en-US" sz="1000" dirty="0"/>
          </a:p>
        </p:txBody>
      </p:sp>
      <p:sp>
        <p:nvSpPr>
          <p:cNvPr id="7" name="Text 5"/>
          <p:cNvSpPr/>
          <p:nvPr/>
        </p:nvSpPr>
        <p:spPr>
          <a:xfrm>
            <a:off x="9372600" y="1874520"/>
            <a:ext cx="2103120" cy="228600"/>
          </a:xfrm>
          <a:prstGeom prst="rect">
            <a:avLst/>
          </a:prstGeom>
          <a:noFill/>
          <a:ln/>
        </p:spPr>
        <p:txBody>
          <a:bodyPr wrap="square" lIns="0" tIns="0" rIns="0" bIns="0" rtlCol="0" anchor="t"/>
          <a:lstStyle/>
          <a:p>
            <a:pPr algn="l" indent="0" marL="0">
              <a:lnSpc>
                <a:spcPct val="110000"/>
              </a:lnSpc>
              <a:buNone/>
            </a:pPr>
            <a:r>
              <a:rPr lang="en-US" sz="1000" b="1" spc="200" kern="0" dirty="0">
                <a:solidFill>
                  <a:srgbClr val="6B7480"/>
                </a:solidFill>
                <a:latin typeface="Segoe UI" pitchFamily="34" charset="0"/>
                <a:ea typeface="Segoe UI" pitchFamily="34" charset="-122"/>
                <a:cs typeface="Segoe UI" pitchFamily="34" charset="-120"/>
              </a:rPr>
              <a:t>RESULT</a:t>
            </a:r>
            <a:endParaRPr lang="en-US" sz="1000" dirty="0"/>
          </a:p>
        </p:txBody>
      </p:sp>
      <p:sp>
        <p:nvSpPr>
          <p:cNvPr id="8" name="Shape 6"/>
          <p:cNvSpPr/>
          <p:nvPr/>
        </p:nvSpPr>
        <p:spPr>
          <a:xfrm>
            <a:off x="685800" y="2194560"/>
            <a:ext cx="10817352" cy="0"/>
          </a:xfrm>
          <a:prstGeom prst="line">
            <a:avLst/>
          </a:prstGeom>
          <a:noFill/>
          <a:ln w="12700">
            <a:solidFill>
              <a:srgbClr val="262C35"/>
            </a:solidFill>
            <a:prstDash val="solid"/>
          </a:ln>
        </p:spPr>
      </p:sp>
      <p:pic>
        <p:nvPicPr>
          <p:cNvPr id="9" name="Image 0" descr="preencoded.png">    </p:cNvPr>
          <p:cNvPicPr>
            <a:picLocks noChangeAspect="1"/>
          </p:cNvPicPr>
          <p:nvPr/>
        </p:nvPicPr>
        <p:blipFill>
          <a:blip r:embed="rId1"/>
          <a:stretch>
            <a:fillRect/>
          </a:stretch>
        </p:blipFill>
        <p:spPr>
          <a:xfrm>
            <a:off x="685800" y="2450592"/>
            <a:ext cx="256032" cy="256032"/>
          </a:xfrm>
          <a:prstGeom prst="rect">
            <a:avLst/>
          </a:prstGeom>
        </p:spPr>
      </p:pic>
      <p:sp>
        <p:nvSpPr>
          <p:cNvPr id="10" name="Text 7"/>
          <p:cNvSpPr/>
          <p:nvPr/>
        </p:nvSpPr>
        <p:spPr>
          <a:xfrm>
            <a:off x="1078992" y="2194560"/>
            <a:ext cx="2743200" cy="786384"/>
          </a:xfrm>
          <a:prstGeom prst="rect">
            <a:avLst/>
          </a:prstGeom>
          <a:noFill/>
          <a:ln/>
        </p:spPr>
        <p:txBody>
          <a:bodyPr wrap="square" lIns="0" tIns="0" rIns="0" bIns="0" rtlCol="0" anchor="ctr"/>
          <a:lstStyle/>
          <a:p>
            <a:pPr algn="l" indent="0" marL="0">
              <a:lnSpc>
                <a:spcPct val="110000"/>
              </a:lnSpc>
              <a:buNone/>
            </a:pPr>
            <a:r>
              <a:rPr lang="en-US" sz="1500" b="1" dirty="0">
                <a:solidFill>
                  <a:srgbClr val="F2F3F5"/>
                </a:solidFill>
                <a:latin typeface="Segoe UI" pitchFamily="34" charset="0"/>
                <a:ea typeface="Segoe UI" pitchFamily="34" charset="-122"/>
                <a:cs typeface="Segoe UI" pitchFamily="34" charset="-120"/>
              </a:rPr>
              <a:t>Never seen this machine</a:t>
            </a:r>
            <a:endParaRPr lang="en-US" sz="1500" dirty="0"/>
          </a:p>
        </p:txBody>
      </p:sp>
      <p:pic>
        <p:nvPicPr>
          <p:cNvPr id="11" name="Image 1" descr="preencoded.png">    </p:cNvPr>
          <p:cNvPicPr>
            <a:picLocks noChangeAspect="1"/>
          </p:cNvPicPr>
          <p:nvPr/>
        </p:nvPicPr>
        <p:blipFill>
          <a:blip r:embed="rId2"/>
          <a:stretch>
            <a:fillRect/>
          </a:stretch>
        </p:blipFill>
        <p:spPr>
          <a:xfrm>
            <a:off x="3703320" y="2468880"/>
            <a:ext cx="237744" cy="237744"/>
          </a:xfrm>
          <a:prstGeom prst="rect">
            <a:avLst/>
          </a:prstGeom>
        </p:spPr>
      </p:pic>
      <p:sp>
        <p:nvSpPr>
          <p:cNvPr id="12" name="Text 8"/>
          <p:cNvSpPr/>
          <p:nvPr/>
        </p:nvSpPr>
        <p:spPr>
          <a:xfrm>
            <a:off x="4160520" y="2194560"/>
            <a:ext cx="4983480" cy="786384"/>
          </a:xfrm>
          <a:prstGeom prst="rect">
            <a:avLst/>
          </a:prstGeom>
          <a:noFill/>
          <a:ln/>
        </p:spPr>
        <p:txBody>
          <a:bodyPr wrap="square" lIns="0" tIns="0" rIns="0" bIns="0" rtlCol="0" anchor="ctr"/>
          <a:lstStyle/>
          <a:p>
            <a:pPr algn="l" indent="0" marL="0">
              <a:lnSpc>
                <a:spcPct val="110000"/>
              </a:lnSpc>
              <a:buNone/>
            </a:pPr>
            <a:r>
              <a:rPr lang="en-US" sz="1350" dirty="0">
                <a:solidFill>
                  <a:srgbClr val="C9CED6"/>
                </a:solidFill>
                <a:latin typeface="Segoe UI" pitchFamily="34" charset="0"/>
                <a:ea typeface="Segoe UI" pitchFamily="34" charset="-122"/>
                <a:cs typeface="Segoe UI" pitchFamily="34" charset="-120"/>
              </a:rPr>
              <a:t>Instant history: past faults, what fixed them, and what was wrongly blamed</a:t>
            </a:r>
            <a:endParaRPr lang="en-US" sz="1350" dirty="0"/>
          </a:p>
        </p:txBody>
      </p:sp>
      <p:pic>
        <p:nvPicPr>
          <p:cNvPr id="13" name="Image 2" descr="preencoded.png">    </p:cNvPr>
          <p:cNvPicPr>
            <a:picLocks noChangeAspect="1"/>
          </p:cNvPicPr>
          <p:nvPr/>
        </p:nvPicPr>
        <p:blipFill>
          <a:blip r:embed="rId3"/>
          <a:stretch>
            <a:fillRect/>
          </a:stretch>
        </p:blipFill>
        <p:spPr>
          <a:xfrm>
            <a:off x="9372600" y="2468880"/>
            <a:ext cx="237744" cy="237744"/>
          </a:xfrm>
          <a:prstGeom prst="rect">
            <a:avLst/>
          </a:prstGeom>
        </p:spPr>
      </p:pic>
      <p:sp>
        <p:nvSpPr>
          <p:cNvPr id="14" name="Text 9"/>
          <p:cNvSpPr/>
          <p:nvPr/>
        </p:nvSpPr>
        <p:spPr>
          <a:xfrm>
            <a:off x="9710928" y="2194560"/>
            <a:ext cx="1828800" cy="786384"/>
          </a:xfrm>
          <a:prstGeom prst="rect">
            <a:avLst/>
          </a:prstGeom>
          <a:noFill/>
          <a:ln/>
        </p:spPr>
        <p:txBody>
          <a:bodyPr wrap="square" lIns="0" tIns="0" rIns="0" bIns="0" rtlCol="0" anchor="ctr"/>
          <a:lstStyle/>
          <a:p>
            <a:pPr algn="l" indent="0" marL="0">
              <a:lnSpc>
                <a:spcPct val="110000"/>
              </a:lnSpc>
              <a:buNone/>
            </a:pPr>
            <a:r>
              <a:rPr lang="en-US" sz="1350" b="1" dirty="0">
                <a:solidFill>
                  <a:srgbClr val="34D399"/>
                </a:solidFill>
                <a:latin typeface="Segoe UI" pitchFamily="34" charset="0"/>
                <a:ea typeface="Segoe UI" pitchFamily="34" charset="-122"/>
                <a:cs typeface="Segoe UI" pitchFamily="34" charset="-120"/>
              </a:rPr>
              <a:t>No starting from zero</a:t>
            </a:r>
            <a:endParaRPr lang="en-US" sz="1350" dirty="0"/>
          </a:p>
        </p:txBody>
      </p:sp>
      <p:sp>
        <p:nvSpPr>
          <p:cNvPr id="15" name="Shape 10"/>
          <p:cNvSpPr/>
          <p:nvPr/>
        </p:nvSpPr>
        <p:spPr>
          <a:xfrm>
            <a:off x="685800" y="2980944"/>
            <a:ext cx="10817352" cy="0"/>
          </a:xfrm>
          <a:prstGeom prst="line">
            <a:avLst/>
          </a:prstGeom>
          <a:noFill/>
          <a:ln w="12700">
            <a:solidFill>
              <a:srgbClr val="262C35"/>
            </a:solidFill>
            <a:prstDash val="solid"/>
          </a:ln>
        </p:spPr>
      </p:sp>
      <p:pic>
        <p:nvPicPr>
          <p:cNvPr id="16" name="Image 3" descr="preencoded.png">    </p:cNvPr>
          <p:cNvPicPr>
            <a:picLocks noChangeAspect="1"/>
          </p:cNvPicPr>
          <p:nvPr/>
        </p:nvPicPr>
        <p:blipFill>
          <a:blip r:embed="rId4"/>
          <a:stretch>
            <a:fillRect/>
          </a:stretch>
        </p:blipFill>
        <p:spPr>
          <a:xfrm>
            <a:off x="685800" y="3236976"/>
            <a:ext cx="256032" cy="256032"/>
          </a:xfrm>
          <a:prstGeom prst="rect">
            <a:avLst/>
          </a:prstGeom>
        </p:spPr>
      </p:pic>
      <p:sp>
        <p:nvSpPr>
          <p:cNvPr id="17" name="Text 11"/>
          <p:cNvSpPr/>
          <p:nvPr/>
        </p:nvSpPr>
        <p:spPr>
          <a:xfrm>
            <a:off x="1078992" y="2980944"/>
            <a:ext cx="2743200" cy="786384"/>
          </a:xfrm>
          <a:prstGeom prst="rect">
            <a:avLst/>
          </a:prstGeom>
          <a:noFill/>
          <a:ln/>
        </p:spPr>
        <p:txBody>
          <a:bodyPr wrap="square" lIns="0" tIns="0" rIns="0" bIns="0" rtlCol="0" anchor="ctr"/>
          <a:lstStyle/>
          <a:p>
            <a:pPr algn="l" indent="0" marL="0">
              <a:lnSpc>
                <a:spcPct val="110000"/>
              </a:lnSpc>
              <a:buNone/>
            </a:pPr>
            <a:r>
              <a:rPr lang="en-US" sz="1500" b="1" dirty="0">
                <a:solidFill>
                  <a:srgbClr val="F2F3F5"/>
                </a:solidFill>
                <a:latin typeface="Segoe UI" pitchFamily="34" charset="0"/>
                <a:ea typeface="Segoe UI" pitchFamily="34" charset="-122"/>
                <a:cs typeface="Segoe UI" pitchFamily="34" charset="-120"/>
              </a:rPr>
              <a:t>Too much information</a:t>
            </a:r>
            <a:endParaRPr lang="en-US" sz="1500" dirty="0"/>
          </a:p>
        </p:txBody>
      </p:sp>
      <p:pic>
        <p:nvPicPr>
          <p:cNvPr id="18" name="Image 4" descr="preencoded.png">    </p:cNvPr>
          <p:cNvPicPr>
            <a:picLocks noChangeAspect="1"/>
          </p:cNvPicPr>
          <p:nvPr/>
        </p:nvPicPr>
        <p:blipFill>
          <a:blip r:embed="rId5"/>
          <a:stretch>
            <a:fillRect/>
          </a:stretch>
        </p:blipFill>
        <p:spPr>
          <a:xfrm>
            <a:off x="3703320" y="3255264"/>
            <a:ext cx="237744" cy="237744"/>
          </a:xfrm>
          <a:prstGeom prst="rect">
            <a:avLst/>
          </a:prstGeom>
        </p:spPr>
      </p:pic>
      <p:sp>
        <p:nvSpPr>
          <p:cNvPr id="19" name="Text 12"/>
          <p:cNvSpPr/>
          <p:nvPr/>
        </p:nvSpPr>
        <p:spPr>
          <a:xfrm>
            <a:off x="4160520" y="2980944"/>
            <a:ext cx="4983480" cy="786384"/>
          </a:xfrm>
          <a:prstGeom prst="rect">
            <a:avLst/>
          </a:prstGeom>
          <a:noFill/>
          <a:ln/>
        </p:spPr>
        <p:txBody>
          <a:bodyPr wrap="square" lIns="0" tIns="0" rIns="0" bIns="0" rtlCol="0" anchor="ctr"/>
          <a:lstStyle/>
          <a:p>
            <a:pPr algn="l" indent="0" marL="0">
              <a:lnSpc>
                <a:spcPct val="110000"/>
              </a:lnSpc>
              <a:buNone/>
            </a:pPr>
            <a:r>
              <a:rPr lang="en-US" sz="1350" dirty="0">
                <a:solidFill>
                  <a:srgbClr val="C9CED6"/>
                </a:solidFill>
                <a:latin typeface="Segoe UI" pitchFamily="34" charset="0"/>
                <a:ea typeface="Segoe UI" pitchFamily="34" charset="-122"/>
                <a:cs typeface="Segoe UI" pitchFamily="34" charset="-120"/>
              </a:rPr>
              <a:t>One spoken answer and only the relevant steps, safety step first</a:t>
            </a:r>
            <a:endParaRPr lang="en-US" sz="1350" dirty="0"/>
          </a:p>
        </p:txBody>
      </p:sp>
      <p:pic>
        <p:nvPicPr>
          <p:cNvPr id="20" name="Image 5" descr="preencoded.png">    </p:cNvPr>
          <p:cNvPicPr>
            <a:picLocks noChangeAspect="1"/>
          </p:cNvPicPr>
          <p:nvPr/>
        </p:nvPicPr>
        <p:blipFill>
          <a:blip r:embed="rId6"/>
          <a:stretch>
            <a:fillRect/>
          </a:stretch>
        </p:blipFill>
        <p:spPr>
          <a:xfrm>
            <a:off x="9372600" y="3255264"/>
            <a:ext cx="237744" cy="237744"/>
          </a:xfrm>
          <a:prstGeom prst="rect">
            <a:avLst/>
          </a:prstGeom>
        </p:spPr>
      </p:pic>
      <p:sp>
        <p:nvSpPr>
          <p:cNvPr id="21" name="Text 13"/>
          <p:cNvSpPr/>
          <p:nvPr/>
        </p:nvSpPr>
        <p:spPr>
          <a:xfrm>
            <a:off x="9710928" y="2980944"/>
            <a:ext cx="1828800" cy="786384"/>
          </a:xfrm>
          <a:prstGeom prst="rect">
            <a:avLst/>
          </a:prstGeom>
          <a:noFill/>
          <a:ln/>
        </p:spPr>
        <p:txBody>
          <a:bodyPr wrap="square" lIns="0" tIns="0" rIns="0" bIns="0" rtlCol="0" anchor="ctr"/>
          <a:lstStyle/>
          <a:p>
            <a:pPr algn="l" indent="0" marL="0">
              <a:lnSpc>
                <a:spcPct val="110000"/>
              </a:lnSpc>
              <a:buNone/>
            </a:pPr>
            <a:r>
              <a:rPr lang="en-US" sz="1350" b="1" dirty="0">
                <a:solidFill>
                  <a:srgbClr val="34D399"/>
                </a:solidFill>
                <a:latin typeface="Segoe UI" pitchFamily="34" charset="0"/>
                <a:ea typeface="Segoe UI" pitchFamily="34" charset="-122"/>
                <a:cs typeface="Segoe UI" pitchFamily="34" charset="-120"/>
              </a:rPr>
              <a:t>Faster, safer diagnosis</a:t>
            </a:r>
            <a:endParaRPr lang="en-US" sz="1350" dirty="0"/>
          </a:p>
        </p:txBody>
      </p:sp>
      <p:sp>
        <p:nvSpPr>
          <p:cNvPr id="22" name="Shape 14"/>
          <p:cNvSpPr/>
          <p:nvPr/>
        </p:nvSpPr>
        <p:spPr>
          <a:xfrm>
            <a:off x="685800" y="3767328"/>
            <a:ext cx="10817352" cy="0"/>
          </a:xfrm>
          <a:prstGeom prst="line">
            <a:avLst/>
          </a:prstGeom>
          <a:noFill/>
          <a:ln w="12700">
            <a:solidFill>
              <a:srgbClr val="262C35"/>
            </a:solidFill>
            <a:prstDash val="solid"/>
          </a:ln>
        </p:spPr>
      </p:sp>
      <p:pic>
        <p:nvPicPr>
          <p:cNvPr id="23" name="Image 6" descr="preencoded.png">    </p:cNvPr>
          <p:cNvPicPr>
            <a:picLocks noChangeAspect="1"/>
          </p:cNvPicPr>
          <p:nvPr/>
        </p:nvPicPr>
        <p:blipFill>
          <a:blip r:embed="rId7"/>
          <a:stretch>
            <a:fillRect/>
          </a:stretch>
        </p:blipFill>
        <p:spPr>
          <a:xfrm>
            <a:off x="685800" y="4023360"/>
            <a:ext cx="256032" cy="256032"/>
          </a:xfrm>
          <a:prstGeom prst="rect">
            <a:avLst/>
          </a:prstGeom>
        </p:spPr>
      </p:pic>
      <p:sp>
        <p:nvSpPr>
          <p:cNvPr id="24" name="Text 15"/>
          <p:cNvSpPr/>
          <p:nvPr/>
        </p:nvSpPr>
        <p:spPr>
          <a:xfrm>
            <a:off x="1078992" y="3767328"/>
            <a:ext cx="2743200" cy="786384"/>
          </a:xfrm>
          <a:prstGeom prst="rect">
            <a:avLst/>
          </a:prstGeom>
          <a:noFill/>
          <a:ln/>
        </p:spPr>
        <p:txBody>
          <a:bodyPr wrap="square" lIns="0" tIns="0" rIns="0" bIns="0" rtlCol="0" anchor="ctr"/>
          <a:lstStyle/>
          <a:p>
            <a:pPr algn="l" indent="0" marL="0">
              <a:lnSpc>
                <a:spcPct val="110000"/>
              </a:lnSpc>
              <a:buNone/>
            </a:pPr>
            <a:r>
              <a:rPr lang="en-US" sz="1500" b="1" dirty="0">
                <a:solidFill>
                  <a:srgbClr val="F2F3F5"/>
                </a:solidFill>
                <a:latin typeface="Segoe UI" pitchFamily="34" charset="0"/>
                <a:ea typeface="Segoe UI" pitchFamily="34" charset="-122"/>
                <a:cs typeface="Segoe UI" pitchFamily="34" charset="-120"/>
              </a:rPr>
              <a:t>English-first tools</a:t>
            </a:r>
            <a:endParaRPr lang="en-US" sz="1500" dirty="0"/>
          </a:p>
        </p:txBody>
      </p:sp>
      <p:pic>
        <p:nvPicPr>
          <p:cNvPr id="25" name="Image 7" descr="preencoded.png">    </p:cNvPr>
          <p:cNvPicPr>
            <a:picLocks noChangeAspect="1"/>
          </p:cNvPicPr>
          <p:nvPr/>
        </p:nvPicPr>
        <p:blipFill>
          <a:blip r:embed="rId8"/>
          <a:stretch>
            <a:fillRect/>
          </a:stretch>
        </p:blipFill>
        <p:spPr>
          <a:xfrm>
            <a:off x="3703320" y="4041648"/>
            <a:ext cx="237744" cy="237744"/>
          </a:xfrm>
          <a:prstGeom prst="rect">
            <a:avLst/>
          </a:prstGeom>
        </p:spPr>
      </p:pic>
      <p:sp>
        <p:nvSpPr>
          <p:cNvPr id="26" name="Text 16"/>
          <p:cNvSpPr/>
          <p:nvPr/>
        </p:nvSpPr>
        <p:spPr>
          <a:xfrm>
            <a:off x="4160520" y="3767328"/>
            <a:ext cx="4983480" cy="786384"/>
          </a:xfrm>
          <a:prstGeom prst="rect">
            <a:avLst/>
          </a:prstGeom>
          <a:noFill/>
          <a:ln/>
        </p:spPr>
        <p:txBody>
          <a:bodyPr wrap="square" lIns="0" tIns="0" rIns="0" bIns="0" rtlCol="0" anchor="ctr"/>
          <a:lstStyle/>
          <a:p>
            <a:pPr algn="l" indent="0" marL="0">
              <a:lnSpc>
                <a:spcPct val="110000"/>
              </a:lnSpc>
              <a:buNone/>
            </a:pPr>
            <a:r>
              <a:rPr lang="en-US" sz="1350" dirty="0">
                <a:solidFill>
                  <a:srgbClr val="C9CED6"/>
                </a:solidFill>
                <a:latin typeface="Segoe UI" pitchFamily="34" charset="0"/>
                <a:ea typeface="Segoe UI" pitchFamily="34" charset="-122"/>
                <a:cs typeface="Segoe UI" pitchFamily="34" charset="-120"/>
              </a:rPr>
              <a:t>Listens and answers in the technician's language (English and Spanish today)</a:t>
            </a:r>
            <a:endParaRPr lang="en-US" sz="1350" dirty="0"/>
          </a:p>
        </p:txBody>
      </p:sp>
      <p:pic>
        <p:nvPicPr>
          <p:cNvPr id="27" name="Image 8" descr="preencoded.png">    </p:cNvPr>
          <p:cNvPicPr>
            <a:picLocks noChangeAspect="1"/>
          </p:cNvPicPr>
          <p:nvPr/>
        </p:nvPicPr>
        <p:blipFill>
          <a:blip r:embed="rId9"/>
          <a:stretch>
            <a:fillRect/>
          </a:stretch>
        </p:blipFill>
        <p:spPr>
          <a:xfrm>
            <a:off x="9372600" y="4041648"/>
            <a:ext cx="237744" cy="237744"/>
          </a:xfrm>
          <a:prstGeom prst="rect">
            <a:avLst/>
          </a:prstGeom>
        </p:spPr>
      </p:pic>
      <p:sp>
        <p:nvSpPr>
          <p:cNvPr id="28" name="Text 17"/>
          <p:cNvSpPr/>
          <p:nvPr/>
        </p:nvSpPr>
        <p:spPr>
          <a:xfrm>
            <a:off x="9710928" y="3767328"/>
            <a:ext cx="1828800" cy="786384"/>
          </a:xfrm>
          <a:prstGeom prst="rect">
            <a:avLst/>
          </a:prstGeom>
          <a:noFill/>
          <a:ln/>
        </p:spPr>
        <p:txBody>
          <a:bodyPr wrap="square" lIns="0" tIns="0" rIns="0" bIns="0" rtlCol="0" anchor="ctr"/>
          <a:lstStyle/>
          <a:p>
            <a:pPr algn="l" indent="0" marL="0">
              <a:lnSpc>
                <a:spcPct val="110000"/>
              </a:lnSpc>
              <a:buNone/>
            </a:pPr>
            <a:r>
              <a:rPr lang="en-US" sz="1350" b="1" dirty="0">
                <a:solidFill>
                  <a:srgbClr val="34D399"/>
                </a:solidFill>
                <a:latin typeface="Segoe UI" pitchFamily="34" charset="0"/>
                <a:ea typeface="Segoe UI" pitchFamily="34" charset="-122"/>
                <a:cs typeface="Segoe UI" pitchFamily="34" charset="-120"/>
              </a:rPr>
              <a:t>Everyone can use it</a:t>
            </a:r>
            <a:endParaRPr lang="en-US" sz="1350" dirty="0"/>
          </a:p>
        </p:txBody>
      </p:sp>
      <p:sp>
        <p:nvSpPr>
          <p:cNvPr id="29" name="Shape 18"/>
          <p:cNvSpPr/>
          <p:nvPr/>
        </p:nvSpPr>
        <p:spPr>
          <a:xfrm>
            <a:off x="685800" y="4553712"/>
            <a:ext cx="10817352" cy="0"/>
          </a:xfrm>
          <a:prstGeom prst="line">
            <a:avLst/>
          </a:prstGeom>
          <a:noFill/>
          <a:ln w="12700">
            <a:solidFill>
              <a:srgbClr val="262C35"/>
            </a:solidFill>
            <a:prstDash val="solid"/>
          </a:ln>
        </p:spPr>
      </p:sp>
      <p:pic>
        <p:nvPicPr>
          <p:cNvPr id="30" name="Image 9" descr="preencoded.png">    </p:cNvPr>
          <p:cNvPicPr>
            <a:picLocks noChangeAspect="1"/>
          </p:cNvPicPr>
          <p:nvPr/>
        </p:nvPicPr>
        <p:blipFill>
          <a:blip r:embed="rId10"/>
          <a:stretch>
            <a:fillRect/>
          </a:stretch>
        </p:blipFill>
        <p:spPr>
          <a:xfrm>
            <a:off x="685800" y="4809744"/>
            <a:ext cx="256032" cy="256032"/>
          </a:xfrm>
          <a:prstGeom prst="rect">
            <a:avLst/>
          </a:prstGeom>
        </p:spPr>
      </p:pic>
      <p:sp>
        <p:nvSpPr>
          <p:cNvPr id="31" name="Text 19"/>
          <p:cNvSpPr/>
          <p:nvPr/>
        </p:nvSpPr>
        <p:spPr>
          <a:xfrm>
            <a:off x="1078992" y="4553712"/>
            <a:ext cx="2743200" cy="786384"/>
          </a:xfrm>
          <a:prstGeom prst="rect">
            <a:avLst/>
          </a:prstGeom>
          <a:noFill/>
          <a:ln/>
        </p:spPr>
        <p:txBody>
          <a:bodyPr wrap="square" lIns="0" tIns="0" rIns="0" bIns="0" rtlCol="0" anchor="ctr"/>
          <a:lstStyle/>
          <a:p>
            <a:pPr algn="l" indent="0" marL="0">
              <a:lnSpc>
                <a:spcPct val="110000"/>
              </a:lnSpc>
              <a:buNone/>
            </a:pPr>
            <a:r>
              <a:rPr lang="en-US" sz="1500" b="1" dirty="0">
                <a:solidFill>
                  <a:srgbClr val="F2F3F5"/>
                </a:solidFill>
                <a:latin typeface="Segoe UI" pitchFamily="34" charset="0"/>
                <a:ea typeface="Segoe UI" pitchFamily="34" charset="-122"/>
                <a:cs typeface="Segoe UI" pitchFamily="34" charset="-120"/>
              </a:rPr>
              <a:t>Experts retire or are out</a:t>
            </a:r>
            <a:endParaRPr lang="en-US" sz="1500" dirty="0"/>
          </a:p>
        </p:txBody>
      </p:sp>
      <p:pic>
        <p:nvPicPr>
          <p:cNvPr id="32" name="Image 10" descr="preencoded.png">    </p:cNvPr>
          <p:cNvPicPr>
            <a:picLocks noChangeAspect="1"/>
          </p:cNvPicPr>
          <p:nvPr/>
        </p:nvPicPr>
        <p:blipFill>
          <a:blip r:embed="rId11"/>
          <a:stretch>
            <a:fillRect/>
          </a:stretch>
        </p:blipFill>
        <p:spPr>
          <a:xfrm>
            <a:off x="3703320" y="4828032"/>
            <a:ext cx="237744" cy="237744"/>
          </a:xfrm>
          <a:prstGeom prst="rect">
            <a:avLst/>
          </a:prstGeom>
        </p:spPr>
      </p:pic>
      <p:sp>
        <p:nvSpPr>
          <p:cNvPr id="33" name="Text 20"/>
          <p:cNvSpPr/>
          <p:nvPr/>
        </p:nvSpPr>
        <p:spPr>
          <a:xfrm>
            <a:off x="4160520" y="4553712"/>
            <a:ext cx="4983480" cy="786384"/>
          </a:xfrm>
          <a:prstGeom prst="rect">
            <a:avLst/>
          </a:prstGeom>
          <a:noFill/>
          <a:ln/>
        </p:spPr>
        <p:txBody>
          <a:bodyPr wrap="square" lIns="0" tIns="0" rIns="0" bIns="0" rtlCol="0" anchor="ctr"/>
          <a:lstStyle/>
          <a:p>
            <a:pPr algn="l" indent="0" marL="0">
              <a:lnSpc>
                <a:spcPct val="110000"/>
              </a:lnSpc>
              <a:buNone/>
            </a:pPr>
            <a:r>
              <a:rPr lang="en-US" sz="1350" dirty="0">
                <a:solidFill>
                  <a:srgbClr val="C9CED6"/>
                </a:solidFill>
                <a:latin typeface="Segoe UI" pitchFamily="34" charset="0"/>
                <a:ea typeface="Segoe UI" pitchFamily="34" charset="-122"/>
                <a:cs typeface="Segoe UI" pitchFamily="34" charset="-120"/>
              </a:rPr>
              <a:t>Every logged fix becomes shared memory for the whole fleet</a:t>
            </a:r>
            <a:endParaRPr lang="en-US" sz="1350" dirty="0"/>
          </a:p>
        </p:txBody>
      </p:sp>
      <p:pic>
        <p:nvPicPr>
          <p:cNvPr id="34" name="Image 11" descr="preencoded.png">    </p:cNvPr>
          <p:cNvPicPr>
            <a:picLocks noChangeAspect="1"/>
          </p:cNvPicPr>
          <p:nvPr/>
        </p:nvPicPr>
        <p:blipFill>
          <a:blip r:embed="rId12"/>
          <a:stretch>
            <a:fillRect/>
          </a:stretch>
        </p:blipFill>
        <p:spPr>
          <a:xfrm>
            <a:off x="9372600" y="4828032"/>
            <a:ext cx="237744" cy="237744"/>
          </a:xfrm>
          <a:prstGeom prst="rect">
            <a:avLst/>
          </a:prstGeom>
        </p:spPr>
      </p:pic>
      <p:sp>
        <p:nvSpPr>
          <p:cNvPr id="35" name="Text 21"/>
          <p:cNvSpPr/>
          <p:nvPr/>
        </p:nvSpPr>
        <p:spPr>
          <a:xfrm>
            <a:off x="9710928" y="4553712"/>
            <a:ext cx="1828800" cy="786384"/>
          </a:xfrm>
          <a:prstGeom prst="rect">
            <a:avLst/>
          </a:prstGeom>
          <a:noFill/>
          <a:ln/>
        </p:spPr>
        <p:txBody>
          <a:bodyPr wrap="square" lIns="0" tIns="0" rIns="0" bIns="0" rtlCol="0" anchor="ctr"/>
          <a:lstStyle/>
          <a:p>
            <a:pPr algn="l" indent="0" marL="0">
              <a:lnSpc>
                <a:spcPct val="110000"/>
              </a:lnSpc>
              <a:buNone/>
            </a:pPr>
            <a:r>
              <a:rPr lang="en-US" sz="1350" b="1" dirty="0">
                <a:solidFill>
                  <a:srgbClr val="34D399"/>
                </a:solidFill>
                <a:latin typeface="Segoe UI" pitchFamily="34" charset="0"/>
                <a:ea typeface="Segoe UI" pitchFamily="34" charset="-122"/>
                <a:cs typeface="Segoe UI" pitchFamily="34" charset="-120"/>
              </a:rPr>
              <a:t>Knowledge stays</a:t>
            </a:r>
            <a:endParaRPr lang="en-US" sz="1350" dirty="0"/>
          </a:p>
        </p:txBody>
      </p:sp>
      <p:sp>
        <p:nvSpPr>
          <p:cNvPr id="36" name="Shape 22"/>
          <p:cNvSpPr/>
          <p:nvPr/>
        </p:nvSpPr>
        <p:spPr>
          <a:xfrm>
            <a:off x="685800" y="5340096"/>
            <a:ext cx="10817352" cy="0"/>
          </a:xfrm>
          <a:prstGeom prst="line">
            <a:avLst/>
          </a:prstGeom>
          <a:noFill/>
          <a:ln w="12700">
            <a:solidFill>
              <a:srgbClr val="262C35"/>
            </a:solidFill>
            <a:prstDash val="solid"/>
          </a:ln>
        </p:spPr>
      </p:sp>
      <p:pic>
        <p:nvPicPr>
          <p:cNvPr id="37" name="Image 12" descr="preencoded.png">    </p:cNvPr>
          <p:cNvPicPr>
            <a:picLocks noChangeAspect="1"/>
          </p:cNvPicPr>
          <p:nvPr/>
        </p:nvPicPr>
        <p:blipFill>
          <a:blip r:embed="rId13"/>
          <a:stretch>
            <a:fillRect/>
          </a:stretch>
        </p:blipFill>
        <p:spPr>
          <a:xfrm>
            <a:off x="685800" y="5596128"/>
            <a:ext cx="256032" cy="256032"/>
          </a:xfrm>
          <a:prstGeom prst="rect">
            <a:avLst/>
          </a:prstGeom>
        </p:spPr>
      </p:pic>
      <p:sp>
        <p:nvSpPr>
          <p:cNvPr id="38" name="Text 23"/>
          <p:cNvSpPr/>
          <p:nvPr/>
        </p:nvSpPr>
        <p:spPr>
          <a:xfrm>
            <a:off x="1078992" y="5340096"/>
            <a:ext cx="2743200" cy="786384"/>
          </a:xfrm>
          <a:prstGeom prst="rect">
            <a:avLst/>
          </a:prstGeom>
          <a:noFill/>
          <a:ln/>
        </p:spPr>
        <p:txBody>
          <a:bodyPr wrap="square" lIns="0" tIns="0" rIns="0" bIns="0" rtlCol="0" anchor="ctr"/>
          <a:lstStyle/>
          <a:p>
            <a:pPr algn="l" indent="0" marL="0">
              <a:lnSpc>
                <a:spcPct val="110000"/>
              </a:lnSpc>
              <a:buNone/>
            </a:pPr>
            <a:r>
              <a:rPr lang="en-US" sz="1500" b="1" dirty="0">
                <a:solidFill>
                  <a:srgbClr val="F2F3F5"/>
                </a:solidFill>
                <a:latin typeface="Segoe UI" pitchFamily="34" charset="0"/>
                <a:ea typeface="Segoe UI" pitchFamily="34" charset="-122"/>
                <a:cs typeface="Segoe UI" pitchFamily="34" charset="-120"/>
              </a:rPr>
              <a:t>Hands busy on the job</a:t>
            </a:r>
            <a:endParaRPr lang="en-US" sz="1500" dirty="0"/>
          </a:p>
        </p:txBody>
      </p:sp>
      <p:pic>
        <p:nvPicPr>
          <p:cNvPr id="39" name="Image 13" descr="preencoded.png">    </p:cNvPr>
          <p:cNvPicPr>
            <a:picLocks noChangeAspect="1"/>
          </p:cNvPicPr>
          <p:nvPr/>
        </p:nvPicPr>
        <p:blipFill>
          <a:blip r:embed="rId14"/>
          <a:stretch>
            <a:fillRect/>
          </a:stretch>
        </p:blipFill>
        <p:spPr>
          <a:xfrm>
            <a:off x="3703320" y="5614416"/>
            <a:ext cx="237744" cy="237744"/>
          </a:xfrm>
          <a:prstGeom prst="rect">
            <a:avLst/>
          </a:prstGeom>
        </p:spPr>
      </p:pic>
      <p:sp>
        <p:nvSpPr>
          <p:cNvPr id="40" name="Text 24"/>
          <p:cNvSpPr/>
          <p:nvPr/>
        </p:nvSpPr>
        <p:spPr>
          <a:xfrm>
            <a:off x="4160520" y="5340096"/>
            <a:ext cx="4983480" cy="786384"/>
          </a:xfrm>
          <a:prstGeom prst="rect">
            <a:avLst/>
          </a:prstGeom>
          <a:noFill/>
          <a:ln/>
        </p:spPr>
        <p:txBody>
          <a:bodyPr wrap="square" lIns="0" tIns="0" rIns="0" bIns="0" rtlCol="0" anchor="ctr"/>
          <a:lstStyle/>
          <a:p>
            <a:pPr algn="l" indent="0" marL="0">
              <a:lnSpc>
                <a:spcPct val="110000"/>
              </a:lnSpc>
              <a:buNone/>
            </a:pPr>
            <a:r>
              <a:rPr lang="en-US" sz="1350" dirty="0">
                <a:solidFill>
                  <a:srgbClr val="C9CED6"/>
                </a:solidFill>
                <a:latin typeface="Segoe UI" pitchFamily="34" charset="0"/>
                <a:ea typeface="Segoe UI" pitchFamily="34" charset="-122"/>
                <a:cs typeface="Segoe UI" pitchFamily="34" charset="-120"/>
              </a:rPr>
              <a:t>Voice and a heads-up display, nothing to hold</a:t>
            </a:r>
            <a:endParaRPr lang="en-US" sz="1350" dirty="0"/>
          </a:p>
        </p:txBody>
      </p:sp>
      <p:pic>
        <p:nvPicPr>
          <p:cNvPr id="41" name="Image 14" descr="preencoded.png">    </p:cNvPr>
          <p:cNvPicPr>
            <a:picLocks noChangeAspect="1"/>
          </p:cNvPicPr>
          <p:nvPr/>
        </p:nvPicPr>
        <p:blipFill>
          <a:blip r:embed="rId15"/>
          <a:stretch>
            <a:fillRect/>
          </a:stretch>
        </p:blipFill>
        <p:spPr>
          <a:xfrm>
            <a:off x="9372600" y="5614416"/>
            <a:ext cx="237744" cy="237744"/>
          </a:xfrm>
          <a:prstGeom prst="rect">
            <a:avLst/>
          </a:prstGeom>
        </p:spPr>
      </p:pic>
      <p:sp>
        <p:nvSpPr>
          <p:cNvPr id="42" name="Text 25"/>
          <p:cNvSpPr/>
          <p:nvPr/>
        </p:nvSpPr>
        <p:spPr>
          <a:xfrm>
            <a:off x="9710928" y="5340096"/>
            <a:ext cx="1828800" cy="786384"/>
          </a:xfrm>
          <a:prstGeom prst="rect">
            <a:avLst/>
          </a:prstGeom>
          <a:noFill/>
          <a:ln/>
        </p:spPr>
        <p:txBody>
          <a:bodyPr wrap="square" lIns="0" tIns="0" rIns="0" bIns="0" rtlCol="0" anchor="ctr"/>
          <a:lstStyle/>
          <a:p>
            <a:pPr algn="l" indent="0" marL="0">
              <a:lnSpc>
                <a:spcPct val="110000"/>
              </a:lnSpc>
              <a:buNone/>
            </a:pPr>
            <a:r>
              <a:rPr lang="en-US" sz="1350" b="1" dirty="0">
                <a:solidFill>
                  <a:srgbClr val="34D399"/>
                </a:solidFill>
                <a:latin typeface="Segoe UI" pitchFamily="34" charset="0"/>
                <a:ea typeface="Segoe UI" pitchFamily="34" charset="-122"/>
                <a:cs typeface="Segoe UI" pitchFamily="34" charset="-120"/>
              </a:rPr>
              <a:t>Eyes up, hands free</a:t>
            </a:r>
            <a:endParaRPr lang="en-US" sz="1350" dirty="0"/>
          </a:p>
        </p:txBody>
      </p:sp>
      <p:sp>
        <p:nvSpPr>
          <p:cNvPr id="43" name="Shape 26"/>
          <p:cNvSpPr/>
          <p:nvPr/>
        </p:nvSpPr>
        <p:spPr>
          <a:xfrm>
            <a:off x="685800" y="6126480"/>
            <a:ext cx="10817352" cy="0"/>
          </a:xfrm>
          <a:prstGeom prst="line">
            <a:avLst/>
          </a:prstGeom>
          <a:noFill/>
          <a:ln w="12700">
            <a:solidFill>
              <a:srgbClr val="262C35"/>
            </a:solidFill>
            <a:prstDash val="solid"/>
          </a:ln>
        </p:spPr>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80"/>
                </a:solidFill>
                <a:latin typeface="Segoe UI"/>
                <a:ea typeface="Segoe UI"/>
                <a:cs typeface="Segoe U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85800" y="649224"/>
            <a:ext cx="320040" cy="27432"/>
          </a:xfrm>
          <a:prstGeom prst="rect">
            <a:avLst/>
          </a:prstGeom>
          <a:solidFill>
            <a:srgbClr val="FFCD11"/>
          </a:solidFill>
          <a:ln w="12700">
            <a:solidFill>
              <a:srgbClr val="FFCD11"/>
            </a:solidFill>
            <a:prstDash val="solid"/>
          </a:ln>
        </p:spPr>
      </p:sp>
      <p:sp>
        <p:nvSpPr>
          <p:cNvPr id="3" name="Text 1"/>
          <p:cNvSpPr/>
          <p:nvPr/>
        </p:nvSpPr>
        <p:spPr>
          <a:xfrm>
            <a:off x="1115568" y="512064"/>
            <a:ext cx="7315200" cy="292608"/>
          </a:xfrm>
          <a:prstGeom prst="rect">
            <a:avLst/>
          </a:prstGeom>
          <a:noFill/>
          <a:ln/>
        </p:spPr>
        <p:txBody>
          <a:bodyPr wrap="square" lIns="0" tIns="0" rIns="0" bIns="0" rtlCol="0" anchor="ctr"/>
          <a:lstStyle/>
          <a:p>
            <a:pPr indent="0" marL="0">
              <a:buNone/>
            </a:pPr>
            <a:r>
              <a:rPr lang="en-US" sz="1100" b="1" spc="300" kern="0" dirty="0">
                <a:solidFill>
                  <a:srgbClr val="FFCD11"/>
                </a:solidFill>
                <a:latin typeface="Segoe UI" pitchFamily="34" charset="0"/>
                <a:ea typeface="Segoe UI" pitchFamily="34" charset="-122"/>
                <a:cs typeface="Segoe UI" pitchFamily="34" charset="-120"/>
              </a:rPr>
              <a:t>06   </a:t>
            </a:r>
            <a:pPr indent="0" marL="0">
              <a:buNone/>
            </a:pPr>
            <a:r>
              <a:rPr lang="en-US" sz="1100" b="1" spc="300" kern="0" dirty="0">
                <a:solidFill>
                  <a:srgbClr val="9AA3B0"/>
                </a:solidFill>
                <a:latin typeface="Segoe UI" pitchFamily="34" charset="0"/>
                <a:ea typeface="Segoe UI" pitchFamily="34" charset="-122"/>
                <a:cs typeface="Segoe UI" pitchFamily="34" charset="-120"/>
              </a:rPr>
              <a:t>HOW IT WORKS</a:t>
            </a:r>
            <a:endParaRPr lang="en-US" sz="1100" dirty="0"/>
          </a:p>
        </p:txBody>
      </p:sp>
      <p:sp>
        <p:nvSpPr>
          <p:cNvPr id="4" name="Text 2"/>
          <p:cNvSpPr/>
          <p:nvPr/>
        </p:nvSpPr>
        <p:spPr>
          <a:xfrm>
            <a:off x="685800" y="896112"/>
            <a:ext cx="10789920" cy="868680"/>
          </a:xfrm>
          <a:prstGeom prst="rect">
            <a:avLst/>
          </a:prstGeom>
          <a:noFill/>
          <a:ln/>
        </p:spPr>
        <p:txBody>
          <a:bodyPr wrap="square" lIns="0" tIns="0" rIns="0" bIns="0" rtlCol="0" anchor="t"/>
          <a:lstStyle/>
          <a:p>
            <a:pPr indent="0" marL="0">
              <a:lnSpc>
                <a:spcPct val="95000"/>
              </a:lnSpc>
              <a:buNone/>
            </a:pPr>
            <a:r>
              <a:rPr lang="en-US" sz="3200" b="1" dirty="0">
                <a:solidFill>
                  <a:srgbClr val="F2F3F5"/>
                </a:solidFill>
                <a:latin typeface="Segoe UI" pitchFamily="34" charset="0"/>
                <a:ea typeface="Segoe UI" pitchFamily="34" charset="-122"/>
                <a:cs typeface="Segoe UI" pitchFamily="34" charset="-120"/>
              </a:rPr>
              <a:t>A memory layer that</a:t>
            </a:r>
            <a:pPr indent="0" marL="0">
              <a:lnSpc>
                <a:spcPct val="95000"/>
              </a:lnSpc>
              <a:buNone/>
            </a:pPr>
            <a:r>
              <a:rPr lang="en-US" sz="3200" b="1" dirty="0">
                <a:solidFill>
                  <a:srgbClr val="FFCD11"/>
                </a:solidFill>
                <a:latin typeface="Segoe UI" pitchFamily="34" charset="0"/>
                <a:ea typeface="Segoe UI" pitchFamily="34" charset="-122"/>
                <a:cs typeface="Segoe UI" pitchFamily="34" charset="-120"/>
              </a:rPr>
              <a:t> learns from every repair.</a:t>
            </a:r>
            <a:endParaRPr lang="en-US" sz="3200" dirty="0"/>
          </a:p>
        </p:txBody>
      </p:sp>
      <p:sp>
        <p:nvSpPr>
          <p:cNvPr id="5" name="Text 3"/>
          <p:cNvSpPr/>
          <p:nvPr/>
        </p:nvSpPr>
        <p:spPr>
          <a:xfrm>
            <a:off x="685800" y="2011680"/>
            <a:ext cx="3657600" cy="228600"/>
          </a:xfrm>
          <a:prstGeom prst="rect">
            <a:avLst/>
          </a:prstGeom>
          <a:noFill/>
          <a:ln/>
        </p:spPr>
        <p:txBody>
          <a:bodyPr wrap="square" lIns="0" tIns="0" rIns="0" bIns="0" rtlCol="0" anchor="t"/>
          <a:lstStyle/>
          <a:p>
            <a:pPr algn="l" indent="0" marL="0">
              <a:lnSpc>
                <a:spcPct val="110000"/>
              </a:lnSpc>
              <a:buNone/>
            </a:pPr>
            <a:r>
              <a:rPr lang="en-US" sz="1000" b="1" spc="200" kern="0" dirty="0">
                <a:solidFill>
                  <a:srgbClr val="FFCD11"/>
                </a:solidFill>
                <a:latin typeface="Segoe UI" pitchFamily="34" charset="0"/>
                <a:ea typeface="Segoe UI" pitchFamily="34" charset="-122"/>
                <a:cs typeface="Segoe UI" pitchFamily="34" charset="-120"/>
              </a:rPr>
              <a:t>FIVE KINDS OF MEMORY</a:t>
            </a:r>
            <a:endParaRPr lang="en-US" sz="1000" dirty="0"/>
          </a:p>
        </p:txBody>
      </p:sp>
      <p:sp>
        <p:nvSpPr>
          <p:cNvPr id="6" name="Shape 4"/>
          <p:cNvSpPr/>
          <p:nvPr/>
        </p:nvSpPr>
        <p:spPr>
          <a:xfrm>
            <a:off x="713232" y="2468880"/>
            <a:ext cx="164592" cy="164592"/>
          </a:xfrm>
          <a:prstGeom prst="ellipse">
            <a:avLst/>
          </a:prstGeom>
          <a:solidFill>
            <a:srgbClr val="FFCD11"/>
          </a:solidFill>
          <a:ln w="12700">
            <a:solidFill>
              <a:srgbClr val="FFCD11"/>
            </a:solidFill>
            <a:prstDash val="solid"/>
          </a:ln>
        </p:spPr>
      </p:sp>
      <p:sp>
        <p:nvSpPr>
          <p:cNvPr id="7" name="Text 5"/>
          <p:cNvSpPr/>
          <p:nvPr/>
        </p:nvSpPr>
        <p:spPr>
          <a:xfrm>
            <a:off x="1024128" y="2377440"/>
            <a:ext cx="1371600" cy="365760"/>
          </a:xfrm>
          <a:prstGeom prst="rect">
            <a:avLst/>
          </a:prstGeom>
          <a:noFill/>
          <a:ln/>
        </p:spPr>
        <p:txBody>
          <a:bodyPr wrap="square" lIns="0" tIns="0" rIns="0" bIns="0" rtlCol="0" anchor="t"/>
          <a:lstStyle/>
          <a:p>
            <a:pPr algn="l" indent="0" marL="0">
              <a:lnSpc>
                <a:spcPct val="110000"/>
              </a:lnSpc>
              <a:buNone/>
            </a:pPr>
            <a:r>
              <a:rPr lang="en-US" sz="1500" b="1" dirty="0">
                <a:solidFill>
                  <a:srgbClr val="F2F3F5"/>
                </a:solidFill>
                <a:latin typeface="Segoe UI" pitchFamily="34" charset="0"/>
                <a:ea typeface="Segoe UI" pitchFamily="34" charset="-122"/>
                <a:cs typeface="Segoe UI" pitchFamily="34" charset="-120"/>
              </a:rPr>
              <a:t>Machine</a:t>
            </a:r>
            <a:endParaRPr lang="en-US" sz="1500" dirty="0"/>
          </a:p>
        </p:txBody>
      </p:sp>
      <p:sp>
        <p:nvSpPr>
          <p:cNvPr id="8" name="Text 6"/>
          <p:cNvSpPr/>
          <p:nvPr/>
        </p:nvSpPr>
        <p:spPr>
          <a:xfrm>
            <a:off x="2377440" y="2395728"/>
            <a:ext cx="3108960" cy="365760"/>
          </a:xfrm>
          <a:prstGeom prst="rect">
            <a:avLst/>
          </a:prstGeom>
          <a:noFill/>
          <a:ln/>
        </p:spPr>
        <p:txBody>
          <a:bodyPr wrap="square" lIns="0" tIns="0" rIns="0" bIns="0" rtlCol="0" anchor="t"/>
          <a:lstStyle/>
          <a:p>
            <a:pPr algn="l" indent="0" marL="0">
              <a:lnSpc>
                <a:spcPct val="110000"/>
              </a:lnSpc>
              <a:buNone/>
            </a:pPr>
            <a:r>
              <a:rPr lang="en-US" sz="1250" dirty="0">
                <a:solidFill>
                  <a:srgbClr val="9AA3B0"/>
                </a:solidFill>
                <a:latin typeface="Segoe UI" pitchFamily="34" charset="0"/>
                <a:ea typeface="Segoe UI" pitchFamily="34" charset="-122"/>
                <a:cs typeface="Segoe UI" pitchFamily="34" charset="-120"/>
              </a:rPr>
              <a:t>Permanent facts: model, hours, parts replaced</a:t>
            </a:r>
            <a:endParaRPr lang="en-US" sz="1250" dirty="0"/>
          </a:p>
        </p:txBody>
      </p:sp>
      <p:sp>
        <p:nvSpPr>
          <p:cNvPr id="9" name="Shape 7"/>
          <p:cNvSpPr/>
          <p:nvPr/>
        </p:nvSpPr>
        <p:spPr>
          <a:xfrm>
            <a:off x="713232" y="3072384"/>
            <a:ext cx="164592" cy="164592"/>
          </a:xfrm>
          <a:prstGeom prst="ellipse">
            <a:avLst/>
          </a:prstGeom>
          <a:solidFill>
            <a:srgbClr val="60A5FA"/>
          </a:solidFill>
          <a:ln w="12700">
            <a:solidFill>
              <a:srgbClr val="60A5FA"/>
            </a:solidFill>
            <a:prstDash val="solid"/>
          </a:ln>
        </p:spPr>
      </p:sp>
      <p:sp>
        <p:nvSpPr>
          <p:cNvPr id="10" name="Text 8"/>
          <p:cNvSpPr/>
          <p:nvPr/>
        </p:nvSpPr>
        <p:spPr>
          <a:xfrm>
            <a:off x="1024128" y="2980944"/>
            <a:ext cx="1371600" cy="365760"/>
          </a:xfrm>
          <a:prstGeom prst="rect">
            <a:avLst/>
          </a:prstGeom>
          <a:noFill/>
          <a:ln/>
        </p:spPr>
        <p:txBody>
          <a:bodyPr wrap="square" lIns="0" tIns="0" rIns="0" bIns="0" rtlCol="0" anchor="t"/>
          <a:lstStyle/>
          <a:p>
            <a:pPr algn="l" indent="0" marL="0">
              <a:lnSpc>
                <a:spcPct val="110000"/>
              </a:lnSpc>
              <a:buNone/>
            </a:pPr>
            <a:r>
              <a:rPr lang="en-US" sz="1500" b="1" dirty="0">
                <a:solidFill>
                  <a:srgbClr val="F2F3F5"/>
                </a:solidFill>
                <a:latin typeface="Segoe UI" pitchFamily="34" charset="0"/>
                <a:ea typeface="Segoe UI" pitchFamily="34" charset="-122"/>
                <a:cs typeface="Segoe UI" pitchFamily="34" charset="-120"/>
              </a:rPr>
              <a:t>Episodic</a:t>
            </a:r>
            <a:endParaRPr lang="en-US" sz="1500" dirty="0"/>
          </a:p>
        </p:txBody>
      </p:sp>
      <p:sp>
        <p:nvSpPr>
          <p:cNvPr id="11" name="Text 9"/>
          <p:cNvSpPr/>
          <p:nvPr/>
        </p:nvSpPr>
        <p:spPr>
          <a:xfrm>
            <a:off x="2377440" y="2999232"/>
            <a:ext cx="3108960" cy="365760"/>
          </a:xfrm>
          <a:prstGeom prst="rect">
            <a:avLst/>
          </a:prstGeom>
          <a:noFill/>
          <a:ln/>
        </p:spPr>
        <p:txBody>
          <a:bodyPr wrap="square" lIns="0" tIns="0" rIns="0" bIns="0" rtlCol="0" anchor="t"/>
          <a:lstStyle/>
          <a:p>
            <a:pPr algn="l" indent="0" marL="0">
              <a:lnSpc>
                <a:spcPct val="110000"/>
              </a:lnSpc>
              <a:buNone/>
            </a:pPr>
            <a:r>
              <a:rPr lang="en-US" sz="1250" dirty="0">
                <a:solidFill>
                  <a:srgbClr val="9AA3B0"/>
                </a:solidFill>
                <a:latin typeface="Segoe UI" pitchFamily="34" charset="0"/>
                <a:ea typeface="Segoe UI" pitchFamily="34" charset="-122"/>
                <a:cs typeface="Segoe UI" pitchFamily="34" charset="-120"/>
              </a:rPr>
              <a:t>Every fault, repair and inspection, in order</a:t>
            </a:r>
            <a:endParaRPr lang="en-US" sz="1250" dirty="0"/>
          </a:p>
        </p:txBody>
      </p:sp>
      <p:sp>
        <p:nvSpPr>
          <p:cNvPr id="12" name="Shape 10"/>
          <p:cNvSpPr/>
          <p:nvPr/>
        </p:nvSpPr>
        <p:spPr>
          <a:xfrm>
            <a:off x="713232" y="3675888"/>
            <a:ext cx="164592" cy="164592"/>
          </a:xfrm>
          <a:prstGeom prst="ellipse">
            <a:avLst/>
          </a:prstGeom>
          <a:solidFill>
            <a:srgbClr val="C084FC"/>
          </a:solidFill>
          <a:ln w="12700">
            <a:solidFill>
              <a:srgbClr val="C084FC"/>
            </a:solidFill>
            <a:prstDash val="solid"/>
          </a:ln>
        </p:spPr>
      </p:sp>
      <p:sp>
        <p:nvSpPr>
          <p:cNvPr id="13" name="Text 11"/>
          <p:cNvSpPr/>
          <p:nvPr/>
        </p:nvSpPr>
        <p:spPr>
          <a:xfrm>
            <a:off x="1024128" y="3584448"/>
            <a:ext cx="1371600" cy="365760"/>
          </a:xfrm>
          <a:prstGeom prst="rect">
            <a:avLst/>
          </a:prstGeom>
          <a:noFill/>
          <a:ln/>
        </p:spPr>
        <p:txBody>
          <a:bodyPr wrap="square" lIns="0" tIns="0" rIns="0" bIns="0" rtlCol="0" anchor="t"/>
          <a:lstStyle/>
          <a:p>
            <a:pPr algn="l" indent="0" marL="0">
              <a:lnSpc>
                <a:spcPct val="110000"/>
              </a:lnSpc>
              <a:buNone/>
            </a:pPr>
            <a:r>
              <a:rPr lang="en-US" sz="1500" b="1" dirty="0">
                <a:solidFill>
                  <a:srgbClr val="F2F3F5"/>
                </a:solidFill>
                <a:latin typeface="Segoe UI" pitchFamily="34" charset="0"/>
                <a:ea typeface="Segoe UI" pitchFamily="34" charset="-122"/>
                <a:cs typeface="Segoe UI" pitchFamily="34" charset="-120"/>
              </a:rPr>
              <a:t>Human</a:t>
            </a:r>
            <a:endParaRPr lang="en-US" sz="1500" dirty="0"/>
          </a:p>
        </p:txBody>
      </p:sp>
      <p:sp>
        <p:nvSpPr>
          <p:cNvPr id="14" name="Text 12"/>
          <p:cNvSpPr/>
          <p:nvPr/>
        </p:nvSpPr>
        <p:spPr>
          <a:xfrm>
            <a:off x="2377440" y="3602736"/>
            <a:ext cx="3108960" cy="365760"/>
          </a:xfrm>
          <a:prstGeom prst="rect">
            <a:avLst/>
          </a:prstGeom>
          <a:noFill/>
          <a:ln/>
        </p:spPr>
        <p:txBody>
          <a:bodyPr wrap="square" lIns="0" tIns="0" rIns="0" bIns="0" rtlCol="0" anchor="t"/>
          <a:lstStyle/>
          <a:p>
            <a:pPr algn="l" indent="0" marL="0">
              <a:lnSpc>
                <a:spcPct val="110000"/>
              </a:lnSpc>
              <a:buNone/>
            </a:pPr>
            <a:r>
              <a:rPr lang="en-US" sz="1250" dirty="0">
                <a:solidFill>
                  <a:srgbClr val="9AA3B0"/>
                </a:solidFill>
                <a:latin typeface="Segoe UI" pitchFamily="34" charset="0"/>
                <a:ea typeface="Segoe UI" pitchFamily="34" charset="-122"/>
                <a:cs typeface="Segoe UI" pitchFamily="34" charset="-120"/>
              </a:rPr>
              <a:t>Each technician's experience and language</a:t>
            </a:r>
            <a:endParaRPr lang="en-US" sz="1250" dirty="0"/>
          </a:p>
        </p:txBody>
      </p:sp>
      <p:sp>
        <p:nvSpPr>
          <p:cNvPr id="15" name="Shape 13"/>
          <p:cNvSpPr/>
          <p:nvPr/>
        </p:nvSpPr>
        <p:spPr>
          <a:xfrm>
            <a:off x="713232" y="4279392"/>
            <a:ext cx="164592" cy="164592"/>
          </a:xfrm>
          <a:prstGeom prst="ellipse">
            <a:avLst/>
          </a:prstGeom>
          <a:solidFill>
            <a:srgbClr val="94A3B8"/>
          </a:solidFill>
          <a:ln w="12700">
            <a:solidFill>
              <a:srgbClr val="94A3B8"/>
            </a:solidFill>
            <a:prstDash val="solid"/>
          </a:ln>
        </p:spPr>
      </p:sp>
      <p:sp>
        <p:nvSpPr>
          <p:cNvPr id="16" name="Text 14"/>
          <p:cNvSpPr/>
          <p:nvPr/>
        </p:nvSpPr>
        <p:spPr>
          <a:xfrm>
            <a:off x="1024128" y="4187952"/>
            <a:ext cx="1371600" cy="365760"/>
          </a:xfrm>
          <a:prstGeom prst="rect">
            <a:avLst/>
          </a:prstGeom>
          <a:noFill/>
          <a:ln/>
        </p:spPr>
        <p:txBody>
          <a:bodyPr wrap="square" lIns="0" tIns="0" rIns="0" bIns="0" rtlCol="0" anchor="t"/>
          <a:lstStyle/>
          <a:p>
            <a:pPr algn="l" indent="0" marL="0">
              <a:lnSpc>
                <a:spcPct val="110000"/>
              </a:lnSpc>
              <a:buNone/>
            </a:pPr>
            <a:r>
              <a:rPr lang="en-US" sz="1500" b="1" dirty="0">
                <a:solidFill>
                  <a:srgbClr val="F2F3F5"/>
                </a:solidFill>
                <a:latin typeface="Segoe UI" pitchFamily="34" charset="0"/>
                <a:ea typeface="Segoe UI" pitchFamily="34" charset="-122"/>
                <a:cs typeface="Segoe UI" pitchFamily="34" charset="-120"/>
              </a:rPr>
              <a:t>Procedural</a:t>
            </a:r>
            <a:endParaRPr lang="en-US" sz="1500" dirty="0"/>
          </a:p>
        </p:txBody>
      </p:sp>
      <p:sp>
        <p:nvSpPr>
          <p:cNvPr id="17" name="Text 15"/>
          <p:cNvSpPr/>
          <p:nvPr/>
        </p:nvSpPr>
        <p:spPr>
          <a:xfrm>
            <a:off x="2377440" y="4206240"/>
            <a:ext cx="3108960" cy="365760"/>
          </a:xfrm>
          <a:prstGeom prst="rect">
            <a:avLst/>
          </a:prstGeom>
          <a:noFill/>
          <a:ln/>
        </p:spPr>
        <p:txBody>
          <a:bodyPr wrap="square" lIns="0" tIns="0" rIns="0" bIns="0" rtlCol="0" anchor="t"/>
          <a:lstStyle/>
          <a:p>
            <a:pPr algn="l" indent="0" marL="0">
              <a:lnSpc>
                <a:spcPct val="110000"/>
              </a:lnSpc>
              <a:buNone/>
            </a:pPr>
            <a:r>
              <a:rPr lang="en-US" sz="1250" dirty="0">
                <a:solidFill>
                  <a:srgbClr val="9AA3B0"/>
                </a:solidFill>
                <a:latin typeface="Segoe UI" pitchFamily="34" charset="0"/>
                <a:ea typeface="Segoe UI" pitchFamily="34" charset="-122"/>
                <a:cs typeface="Segoe UI" pitchFamily="34" charset="-120"/>
              </a:rPr>
              <a:t>Repair steps, with the safety step first</a:t>
            </a:r>
            <a:endParaRPr lang="en-US" sz="1250" dirty="0"/>
          </a:p>
        </p:txBody>
      </p:sp>
      <p:sp>
        <p:nvSpPr>
          <p:cNvPr id="18" name="Shape 16"/>
          <p:cNvSpPr/>
          <p:nvPr/>
        </p:nvSpPr>
        <p:spPr>
          <a:xfrm>
            <a:off x="713232" y="4882896"/>
            <a:ext cx="164592" cy="164592"/>
          </a:xfrm>
          <a:prstGeom prst="ellipse">
            <a:avLst/>
          </a:prstGeom>
          <a:solidFill>
            <a:srgbClr val="34D399"/>
          </a:solidFill>
          <a:ln w="12700">
            <a:solidFill>
              <a:srgbClr val="34D399"/>
            </a:solidFill>
            <a:prstDash val="solid"/>
          </a:ln>
        </p:spPr>
      </p:sp>
      <p:sp>
        <p:nvSpPr>
          <p:cNvPr id="19" name="Text 17"/>
          <p:cNvSpPr/>
          <p:nvPr/>
        </p:nvSpPr>
        <p:spPr>
          <a:xfrm>
            <a:off x="1024128" y="4791456"/>
            <a:ext cx="1371600" cy="365760"/>
          </a:xfrm>
          <a:prstGeom prst="rect">
            <a:avLst/>
          </a:prstGeom>
          <a:noFill/>
          <a:ln/>
        </p:spPr>
        <p:txBody>
          <a:bodyPr wrap="square" lIns="0" tIns="0" rIns="0" bIns="0" rtlCol="0" anchor="t"/>
          <a:lstStyle/>
          <a:p>
            <a:pPr algn="l" indent="0" marL="0">
              <a:lnSpc>
                <a:spcPct val="110000"/>
              </a:lnSpc>
              <a:buNone/>
            </a:pPr>
            <a:r>
              <a:rPr lang="en-US" sz="1500" b="1" dirty="0">
                <a:solidFill>
                  <a:srgbClr val="F2F3F5"/>
                </a:solidFill>
                <a:latin typeface="Segoe UI" pitchFamily="34" charset="0"/>
                <a:ea typeface="Segoe UI" pitchFamily="34" charset="-122"/>
                <a:cs typeface="Segoe UI" pitchFamily="34" charset="-120"/>
              </a:rPr>
              <a:t>Fleet</a:t>
            </a:r>
            <a:endParaRPr lang="en-US" sz="1500" dirty="0"/>
          </a:p>
        </p:txBody>
      </p:sp>
      <p:sp>
        <p:nvSpPr>
          <p:cNvPr id="20" name="Text 18"/>
          <p:cNvSpPr/>
          <p:nvPr/>
        </p:nvSpPr>
        <p:spPr>
          <a:xfrm>
            <a:off x="2377440" y="4809744"/>
            <a:ext cx="3108960" cy="365760"/>
          </a:xfrm>
          <a:prstGeom prst="rect">
            <a:avLst/>
          </a:prstGeom>
          <a:noFill/>
          <a:ln/>
        </p:spPr>
        <p:txBody>
          <a:bodyPr wrap="square" lIns="0" tIns="0" rIns="0" bIns="0" rtlCol="0" anchor="t"/>
          <a:lstStyle/>
          <a:p>
            <a:pPr algn="l" indent="0" marL="0">
              <a:lnSpc>
                <a:spcPct val="110000"/>
              </a:lnSpc>
              <a:buNone/>
            </a:pPr>
            <a:r>
              <a:rPr lang="en-US" sz="1250" dirty="0">
                <a:solidFill>
                  <a:srgbClr val="9AA3B0"/>
                </a:solidFill>
                <a:latin typeface="Segoe UI" pitchFamily="34" charset="0"/>
                <a:ea typeface="Segoe UI" pitchFamily="34" charset="-122"/>
                <a:cs typeface="Segoe UI" pitchFamily="34" charset="-120"/>
              </a:rPr>
              <a:t>Patterns across every machine of a model</a:t>
            </a:r>
            <a:endParaRPr lang="en-US" sz="1250" dirty="0"/>
          </a:p>
        </p:txBody>
      </p:sp>
      <p:sp>
        <p:nvSpPr>
          <p:cNvPr id="21" name="Shape 19"/>
          <p:cNvSpPr/>
          <p:nvPr/>
        </p:nvSpPr>
        <p:spPr>
          <a:xfrm>
            <a:off x="5897880" y="2011680"/>
            <a:ext cx="5623560" cy="3203258"/>
          </a:xfrm>
          <a:prstGeom prst="roundRect">
            <a:avLst>
              <a:gd name="adj" fmla="val 2284"/>
            </a:avLst>
          </a:prstGeom>
          <a:solidFill>
            <a:srgbClr val="161A20"/>
          </a:solidFill>
          <a:ln w="15875">
            <a:solidFill>
              <a:srgbClr val="FFCD11"/>
            </a:solidFill>
            <a:prstDash val="solid"/>
          </a:ln>
        </p:spPr>
      </p:sp>
      <p:pic>
        <p:nvPicPr>
          <p:cNvPr id="22" name="Image 0" descr="C:\Users\aarav\Projects\cat-track\scripts\deck-assets\dashboard.png">    </p:cNvPr>
          <p:cNvPicPr>
            <a:picLocks noChangeAspect="1"/>
          </p:cNvPicPr>
          <p:nvPr/>
        </p:nvPicPr>
        <p:blipFill>
          <a:blip r:embed="rId1"/>
          <a:stretch>
            <a:fillRect/>
          </a:stretch>
        </p:blipFill>
        <p:spPr>
          <a:xfrm>
            <a:off x="5943600" y="2057400"/>
            <a:ext cx="5532120" cy="3111817"/>
          </a:xfrm>
          <a:prstGeom prst="rect">
            <a:avLst/>
          </a:prstGeom>
        </p:spPr>
      </p:pic>
      <p:sp>
        <p:nvSpPr>
          <p:cNvPr id="23" name="Text 20"/>
          <p:cNvSpPr/>
          <p:nvPr/>
        </p:nvSpPr>
        <p:spPr>
          <a:xfrm>
            <a:off x="5943600" y="5260657"/>
            <a:ext cx="5532120" cy="274320"/>
          </a:xfrm>
          <a:prstGeom prst="rect">
            <a:avLst/>
          </a:prstGeom>
          <a:noFill/>
          <a:ln/>
        </p:spPr>
        <p:txBody>
          <a:bodyPr wrap="square" lIns="0" tIns="0" rIns="0" bIns="0" rtlCol="0" anchor="t"/>
          <a:lstStyle/>
          <a:p>
            <a:pPr algn="l" indent="0" marL="0">
              <a:lnSpc>
                <a:spcPct val="110000"/>
              </a:lnSpc>
              <a:buNone/>
            </a:pPr>
            <a:r>
              <a:rPr lang="en-US" sz="1050" i="1" dirty="0">
                <a:solidFill>
                  <a:srgbClr val="6B7480"/>
                </a:solidFill>
                <a:latin typeface="Segoe UI" pitchFamily="34" charset="0"/>
                <a:ea typeface="Segoe UI" pitchFamily="34" charset="-122"/>
                <a:cs typeface="Segoe UI" pitchFamily="34" charset="-120"/>
              </a:rPr>
              <a:t>Live dashboard: yellow rings mark root causes found, dashed red lines mark parts ruled out</a:t>
            </a:r>
            <a:endParaRPr lang="en-US" sz="1050" dirty="0"/>
          </a:p>
        </p:txBody>
      </p:sp>
      <p:sp>
        <p:nvSpPr>
          <p:cNvPr id="24" name="Shape 21"/>
          <p:cNvSpPr/>
          <p:nvPr/>
        </p:nvSpPr>
        <p:spPr>
          <a:xfrm>
            <a:off x="685800" y="5596128"/>
            <a:ext cx="10817352" cy="548640"/>
          </a:xfrm>
          <a:prstGeom prst="roundRect">
            <a:avLst>
              <a:gd name="adj" fmla="val 20000"/>
            </a:avLst>
          </a:prstGeom>
          <a:solidFill>
            <a:srgbClr val="0B0D10"/>
          </a:solidFill>
          <a:ln w="12700">
            <a:solidFill>
              <a:srgbClr val="FFCD11"/>
            </a:solidFill>
            <a:prstDash val="solid"/>
          </a:ln>
        </p:spPr>
      </p:sp>
      <p:pic>
        <p:nvPicPr>
          <p:cNvPr id="25" name="Image 1" descr="preencoded.png">    </p:cNvPr>
          <p:cNvPicPr>
            <a:picLocks noChangeAspect="1"/>
          </p:cNvPicPr>
          <p:nvPr/>
        </p:nvPicPr>
        <p:blipFill>
          <a:blip r:embed="rId2"/>
          <a:stretch>
            <a:fillRect/>
          </a:stretch>
        </p:blipFill>
        <p:spPr>
          <a:xfrm>
            <a:off x="914400" y="5733288"/>
            <a:ext cx="274320" cy="274320"/>
          </a:xfrm>
          <a:prstGeom prst="rect">
            <a:avLst/>
          </a:prstGeom>
        </p:spPr>
      </p:pic>
      <p:sp>
        <p:nvSpPr>
          <p:cNvPr id="26" name="Text 22"/>
          <p:cNvSpPr/>
          <p:nvPr/>
        </p:nvSpPr>
        <p:spPr>
          <a:xfrm>
            <a:off x="1325880" y="5596128"/>
            <a:ext cx="10058400" cy="548640"/>
          </a:xfrm>
          <a:prstGeom prst="rect">
            <a:avLst/>
          </a:prstGeom>
          <a:noFill/>
          <a:ln/>
        </p:spPr>
        <p:txBody>
          <a:bodyPr wrap="square" lIns="0" tIns="0" rIns="0" bIns="0" rtlCol="0" anchor="ctr"/>
          <a:lstStyle/>
          <a:p>
            <a:pPr algn="l" indent="0" marL="0">
              <a:lnSpc>
                <a:spcPct val="110000"/>
              </a:lnSpc>
              <a:buNone/>
            </a:pPr>
            <a:r>
              <a:rPr lang="en-US" sz="1400" b="1" dirty="0">
                <a:solidFill>
                  <a:srgbClr val="F2F3F5"/>
                </a:solidFill>
                <a:latin typeface="Segoe UI" pitchFamily="34" charset="0"/>
                <a:ea typeface="Segoe UI" pitchFamily="34" charset="-122"/>
                <a:cs typeface="Segoe UI" pitchFamily="34" charset="-120"/>
              </a:rPr>
              <a:t>Ask  →  answer from memory  →  fix  →  log it by voice  →  machine and fleet learn  →  better answer next time</a:t>
            </a:r>
            <a:endParaRPr lang="en-US" sz="14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80"/>
                </a:solidFill>
                <a:latin typeface="Segoe UI"/>
                <a:ea typeface="Segoe UI"/>
                <a:cs typeface="Segoe U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85800" y="649224"/>
            <a:ext cx="320040" cy="27432"/>
          </a:xfrm>
          <a:prstGeom prst="rect">
            <a:avLst/>
          </a:prstGeom>
          <a:solidFill>
            <a:srgbClr val="FFCD11"/>
          </a:solidFill>
          <a:ln w="12700">
            <a:solidFill>
              <a:srgbClr val="FFCD11"/>
            </a:solidFill>
            <a:prstDash val="solid"/>
          </a:ln>
        </p:spPr>
      </p:sp>
      <p:sp>
        <p:nvSpPr>
          <p:cNvPr id="3" name="Text 1"/>
          <p:cNvSpPr/>
          <p:nvPr/>
        </p:nvSpPr>
        <p:spPr>
          <a:xfrm>
            <a:off x="1115568" y="512064"/>
            <a:ext cx="7315200" cy="292608"/>
          </a:xfrm>
          <a:prstGeom prst="rect">
            <a:avLst/>
          </a:prstGeom>
          <a:noFill/>
          <a:ln/>
        </p:spPr>
        <p:txBody>
          <a:bodyPr wrap="square" lIns="0" tIns="0" rIns="0" bIns="0" rtlCol="0" anchor="ctr"/>
          <a:lstStyle/>
          <a:p>
            <a:pPr indent="0" marL="0">
              <a:buNone/>
            </a:pPr>
            <a:r>
              <a:rPr lang="en-US" sz="1100" b="1" spc="300" kern="0" dirty="0">
                <a:solidFill>
                  <a:srgbClr val="FFCD11"/>
                </a:solidFill>
                <a:latin typeface="Segoe UI" pitchFamily="34" charset="0"/>
                <a:ea typeface="Segoe UI" pitchFamily="34" charset="-122"/>
                <a:cs typeface="Segoe UI" pitchFamily="34" charset="-120"/>
              </a:rPr>
              <a:t>07   </a:t>
            </a:r>
            <a:pPr indent="0" marL="0">
              <a:buNone/>
            </a:pPr>
            <a:r>
              <a:rPr lang="en-US" sz="1100" b="1" spc="300" kern="0" dirty="0">
                <a:solidFill>
                  <a:srgbClr val="9AA3B0"/>
                </a:solidFill>
                <a:latin typeface="Segoe UI" pitchFamily="34" charset="0"/>
                <a:ea typeface="Segoe UI" pitchFamily="34" charset="-122"/>
                <a:cs typeface="Segoe UI" pitchFamily="34" charset="-120"/>
              </a:rPr>
              <a:t>LIVE DEMO</a:t>
            </a:r>
            <a:endParaRPr lang="en-US" sz="1100" dirty="0"/>
          </a:p>
        </p:txBody>
      </p:sp>
      <p:sp>
        <p:nvSpPr>
          <p:cNvPr id="4" name="Text 2"/>
          <p:cNvSpPr/>
          <p:nvPr/>
        </p:nvSpPr>
        <p:spPr>
          <a:xfrm>
            <a:off x="685800" y="896112"/>
            <a:ext cx="10789920" cy="868680"/>
          </a:xfrm>
          <a:prstGeom prst="rect">
            <a:avLst/>
          </a:prstGeom>
          <a:noFill/>
          <a:ln/>
        </p:spPr>
        <p:txBody>
          <a:bodyPr wrap="square" lIns="0" tIns="0" rIns="0" bIns="0" rtlCol="0" anchor="t"/>
          <a:lstStyle/>
          <a:p>
            <a:pPr indent="0" marL="0">
              <a:lnSpc>
                <a:spcPct val="95000"/>
              </a:lnSpc>
              <a:buNone/>
            </a:pPr>
            <a:r>
              <a:rPr lang="en-US" sz="3200" b="1" dirty="0">
                <a:solidFill>
                  <a:srgbClr val="F2F3F5"/>
                </a:solidFill>
                <a:latin typeface="Segoe UI" pitchFamily="34" charset="0"/>
                <a:ea typeface="Segoe UI" pitchFamily="34" charset="-122"/>
                <a:cs typeface="Segoe UI" pitchFamily="34" charset="-120"/>
              </a:rPr>
              <a:t>See it in action.</a:t>
            </a:r>
            <a:endParaRPr lang="en-US" sz="3200" dirty="0"/>
          </a:p>
        </p:txBody>
      </p:sp>
      <p:sp>
        <p:nvSpPr>
          <p:cNvPr id="5" name="Shape 3"/>
          <p:cNvSpPr/>
          <p:nvPr/>
        </p:nvSpPr>
        <p:spPr>
          <a:xfrm>
            <a:off x="685800" y="1965960"/>
            <a:ext cx="3474720" cy="3246120"/>
          </a:xfrm>
          <a:prstGeom prst="roundRect">
            <a:avLst>
              <a:gd name="adj" fmla="val 3380"/>
            </a:avLst>
          </a:prstGeom>
          <a:solidFill>
            <a:srgbClr val="161A20"/>
          </a:solidFill>
          <a:ln w="12700">
            <a:solidFill>
              <a:srgbClr val="262C35"/>
            </a:solidFill>
            <a:prstDash val="solid"/>
          </a:ln>
        </p:spPr>
      </p:sp>
      <p:sp>
        <p:nvSpPr>
          <p:cNvPr id="6" name="Shape 4"/>
          <p:cNvSpPr/>
          <p:nvPr/>
        </p:nvSpPr>
        <p:spPr>
          <a:xfrm>
            <a:off x="960120" y="2240280"/>
            <a:ext cx="384048" cy="384048"/>
          </a:xfrm>
          <a:prstGeom prst="ellipse">
            <a:avLst/>
          </a:prstGeom>
          <a:solidFill>
            <a:srgbClr val="FFCD11"/>
          </a:solidFill>
          <a:ln w="12700">
            <a:solidFill>
              <a:srgbClr val="FFCD11"/>
            </a:solidFill>
            <a:prstDash val="solid"/>
          </a:ln>
        </p:spPr>
      </p:sp>
      <p:sp>
        <p:nvSpPr>
          <p:cNvPr id="7" name="Text 5"/>
          <p:cNvSpPr/>
          <p:nvPr/>
        </p:nvSpPr>
        <p:spPr>
          <a:xfrm>
            <a:off x="960120" y="2240280"/>
            <a:ext cx="384048" cy="384048"/>
          </a:xfrm>
          <a:prstGeom prst="rect">
            <a:avLst/>
          </a:prstGeom>
          <a:noFill/>
          <a:ln/>
        </p:spPr>
        <p:txBody>
          <a:bodyPr wrap="square" lIns="0" tIns="0" rIns="0" bIns="0" rtlCol="0" anchor="ctr"/>
          <a:lstStyle/>
          <a:p>
            <a:pPr algn="ctr" indent="0" marL="0">
              <a:lnSpc>
                <a:spcPct val="110000"/>
              </a:lnSpc>
              <a:buNone/>
            </a:pPr>
            <a:r>
              <a:rPr lang="en-US" sz="1400" b="1" dirty="0">
                <a:solidFill>
                  <a:srgbClr val="111111"/>
                </a:solidFill>
                <a:latin typeface="Segoe UI" pitchFamily="34" charset="0"/>
                <a:ea typeface="Segoe UI" pitchFamily="34" charset="-122"/>
                <a:cs typeface="Segoe UI" pitchFamily="34" charset="-120"/>
              </a:rPr>
              <a:t>1</a:t>
            </a:r>
            <a:endParaRPr lang="en-US" sz="1400" dirty="0"/>
          </a:p>
        </p:txBody>
      </p:sp>
      <p:pic>
        <p:nvPicPr>
          <p:cNvPr id="8" name="Image 0" descr="preencoded.png">    </p:cNvPr>
          <p:cNvPicPr>
            <a:picLocks noChangeAspect="1"/>
          </p:cNvPicPr>
          <p:nvPr/>
        </p:nvPicPr>
        <p:blipFill>
          <a:blip r:embed="rId1"/>
          <a:stretch>
            <a:fillRect/>
          </a:stretch>
        </p:blipFill>
        <p:spPr>
          <a:xfrm>
            <a:off x="3538728" y="2286000"/>
            <a:ext cx="310896" cy="310896"/>
          </a:xfrm>
          <a:prstGeom prst="rect">
            <a:avLst/>
          </a:prstGeom>
        </p:spPr>
      </p:pic>
      <p:sp>
        <p:nvSpPr>
          <p:cNvPr id="9" name="Text 6"/>
          <p:cNvSpPr/>
          <p:nvPr/>
        </p:nvSpPr>
        <p:spPr>
          <a:xfrm>
            <a:off x="960120" y="2788920"/>
            <a:ext cx="3017520" cy="365760"/>
          </a:xfrm>
          <a:prstGeom prst="rect">
            <a:avLst/>
          </a:prstGeom>
          <a:noFill/>
          <a:ln/>
        </p:spPr>
        <p:txBody>
          <a:bodyPr wrap="square" lIns="0" tIns="0" rIns="0" bIns="0" rtlCol="0" anchor="t"/>
          <a:lstStyle/>
          <a:p>
            <a:pPr algn="l" indent="0" marL="0">
              <a:lnSpc>
                <a:spcPct val="110000"/>
              </a:lnSpc>
              <a:buNone/>
            </a:pPr>
            <a:r>
              <a:rPr lang="en-US" sz="1900" b="1" dirty="0">
                <a:solidFill>
                  <a:srgbClr val="F2F3F5"/>
                </a:solidFill>
                <a:latin typeface="Segoe UI" pitchFamily="34" charset="0"/>
                <a:ea typeface="Segoe UI" pitchFamily="34" charset="-122"/>
                <a:cs typeface="Segoe UI" pitchFamily="34" charset="-120"/>
              </a:rPr>
              <a:t>Maya asks</a:t>
            </a:r>
            <a:endParaRPr lang="en-US" sz="1900" dirty="0"/>
          </a:p>
        </p:txBody>
      </p:sp>
      <p:sp>
        <p:nvSpPr>
          <p:cNvPr id="10" name="Text 7"/>
          <p:cNvSpPr/>
          <p:nvPr/>
        </p:nvSpPr>
        <p:spPr>
          <a:xfrm>
            <a:off x="960120" y="3200400"/>
            <a:ext cx="2971800" cy="685800"/>
          </a:xfrm>
          <a:prstGeom prst="rect">
            <a:avLst/>
          </a:prstGeom>
          <a:noFill/>
          <a:ln/>
        </p:spPr>
        <p:txBody>
          <a:bodyPr wrap="square" lIns="0" tIns="0" rIns="0" bIns="0" rtlCol="0" anchor="t"/>
          <a:lstStyle/>
          <a:p>
            <a:pPr algn="l" indent="0" marL="0">
              <a:lnSpc>
                <a:spcPct val="110000"/>
              </a:lnSpc>
              <a:buNone/>
            </a:pPr>
            <a:r>
              <a:rPr lang="en-US" sz="1400" i="1" dirty="0">
                <a:solidFill>
                  <a:srgbClr val="FFCD11"/>
                </a:solidFill>
                <a:latin typeface="Segoe UI" pitchFamily="34" charset="0"/>
                <a:ea typeface="Segoe UI" pitchFamily="34" charset="-122"/>
                <a:cs typeface="Segoe UI" pitchFamily="34" charset="-120"/>
              </a:rPr>
              <a:t>Boom is slow, code 217. Have we seen this before?</a:t>
            </a:r>
            <a:endParaRPr lang="en-US" sz="1400" dirty="0"/>
          </a:p>
        </p:txBody>
      </p:sp>
      <p:sp>
        <p:nvSpPr>
          <p:cNvPr id="11" name="Text 8"/>
          <p:cNvSpPr/>
          <p:nvPr/>
        </p:nvSpPr>
        <p:spPr>
          <a:xfrm>
            <a:off x="960120" y="3977640"/>
            <a:ext cx="2971800" cy="1097280"/>
          </a:xfrm>
          <a:prstGeom prst="rect">
            <a:avLst/>
          </a:prstGeom>
          <a:noFill/>
          <a:ln/>
        </p:spPr>
        <p:txBody>
          <a:bodyPr wrap="square" lIns="0" tIns="0" rIns="0" bIns="0" rtlCol="0" anchor="t"/>
          <a:lstStyle/>
          <a:p>
            <a:pPr algn="l" indent="0" marL="0">
              <a:lnSpc>
                <a:spcPct val="110000"/>
              </a:lnSpc>
              <a:buNone/>
            </a:pPr>
            <a:r>
              <a:rPr lang="en-US" sz="1300" dirty="0">
                <a:solidFill>
                  <a:srgbClr val="9AA3B0"/>
                </a:solidFill>
                <a:latin typeface="Segoe UI" pitchFamily="34" charset="0"/>
                <a:ea typeface="Segoe UI" pitchFamily="34" charset="-122"/>
                <a:cs typeface="Segoe UI" pitchFamily="34" charset="-120"/>
              </a:rPr>
              <a:t>Recalls this machine's history, warns that the valve was wrongly blamed last time, and lists safe steps.</a:t>
            </a:r>
            <a:endParaRPr lang="en-US" sz="1300" dirty="0"/>
          </a:p>
        </p:txBody>
      </p:sp>
      <p:sp>
        <p:nvSpPr>
          <p:cNvPr id="12" name="Shape 9"/>
          <p:cNvSpPr/>
          <p:nvPr/>
        </p:nvSpPr>
        <p:spPr>
          <a:xfrm>
            <a:off x="4357116" y="1965960"/>
            <a:ext cx="3474720" cy="3246120"/>
          </a:xfrm>
          <a:prstGeom prst="roundRect">
            <a:avLst>
              <a:gd name="adj" fmla="val 3380"/>
            </a:avLst>
          </a:prstGeom>
          <a:solidFill>
            <a:srgbClr val="161A20"/>
          </a:solidFill>
          <a:ln w="12700">
            <a:solidFill>
              <a:srgbClr val="262C35"/>
            </a:solidFill>
            <a:prstDash val="solid"/>
          </a:ln>
        </p:spPr>
      </p:sp>
      <p:sp>
        <p:nvSpPr>
          <p:cNvPr id="13" name="Shape 10"/>
          <p:cNvSpPr/>
          <p:nvPr/>
        </p:nvSpPr>
        <p:spPr>
          <a:xfrm>
            <a:off x="4631436" y="2240280"/>
            <a:ext cx="384048" cy="384048"/>
          </a:xfrm>
          <a:prstGeom prst="ellipse">
            <a:avLst/>
          </a:prstGeom>
          <a:solidFill>
            <a:srgbClr val="FFCD11"/>
          </a:solidFill>
          <a:ln w="12700">
            <a:solidFill>
              <a:srgbClr val="FFCD11"/>
            </a:solidFill>
            <a:prstDash val="solid"/>
          </a:ln>
        </p:spPr>
      </p:sp>
      <p:sp>
        <p:nvSpPr>
          <p:cNvPr id="14" name="Text 11"/>
          <p:cNvSpPr/>
          <p:nvPr/>
        </p:nvSpPr>
        <p:spPr>
          <a:xfrm>
            <a:off x="4631436" y="2240280"/>
            <a:ext cx="384048" cy="384048"/>
          </a:xfrm>
          <a:prstGeom prst="rect">
            <a:avLst/>
          </a:prstGeom>
          <a:noFill/>
          <a:ln/>
        </p:spPr>
        <p:txBody>
          <a:bodyPr wrap="square" lIns="0" tIns="0" rIns="0" bIns="0" rtlCol="0" anchor="ctr"/>
          <a:lstStyle/>
          <a:p>
            <a:pPr algn="ctr" indent="0" marL="0">
              <a:lnSpc>
                <a:spcPct val="110000"/>
              </a:lnSpc>
              <a:buNone/>
            </a:pPr>
            <a:r>
              <a:rPr lang="en-US" sz="1400" b="1" dirty="0">
                <a:solidFill>
                  <a:srgbClr val="111111"/>
                </a:solidFill>
                <a:latin typeface="Segoe UI" pitchFamily="34" charset="0"/>
                <a:ea typeface="Segoe UI" pitchFamily="34" charset="-122"/>
                <a:cs typeface="Segoe UI" pitchFamily="34" charset="-120"/>
              </a:rPr>
              <a:t>2</a:t>
            </a:r>
            <a:endParaRPr lang="en-US" sz="1400" dirty="0"/>
          </a:p>
        </p:txBody>
      </p:sp>
      <p:pic>
        <p:nvPicPr>
          <p:cNvPr id="15" name="Image 1" descr="preencoded.png">    </p:cNvPr>
          <p:cNvPicPr>
            <a:picLocks noChangeAspect="1"/>
          </p:cNvPicPr>
          <p:nvPr/>
        </p:nvPicPr>
        <p:blipFill>
          <a:blip r:embed="rId2"/>
          <a:stretch>
            <a:fillRect/>
          </a:stretch>
        </p:blipFill>
        <p:spPr>
          <a:xfrm>
            <a:off x="7210044" y="2286000"/>
            <a:ext cx="310896" cy="310896"/>
          </a:xfrm>
          <a:prstGeom prst="rect">
            <a:avLst/>
          </a:prstGeom>
        </p:spPr>
      </p:pic>
      <p:sp>
        <p:nvSpPr>
          <p:cNvPr id="16" name="Text 12"/>
          <p:cNvSpPr/>
          <p:nvPr/>
        </p:nvSpPr>
        <p:spPr>
          <a:xfrm>
            <a:off x="4631436" y="2788920"/>
            <a:ext cx="3017520" cy="365760"/>
          </a:xfrm>
          <a:prstGeom prst="rect">
            <a:avLst/>
          </a:prstGeom>
          <a:noFill/>
          <a:ln/>
        </p:spPr>
        <p:txBody>
          <a:bodyPr wrap="square" lIns="0" tIns="0" rIns="0" bIns="0" rtlCol="0" anchor="t"/>
          <a:lstStyle/>
          <a:p>
            <a:pPr algn="l" indent="0" marL="0">
              <a:lnSpc>
                <a:spcPct val="110000"/>
              </a:lnSpc>
              <a:buNone/>
            </a:pPr>
            <a:r>
              <a:rPr lang="en-US" sz="1900" b="1" dirty="0">
                <a:solidFill>
                  <a:srgbClr val="F2F3F5"/>
                </a:solidFill>
                <a:latin typeface="Segoe UI" pitchFamily="34" charset="0"/>
                <a:ea typeface="Segoe UI" pitchFamily="34" charset="-122"/>
                <a:cs typeface="Segoe UI" pitchFamily="34" charset="-120"/>
              </a:rPr>
              <a:t>Maya logs the fix</a:t>
            </a:r>
            <a:endParaRPr lang="en-US" sz="1900" dirty="0"/>
          </a:p>
        </p:txBody>
      </p:sp>
      <p:sp>
        <p:nvSpPr>
          <p:cNvPr id="17" name="Text 13"/>
          <p:cNvSpPr/>
          <p:nvPr/>
        </p:nvSpPr>
        <p:spPr>
          <a:xfrm>
            <a:off x="4631436" y="3200400"/>
            <a:ext cx="2971800" cy="685800"/>
          </a:xfrm>
          <a:prstGeom prst="rect">
            <a:avLst/>
          </a:prstGeom>
          <a:noFill/>
          <a:ln/>
        </p:spPr>
        <p:txBody>
          <a:bodyPr wrap="square" lIns="0" tIns="0" rIns="0" bIns="0" rtlCol="0" anchor="t"/>
          <a:lstStyle/>
          <a:p>
            <a:pPr algn="l" indent="0" marL="0">
              <a:lnSpc>
                <a:spcPct val="110000"/>
              </a:lnSpc>
              <a:buNone/>
            </a:pPr>
            <a:r>
              <a:rPr lang="en-US" sz="1400" i="1" dirty="0">
                <a:solidFill>
                  <a:srgbClr val="FFCD11"/>
                </a:solidFill>
                <a:latin typeface="Segoe UI" pitchFamily="34" charset="0"/>
                <a:ea typeface="Segoe UI" pitchFamily="34" charset="-122"/>
                <a:cs typeface="Segoe UI" pitchFamily="34" charset="-120"/>
              </a:rPr>
              <a:t>Sensor's fine. The line fitting was leaking. Replaced it.</a:t>
            </a:r>
            <a:endParaRPr lang="en-US" sz="1400" dirty="0"/>
          </a:p>
        </p:txBody>
      </p:sp>
      <p:sp>
        <p:nvSpPr>
          <p:cNvPr id="18" name="Text 14"/>
          <p:cNvSpPr/>
          <p:nvPr/>
        </p:nvSpPr>
        <p:spPr>
          <a:xfrm>
            <a:off x="4631436" y="3977640"/>
            <a:ext cx="2971800" cy="1097280"/>
          </a:xfrm>
          <a:prstGeom prst="rect">
            <a:avLst/>
          </a:prstGeom>
          <a:noFill/>
          <a:ln/>
        </p:spPr>
        <p:txBody>
          <a:bodyPr wrap="square" lIns="0" tIns="0" rIns="0" bIns="0" rtlCol="0" anchor="t"/>
          <a:lstStyle/>
          <a:p>
            <a:pPr algn="l" indent="0" marL="0">
              <a:lnSpc>
                <a:spcPct val="110000"/>
              </a:lnSpc>
              <a:buNone/>
            </a:pPr>
            <a:r>
              <a:rPr lang="en-US" sz="1300" dirty="0">
                <a:solidFill>
                  <a:srgbClr val="9AA3B0"/>
                </a:solidFill>
                <a:latin typeface="Segoe UI" pitchFamily="34" charset="0"/>
                <a:ea typeface="Segoe UI" pitchFamily="34" charset="-122"/>
                <a:cs typeface="Segoe UI" pitchFamily="34" charset="-120"/>
              </a:rPr>
              <a:t>The machine learns it was the fitting, and the fleet pattern updates live on the dashboard.</a:t>
            </a:r>
            <a:endParaRPr lang="en-US" sz="1300" dirty="0"/>
          </a:p>
        </p:txBody>
      </p:sp>
      <p:sp>
        <p:nvSpPr>
          <p:cNvPr id="19" name="Shape 15"/>
          <p:cNvSpPr/>
          <p:nvPr/>
        </p:nvSpPr>
        <p:spPr>
          <a:xfrm>
            <a:off x="8028432" y="1965960"/>
            <a:ext cx="3474720" cy="3246120"/>
          </a:xfrm>
          <a:prstGeom prst="roundRect">
            <a:avLst>
              <a:gd name="adj" fmla="val 3380"/>
            </a:avLst>
          </a:prstGeom>
          <a:solidFill>
            <a:srgbClr val="161A20"/>
          </a:solidFill>
          <a:ln w="12700">
            <a:solidFill>
              <a:srgbClr val="262C35"/>
            </a:solidFill>
            <a:prstDash val="solid"/>
          </a:ln>
        </p:spPr>
      </p:sp>
      <p:sp>
        <p:nvSpPr>
          <p:cNvPr id="20" name="Shape 16"/>
          <p:cNvSpPr/>
          <p:nvPr/>
        </p:nvSpPr>
        <p:spPr>
          <a:xfrm>
            <a:off x="8302752" y="2240280"/>
            <a:ext cx="384048" cy="384048"/>
          </a:xfrm>
          <a:prstGeom prst="ellipse">
            <a:avLst/>
          </a:prstGeom>
          <a:solidFill>
            <a:srgbClr val="FFCD11"/>
          </a:solidFill>
          <a:ln w="12700">
            <a:solidFill>
              <a:srgbClr val="FFCD11"/>
            </a:solidFill>
            <a:prstDash val="solid"/>
          </a:ln>
        </p:spPr>
      </p:sp>
      <p:sp>
        <p:nvSpPr>
          <p:cNvPr id="21" name="Text 17"/>
          <p:cNvSpPr/>
          <p:nvPr/>
        </p:nvSpPr>
        <p:spPr>
          <a:xfrm>
            <a:off x="8302752" y="2240280"/>
            <a:ext cx="384048" cy="384048"/>
          </a:xfrm>
          <a:prstGeom prst="rect">
            <a:avLst/>
          </a:prstGeom>
          <a:noFill/>
          <a:ln/>
        </p:spPr>
        <p:txBody>
          <a:bodyPr wrap="square" lIns="0" tIns="0" rIns="0" bIns="0" rtlCol="0" anchor="ctr"/>
          <a:lstStyle/>
          <a:p>
            <a:pPr algn="ctr" indent="0" marL="0">
              <a:lnSpc>
                <a:spcPct val="110000"/>
              </a:lnSpc>
              <a:buNone/>
            </a:pPr>
            <a:r>
              <a:rPr lang="en-US" sz="1400" b="1" dirty="0">
                <a:solidFill>
                  <a:srgbClr val="111111"/>
                </a:solidFill>
                <a:latin typeface="Segoe UI" pitchFamily="34" charset="0"/>
                <a:ea typeface="Segoe UI" pitchFamily="34" charset="-122"/>
                <a:cs typeface="Segoe UI" pitchFamily="34" charset="-120"/>
              </a:rPr>
              <a:t>3</a:t>
            </a:r>
            <a:endParaRPr lang="en-US" sz="1400" dirty="0"/>
          </a:p>
        </p:txBody>
      </p:sp>
      <p:pic>
        <p:nvPicPr>
          <p:cNvPr id="22" name="Image 2" descr="preencoded.png">    </p:cNvPr>
          <p:cNvPicPr>
            <a:picLocks noChangeAspect="1"/>
          </p:cNvPicPr>
          <p:nvPr/>
        </p:nvPicPr>
        <p:blipFill>
          <a:blip r:embed="rId3"/>
          <a:stretch>
            <a:fillRect/>
          </a:stretch>
        </p:blipFill>
        <p:spPr>
          <a:xfrm>
            <a:off x="10881360" y="2286000"/>
            <a:ext cx="310896" cy="310896"/>
          </a:xfrm>
          <a:prstGeom prst="rect">
            <a:avLst/>
          </a:prstGeom>
        </p:spPr>
      </p:pic>
      <p:sp>
        <p:nvSpPr>
          <p:cNvPr id="23" name="Text 18"/>
          <p:cNvSpPr/>
          <p:nvPr/>
        </p:nvSpPr>
        <p:spPr>
          <a:xfrm>
            <a:off x="8302752" y="2788920"/>
            <a:ext cx="3017520" cy="365760"/>
          </a:xfrm>
          <a:prstGeom prst="rect">
            <a:avLst/>
          </a:prstGeom>
          <a:noFill/>
          <a:ln/>
        </p:spPr>
        <p:txBody>
          <a:bodyPr wrap="square" lIns="0" tIns="0" rIns="0" bIns="0" rtlCol="0" anchor="t"/>
          <a:lstStyle/>
          <a:p>
            <a:pPr algn="l" indent="0" marL="0">
              <a:lnSpc>
                <a:spcPct val="110000"/>
              </a:lnSpc>
              <a:buNone/>
            </a:pPr>
            <a:r>
              <a:rPr lang="en-US" sz="1900" b="1" dirty="0">
                <a:solidFill>
                  <a:srgbClr val="F2F3F5"/>
                </a:solidFill>
                <a:latin typeface="Segoe UI" pitchFamily="34" charset="0"/>
                <a:ea typeface="Segoe UI" pitchFamily="34" charset="-122"/>
                <a:cs typeface="Segoe UI" pitchFamily="34" charset="-120"/>
              </a:rPr>
              <a:t>Luis asks in Spanish</a:t>
            </a:r>
            <a:endParaRPr lang="en-US" sz="1900" dirty="0"/>
          </a:p>
        </p:txBody>
      </p:sp>
      <p:sp>
        <p:nvSpPr>
          <p:cNvPr id="24" name="Text 19"/>
          <p:cNvSpPr/>
          <p:nvPr/>
        </p:nvSpPr>
        <p:spPr>
          <a:xfrm>
            <a:off x="8302752" y="3200400"/>
            <a:ext cx="2971800" cy="685800"/>
          </a:xfrm>
          <a:prstGeom prst="rect">
            <a:avLst/>
          </a:prstGeom>
          <a:noFill/>
          <a:ln/>
        </p:spPr>
        <p:txBody>
          <a:bodyPr wrap="square" lIns="0" tIns="0" rIns="0" bIns="0" rtlCol="0" anchor="t"/>
          <a:lstStyle/>
          <a:p>
            <a:pPr algn="l" indent="0" marL="0">
              <a:lnSpc>
                <a:spcPct val="110000"/>
              </a:lnSpc>
              <a:buNone/>
            </a:pPr>
            <a:r>
              <a:rPr lang="en-US" sz="1400" i="1" dirty="0">
                <a:solidFill>
                  <a:srgbClr val="FFCD11"/>
                </a:solidFill>
                <a:latin typeface="Segoe UI" pitchFamily="34" charset="0"/>
                <a:ea typeface="Segoe UI" pitchFamily="34" charset="-122"/>
                <a:cs typeface="Segoe UI" pitchFamily="34" charset="-120"/>
              </a:rPr>
              <a:t>¿Qué pasó la última vez con el código 217?</a:t>
            </a:r>
            <a:endParaRPr lang="en-US" sz="1400" dirty="0"/>
          </a:p>
        </p:txBody>
      </p:sp>
      <p:sp>
        <p:nvSpPr>
          <p:cNvPr id="25" name="Text 20"/>
          <p:cNvSpPr/>
          <p:nvPr/>
        </p:nvSpPr>
        <p:spPr>
          <a:xfrm>
            <a:off x="8302752" y="3977640"/>
            <a:ext cx="2971800" cy="1097280"/>
          </a:xfrm>
          <a:prstGeom prst="rect">
            <a:avLst/>
          </a:prstGeom>
          <a:noFill/>
          <a:ln/>
        </p:spPr>
        <p:txBody>
          <a:bodyPr wrap="square" lIns="0" tIns="0" rIns="0" bIns="0" rtlCol="0" anchor="t"/>
          <a:lstStyle/>
          <a:p>
            <a:pPr algn="l" indent="0" marL="0">
              <a:lnSpc>
                <a:spcPct val="110000"/>
              </a:lnSpc>
              <a:buNone/>
            </a:pPr>
            <a:r>
              <a:rPr lang="en-US" sz="1300" dirty="0">
                <a:solidFill>
                  <a:srgbClr val="9AA3B0"/>
                </a:solidFill>
                <a:latin typeface="Segoe UI" pitchFamily="34" charset="0"/>
                <a:ea typeface="Segoe UI" pitchFamily="34" charset="-122"/>
                <a:cs typeface="Segoe UI" pitchFamily="34" charset="-120"/>
              </a:rPr>
              <a:t>A full spoken answer in Spanish, built on the same shared memory, including Maya's fix.</a:t>
            </a:r>
            <a:endParaRPr lang="en-US" sz="1300" dirty="0"/>
          </a:p>
        </p:txBody>
      </p:sp>
      <p:sp>
        <p:nvSpPr>
          <p:cNvPr id="26" name="Shape 21"/>
          <p:cNvSpPr/>
          <p:nvPr/>
        </p:nvSpPr>
        <p:spPr>
          <a:xfrm>
            <a:off x="685800" y="5486400"/>
            <a:ext cx="457200" cy="457200"/>
          </a:xfrm>
          <a:prstGeom prst="roundRect">
            <a:avLst>
              <a:gd name="adj" fmla="val 20000"/>
            </a:avLst>
          </a:prstGeom>
          <a:solidFill>
            <a:srgbClr val="FFCD11">
              <a:alpha val="14000"/>
            </a:srgbClr>
          </a:solidFill>
          <a:ln w="9525">
            <a:solidFill>
              <a:srgbClr val="FFCD11">
                <a:alpha val="45000"/>
              </a:srgbClr>
            </a:solidFill>
            <a:prstDash val="solid"/>
          </a:ln>
        </p:spPr>
      </p:sp>
      <p:pic>
        <p:nvPicPr>
          <p:cNvPr id="27" name="Image 3" descr="preencoded.png">    </p:cNvPr>
          <p:cNvPicPr>
            <a:picLocks noChangeAspect="1"/>
          </p:cNvPicPr>
          <p:nvPr/>
        </p:nvPicPr>
        <p:blipFill>
          <a:blip r:embed="rId4"/>
          <a:stretch>
            <a:fillRect/>
          </a:stretch>
        </p:blipFill>
        <p:spPr>
          <a:xfrm>
            <a:off x="786384" y="5586984"/>
            <a:ext cx="256032" cy="256032"/>
          </a:xfrm>
          <a:prstGeom prst="rect">
            <a:avLst/>
          </a:prstGeom>
        </p:spPr>
      </p:pic>
      <p:sp>
        <p:nvSpPr>
          <p:cNvPr id="28" name="Text 22"/>
          <p:cNvSpPr/>
          <p:nvPr/>
        </p:nvSpPr>
        <p:spPr>
          <a:xfrm>
            <a:off x="1325880" y="5486400"/>
            <a:ext cx="8229600" cy="457200"/>
          </a:xfrm>
          <a:prstGeom prst="rect">
            <a:avLst/>
          </a:prstGeom>
          <a:noFill/>
          <a:ln/>
        </p:spPr>
        <p:txBody>
          <a:bodyPr wrap="square" lIns="0" tIns="0" rIns="0" bIns="0" rtlCol="0" anchor="ctr"/>
          <a:lstStyle/>
          <a:p>
            <a:pPr indent="0" marL="0">
              <a:buNone/>
            </a:pPr>
            <a:r>
              <a:rPr lang="en-US" sz="1500" b="1" dirty="0">
                <a:solidFill>
                  <a:srgbClr val="F2F3F5"/>
                </a:solidFill>
                <a:latin typeface="Segoe UI" pitchFamily="34" charset="0"/>
                <a:ea typeface="Segoe UI" pitchFamily="34" charset="-122"/>
                <a:cs typeface="Segoe UI" pitchFamily="34" charset="-120"/>
              </a:rPr>
              <a:t>Switch to the prototype:  </a:t>
            </a:r>
            <a:pPr indent="0" marL="0">
              <a:buNone/>
            </a:pPr>
            <a:r>
              <a:rPr lang="en-US" sz="1500" dirty="0">
                <a:solidFill>
                  <a:srgbClr val="9AA3B0"/>
                </a:solidFill>
                <a:latin typeface="Segoe UI" pitchFamily="34" charset="0"/>
                <a:ea typeface="Segoe UI" pitchFamily="34" charset="-122"/>
                <a:cs typeface="Segoe UI" pitchFamily="34" charset="-120"/>
              </a:rPr>
              <a:t>glasses view + live dashboard</a:t>
            </a:r>
            <a:endParaRPr lang="en-US" sz="15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80"/>
                </a:solidFill>
                <a:latin typeface="Segoe UI"/>
                <a:ea typeface="Segoe UI"/>
                <a:cs typeface="Segoe U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85800" y="649224"/>
            <a:ext cx="320040" cy="27432"/>
          </a:xfrm>
          <a:prstGeom prst="rect">
            <a:avLst/>
          </a:prstGeom>
          <a:solidFill>
            <a:srgbClr val="FFCD11"/>
          </a:solidFill>
          <a:ln w="12700">
            <a:solidFill>
              <a:srgbClr val="FFCD11"/>
            </a:solidFill>
            <a:prstDash val="solid"/>
          </a:ln>
        </p:spPr>
      </p:sp>
      <p:sp>
        <p:nvSpPr>
          <p:cNvPr id="3" name="Text 1"/>
          <p:cNvSpPr/>
          <p:nvPr/>
        </p:nvSpPr>
        <p:spPr>
          <a:xfrm>
            <a:off x="1115568" y="512064"/>
            <a:ext cx="7315200" cy="292608"/>
          </a:xfrm>
          <a:prstGeom prst="rect">
            <a:avLst/>
          </a:prstGeom>
          <a:noFill/>
          <a:ln/>
        </p:spPr>
        <p:txBody>
          <a:bodyPr wrap="square" lIns="0" tIns="0" rIns="0" bIns="0" rtlCol="0" anchor="ctr"/>
          <a:lstStyle/>
          <a:p>
            <a:pPr indent="0" marL="0">
              <a:buNone/>
            </a:pPr>
            <a:r>
              <a:rPr lang="en-US" sz="1100" b="1" spc="300" kern="0" dirty="0">
                <a:solidFill>
                  <a:srgbClr val="FFCD11"/>
                </a:solidFill>
                <a:latin typeface="Segoe UI" pitchFamily="34" charset="0"/>
                <a:ea typeface="Segoe UI" pitchFamily="34" charset="-122"/>
                <a:cs typeface="Segoe UI" pitchFamily="34" charset="-120"/>
              </a:rPr>
              <a:t>08   </a:t>
            </a:r>
            <a:pPr indent="0" marL="0">
              <a:buNone/>
            </a:pPr>
            <a:r>
              <a:rPr lang="en-US" sz="1100" b="1" spc="300" kern="0" dirty="0">
                <a:solidFill>
                  <a:srgbClr val="9AA3B0"/>
                </a:solidFill>
                <a:latin typeface="Segoe UI" pitchFamily="34" charset="0"/>
                <a:ea typeface="Segoe UI" pitchFamily="34" charset="-122"/>
                <a:cs typeface="Segoe UI" pitchFamily="34" charset="-120"/>
              </a:rPr>
              <a:t>SUCCESS CRITERIA</a:t>
            </a:r>
            <a:endParaRPr lang="en-US" sz="1100" dirty="0"/>
          </a:p>
        </p:txBody>
      </p:sp>
      <p:sp>
        <p:nvSpPr>
          <p:cNvPr id="4" name="Text 2"/>
          <p:cNvSpPr/>
          <p:nvPr/>
        </p:nvSpPr>
        <p:spPr>
          <a:xfrm>
            <a:off x="685800" y="896112"/>
            <a:ext cx="10789920" cy="868680"/>
          </a:xfrm>
          <a:prstGeom prst="rect">
            <a:avLst/>
          </a:prstGeom>
          <a:noFill/>
          <a:ln/>
        </p:spPr>
        <p:txBody>
          <a:bodyPr wrap="square" lIns="0" tIns="0" rIns="0" bIns="0" rtlCol="0" anchor="t"/>
          <a:lstStyle/>
          <a:p>
            <a:pPr indent="0" marL="0">
              <a:lnSpc>
                <a:spcPct val="95000"/>
              </a:lnSpc>
              <a:buNone/>
            </a:pPr>
            <a:r>
              <a:rPr lang="en-US" sz="3200" b="1" dirty="0">
                <a:solidFill>
                  <a:srgbClr val="F2F3F5"/>
                </a:solidFill>
                <a:latin typeface="Segoe UI" pitchFamily="34" charset="0"/>
                <a:ea typeface="Segoe UI" pitchFamily="34" charset="-122"/>
                <a:cs typeface="Segoe UI" pitchFamily="34" charset="-120"/>
              </a:rPr>
              <a:t>How we'll know it works.</a:t>
            </a:r>
            <a:endParaRPr lang="en-US" sz="3200" dirty="0"/>
          </a:p>
        </p:txBody>
      </p:sp>
      <p:sp>
        <p:nvSpPr>
          <p:cNvPr id="5" name="Shape 3"/>
          <p:cNvSpPr/>
          <p:nvPr/>
        </p:nvSpPr>
        <p:spPr>
          <a:xfrm>
            <a:off x="685800" y="1965960"/>
            <a:ext cx="5120640" cy="3520440"/>
          </a:xfrm>
          <a:prstGeom prst="roundRect">
            <a:avLst>
              <a:gd name="adj" fmla="val 3117"/>
            </a:avLst>
          </a:prstGeom>
          <a:solidFill>
            <a:srgbClr val="FFCD11">
              <a:alpha val="12000"/>
            </a:srgbClr>
          </a:solidFill>
          <a:ln w="12700">
            <a:solidFill>
              <a:srgbClr val="FFCD11"/>
            </a:solidFill>
            <a:prstDash val="solid"/>
          </a:ln>
        </p:spPr>
      </p:sp>
      <p:pic>
        <p:nvPicPr>
          <p:cNvPr id="6" name="Image 0" descr="preencoded.png">    </p:cNvPr>
          <p:cNvPicPr>
            <a:picLocks noChangeAspect="1"/>
          </p:cNvPicPr>
          <p:nvPr/>
        </p:nvPicPr>
        <p:blipFill>
          <a:blip r:embed="rId1"/>
          <a:stretch>
            <a:fillRect/>
          </a:stretch>
        </p:blipFill>
        <p:spPr>
          <a:xfrm>
            <a:off x="960120" y="2240280"/>
            <a:ext cx="329184" cy="329184"/>
          </a:xfrm>
          <a:prstGeom prst="rect">
            <a:avLst/>
          </a:prstGeom>
        </p:spPr>
      </p:pic>
      <p:sp>
        <p:nvSpPr>
          <p:cNvPr id="7" name="Text 4"/>
          <p:cNvSpPr/>
          <p:nvPr/>
        </p:nvSpPr>
        <p:spPr>
          <a:xfrm>
            <a:off x="1417320" y="2304288"/>
            <a:ext cx="3657600" cy="228600"/>
          </a:xfrm>
          <a:prstGeom prst="rect">
            <a:avLst/>
          </a:prstGeom>
          <a:noFill/>
          <a:ln/>
        </p:spPr>
        <p:txBody>
          <a:bodyPr wrap="square" lIns="0" tIns="0" rIns="0" bIns="0" rtlCol="0" anchor="t"/>
          <a:lstStyle/>
          <a:p>
            <a:pPr algn="l" indent="0" marL="0">
              <a:lnSpc>
                <a:spcPct val="110000"/>
              </a:lnSpc>
              <a:buNone/>
            </a:pPr>
            <a:r>
              <a:rPr lang="en-US" sz="1000" b="1" spc="200" kern="0" dirty="0">
                <a:solidFill>
                  <a:srgbClr val="FFCD11"/>
                </a:solidFill>
                <a:latin typeface="Segoe UI" pitchFamily="34" charset="0"/>
                <a:ea typeface="Segoe UI" pitchFamily="34" charset="-122"/>
                <a:cs typeface="Segoe UI" pitchFamily="34" charset="-120"/>
              </a:rPr>
              <a:t>OUR NORTH STAR</a:t>
            </a:r>
            <a:endParaRPr lang="en-US" sz="1000" dirty="0"/>
          </a:p>
        </p:txBody>
      </p:sp>
      <p:sp>
        <p:nvSpPr>
          <p:cNvPr id="8" name="Text 5"/>
          <p:cNvSpPr/>
          <p:nvPr/>
        </p:nvSpPr>
        <p:spPr>
          <a:xfrm>
            <a:off x="960120" y="2743200"/>
            <a:ext cx="4572000" cy="548640"/>
          </a:xfrm>
          <a:prstGeom prst="rect">
            <a:avLst/>
          </a:prstGeom>
          <a:noFill/>
          <a:ln/>
        </p:spPr>
        <p:txBody>
          <a:bodyPr wrap="square" lIns="0" tIns="0" rIns="0" bIns="0" rtlCol="0" anchor="t"/>
          <a:lstStyle/>
          <a:p>
            <a:pPr algn="l" indent="0" marL="0">
              <a:lnSpc>
                <a:spcPct val="110000"/>
              </a:lnSpc>
              <a:buNone/>
            </a:pPr>
            <a:r>
              <a:rPr lang="en-US" sz="2800" b="1" dirty="0">
                <a:solidFill>
                  <a:srgbClr val="F2F3F5"/>
                </a:solidFill>
                <a:latin typeface="Segoe UI" pitchFamily="34" charset="0"/>
                <a:ea typeface="Segoe UI" pitchFamily="34" charset="-122"/>
                <a:cs typeface="Segoe UI" pitchFamily="34" charset="-120"/>
              </a:rPr>
              <a:t>Fixed right the first time</a:t>
            </a:r>
            <a:endParaRPr lang="en-US" sz="2800" dirty="0"/>
          </a:p>
        </p:txBody>
      </p:sp>
      <p:sp>
        <p:nvSpPr>
          <p:cNvPr id="9" name="Text 6"/>
          <p:cNvSpPr/>
          <p:nvPr/>
        </p:nvSpPr>
        <p:spPr>
          <a:xfrm>
            <a:off x="960120" y="3364992"/>
            <a:ext cx="4572000" cy="822960"/>
          </a:xfrm>
          <a:prstGeom prst="rect">
            <a:avLst/>
          </a:prstGeom>
          <a:noFill/>
          <a:ln/>
        </p:spPr>
        <p:txBody>
          <a:bodyPr wrap="square" lIns="0" tIns="0" rIns="0" bIns="0" rtlCol="0" anchor="t"/>
          <a:lstStyle/>
          <a:p>
            <a:pPr algn="l" indent="0" marL="0">
              <a:lnSpc>
                <a:spcPct val="110000"/>
              </a:lnSpc>
              <a:buNone/>
            </a:pPr>
            <a:r>
              <a:rPr lang="en-US" sz="1400" dirty="0">
                <a:solidFill>
                  <a:srgbClr val="C9CED6"/>
                </a:solidFill>
                <a:latin typeface="Segoe UI" pitchFamily="34" charset="0"/>
                <a:ea typeface="Segoe UI" pitchFamily="34" charset="-122"/>
                <a:cs typeface="Segoe UI" pitchFamily="34" charset="-120"/>
              </a:rPr>
              <a:t>A new technician diagnoses and repairs an unfamiliar fault correctly on the first visit, and the problem doesn't come back.</a:t>
            </a:r>
            <a:endParaRPr lang="en-US" sz="1400" dirty="0"/>
          </a:p>
        </p:txBody>
      </p:sp>
      <p:sp>
        <p:nvSpPr>
          <p:cNvPr id="10" name="Shape 7"/>
          <p:cNvSpPr/>
          <p:nvPr/>
        </p:nvSpPr>
        <p:spPr>
          <a:xfrm>
            <a:off x="960120" y="4297680"/>
            <a:ext cx="4572000" cy="0"/>
          </a:xfrm>
          <a:prstGeom prst="line">
            <a:avLst/>
          </a:prstGeom>
          <a:noFill/>
          <a:ln w="9525">
            <a:solidFill>
              <a:srgbClr val="FFCD11">
                <a:alpha val="40000"/>
              </a:srgbClr>
            </a:solidFill>
            <a:prstDash val="solid"/>
          </a:ln>
        </p:spPr>
      </p:sp>
      <p:sp>
        <p:nvSpPr>
          <p:cNvPr id="11" name="Text 8"/>
          <p:cNvSpPr/>
          <p:nvPr/>
        </p:nvSpPr>
        <p:spPr>
          <a:xfrm>
            <a:off x="960120" y="4434840"/>
            <a:ext cx="4572000" cy="822960"/>
          </a:xfrm>
          <a:prstGeom prst="rect">
            <a:avLst/>
          </a:prstGeom>
          <a:noFill/>
          <a:ln/>
        </p:spPr>
        <p:txBody>
          <a:bodyPr wrap="square" lIns="0" tIns="0" rIns="0" bIns="0" rtlCol="0" anchor="t"/>
          <a:lstStyle/>
          <a:p>
            <a:pPr algn="l" indent="0" marL="0">
              <a:lnSpc>
                <a:spcPct val="110000"/>
              </a:lnSpc>
              <a:buNone/>
            </a:pPr>
            <a:r>
              <a:rPr lang="en-US" sz="1250" dirty="0">
                <a:solidFill>
                  <a:srgbClr val="9AA3B0"/>
                </a:solidFill>
                <a:latin typeface="Segoe UI" pitchFamily="34" charset="0"/>
                <a:ea typeface="Segoe UI" pitchFamily="34" charset="-122"/>
                <a:cs typeface="Segoe UI" pitchFamily="34" charset="-120"/>
              </a:rPr>
              <a:t>It only happens when the answer is fast, safe and correct, and it gets easier as the memory learns from every fix.</a:t>
            </a:r>
            <a:endParaRPr lang="en-US" sz="1250" dirty="0"/>
          </a:p>
        </p:txBody>
      </p:sp>
      <p:sp>
        <p:nvSpPr>
          <p:cNvPr id="12" name="Shape 9"/>
          <p:cNvSpPr/>
          <p:nvPr/>
        </p:nvSpPr>
        <p:spPr>
          <a:xfrm>
            <a:off x="6035040" y="1965960"/>
            <a:ext cx="5468112" cy="1691640"/>
          </a:xfrm>
          <a:prstGeom prst="roundRect">
            <a:avLst>
              <a:gd name="adj" fmla="val 6486"/>
            </a:avLst>
          </a:prstGeom>
          <a:solidFill>
            <a:srgbClr val="161A20"/>
          </a:solidFill>
          <a:ln w="12700">
            <a:solidFill>
              <a:srgbClr val="262C35"/>
            </a:solidFill>
            <a:prstDash val="solid"/>
          </a:ln>
        </p:spPr>
      </p:sp>
      <p:sp>
        <p:nvSpPr>
          <p:cNvPr id="13" name="Shape 10"/>
          <p:cNvSpPr/>
          <p:nvPr/>
        </p:nvSpPr>
        <p:spPr>
          <a:xfrm>
            <a:off x="6309360" y="2240280"/>
            <a:ext cx="512064" cy="512064"/>
          </a:xfrm>
          <a:prstGeom prst="roundRect">
            <a:avLst>
              <a:gd name="adj" fmla="val 17857"/>
            </a:avLst>
          </a:prstGeom>
          <a:solidFill>
            <a:srgbClr val="34D399">
              <a:alpha val="14000"/>
            </a:srgbClr>
          </a:solidFill>
          <a:ln w="9525">
            <a:solidFill>
              <a:srgbClr val="34D399">
                <a:alpha val="45000"/>
              </a:srgbClr>
            </a:solidFill>
            <a:prstDash val="solid"/>
          </a:ln>
        </p:spPr>
      </p:sp>
      <p:pic>
        <p:nvPicPr>
          <p:cNvPr id="14" name="Image 1" descr="preencoded.png">    </p:cNvPr>
          <p:cNvPicPr>
            <a:picLocks noChangeAspect="1"/>
          </p:cNvPicPr>
          <p:nvPr/>
        </p:nvPicPr>
        <p:blipFill>
          <a:blip r:embed="rId2"/>
          <a:stretch>
            <a:fillRect/>
          </a:stretch>
        </p:blipFill>
        <p:spPr>
          <a:xfrm>
            <a:off x="6422014" y="2352934"/>
            <a:ext cx="286756" cy="286756"/>
          </a:xfrm>
          <a:prstGeom prst="rect">
            <a:avLst/>
          </a:prstGeom>
        </p:spPr>
      </p:pic>
      <p:sp>
        <p:nvSpPr>
          <p:cNvPr id="15" name="Text 11"/>
          <p:cNvSpPr/>
          <p:nvPr/>
        </p:nvSpPr>
        <p:spPr>
          <a:xfrm>
            <a:off x="7040880" y="2240280"/>
            <a:ext cx="4206240" cy="228600"/>
          </a:xfrm>
          <a:prstGeom prst="rect">
            <a:avLst/>
          </a:prstGeom>
          <a:noFill/>
          <a:ln/>
        </p:spPr>
        <p:txBody>
          <a:bodyPr wrap="square" lIns="0" tIns="0" rIns="0" bIns="0" rtlCol="0" anchor="t"/>
          <a:lstStyle/>
          <a:p>
            <a:pPr algn="l" indent="0" marL="0">
              <a:lnSpc>
                <a:spcPct val="110000"/>
              </a:lnSpc>
              <a:buNone/>
            </a:pPr>
            <a:r>
              <a:rPr lang="en-US" sz="1000" b="1" spc="200" kern="0" dirty="0">
                <a:solidFill>
                  <a:srgbClr val="FFCD11"/>
                </a:solidFill>
                <a:latin typeface="Segoe UI" pitchFamily="34" charset="0"/>
                <a:ea typeface="Segoe UI" pitchFamily="34" charset="-122"/>
                <a:cs typeface="Segoe UI" pitchFamily="34" charset="-120"/>
              </a:rPr>
              <a:t>SAFETY</a:t>
            </a:r>
            <a:endParaRPr lang="en-US" sz="1000" dirty="0"/>
          </a:p>
        </p:txBody>
      </p:sp>
      <p:sp>
        <p:nvSpPr>
          <p:cNvPr id="16" name="Text 12"/>
          <p:cNvSpPr/>
          <p:nvPr/>
        </p:nvSpPr>
        <p:spPr>
          <a:xfrm>
            <a:off x="7040880" y="2496312"/>
            <a:ext cx="4297680" cy="365760"/>
          </a:xfrm>
          <a:prstGeom prst="rect">
            <a:avLst/>
          </a:prstGeom>
          <a:noFill/>
          <a:ln/>
        </p:spPr>
        <p:txBody>
          <a:bodyPr wrap="square" lIns="0" tIns="0" rIns="0" bIns="0" rtlCol="0" anchor="t"/>
          <a:lstStyle/>
          <a:p>
            <a:pPr algn="l" indent="0" marL="0">
              <a:lnSpc>
                <a:spcPct val="110000"/>
              </a:lnSpc>
              <a:buNone/>
            </a:pPr>
            <a:r>
              <a:rPr lang="en-US" sz="1700" b="1" dirty="0">
                <a:solidFill>
                  <a:srgbClr val="F2F3F5"/>
                </a:solidFill>
                <a:latin typeface="Segoe UI" pitchFamily="34" charset="0"/>
                <a:ea typeface="Segoe UI" pitchFamily="34" charset="-122"/>
                <a:cs typeface="Segoe UI" pitchFamily="34" charset="-120"/>
              </a:rPr>
              <a:t>Every repair starts safe</a:t>
            </a:r>
            <a:endParaRPr lang="en-US" sz="1700" dirty="0"/>
          </a:p>
        </p:txBody>
      </p:sp>
      <p:sp>
        <p:nvSpPr>
          <p:cNvPr id="17" name="Text 13"/>
          <p:cNvSpPr/>
          <p:nvPr/>
        </p:nvSpPr>
        <p:spPr>
          <a:xfrm>
            <a:off x="7040880" y="2898648"/>
            <a:ext cx="4297680" cy="640080"/>
          </a:xfrm>
          <a:prstGeom prst="rect">
            <a:avLst/>
          </a:prstGeom>
          <a:noFill/>
          <a:ln/>
        </p:spPr>
        <p:txBody>
          <a:bodyPr wrap="square" lIns="0" tIns="0" rIns="0" bIns="0" rtlCol="0" anchor="t"/>
          <a:lstStyle/>
          <a:p>
            <a:pPr algn="l" indent="0" marL="0">
              <a:lnSpc>
                <a:spcPct val="110000"/>
              </a:lnSpc>
              <a:buNone/>
            </a:pPr>
            <a:r>
              <a:rPr lang="en-US" sz="1250" dirty="0">
                <a:solidFill>
                  <a:srgbClr val="C9CED6"/>
                </a:solidFill>
                <a:latin typeface="Segoe UI" pitchFamily="34" charset="0"/>
                <a:ea typeface="Segoe UI" pitchFamily="34" charset="-122"/>
                <a:cs typeface="Segoe UI" pitchFamily="34" charset="-120"/>
              </a:rPr>
              <a:t>The safety step comes first on every job, explained in the technician's own language.</a:t>
            </a:r>
            <a:endParaRPr lang="en-US" sz="1250" dirty="0"/>
          </a:p>
        </p:txBody>
      </p:sp>
      <p:sp>
        <p:nvSpPr>
          <p:cNvPr id="18" name="Shape 14"/>
          <p:cNvSpPr/>
          <p:nvPr/>
        </p:nvSpPr>
        <p:spPr>
          <a:xfrm>
            <a:off x="6035040" y="3776472"/>
            <a:ext cx="5468112" cy="1691640"/>
          </a:xfrm>
          <a:prstGeom prst="roundRect">
            <a:avLst>
              <a:gd name="adj" fmla="val 6486"/>
            </a:avLst>
          </a:prstGeom>
          <a:solidFill>
            <a:srgbClr val="161A20"/>
          </a:solidFill>
          <a:ln w="12700">
            <a:solidFill>
              <a:srgbClr val="262C35"/>
            </a:solidFill>
            <a:prstDash val="solid"/>
          </a:ln>
        </p:spPr>
      </p:sp>
      <p:sp>
        <p:nvSpPr>
          <p:cNvPr id="19" name="Shape 15"/>
          <p:cNvSpPr/>
          <p:nvPr/>
        </p:nvSpPr>
        <p:spPr>
          <a:xfrm>
            <a:off x="6309360" y="4050792"/>
            <a:ext cx="512064" cy="512064"/>
          </a:xfrm>
          <a:prstGeom prst="roundRect">
            <a:avLst>
              <a:gd name="adj" fmla="val 17857"/>
            </a:avLst>
          </a:prstGeom>
          <a:solidFill>
            <a:srgbClr val="34D399">
              <a:alpha val="14000"/>
            </a:srgbClr>
          </a:solidFill>
          <a:ln w="9525">
            <a:solidFill>
              <a:srgbClr val="34D399">
                <a:alpha val="45000"/>
              </a:srgbClr>
            </a:solidFill>
            <a:prstDash val="solid"/>
          </a:ln>
        </p:spPr>
      </p:sp>
      <p:pic>
        <p:nvPicPr>
          <p:cNvPr id="20" name="Image 2" descr="preencoded.png">    </p:cNvPr>
          <p:cNvPicPr>
            <a:picLocks noChangeAspect="1"/>
          </p:cNvPicPr>
          <p:nvPr/>
        </p:nvPicPr>
        <p:blipFill>
          <a:blip r:embed="rId3"/>
          <a:stretch>
            <a:fillRect/>
          </a:stretch>
        </p:blipFill>
        <p:spPr>
          <a:xfrm>
            <a:off x="6422014" y="4163446"/>
            <a:ext cx="286756" cy="286756"/>
          </a:xfrm>
          <a:prstGeom prst="rect">
            <a:avLst/>
          </a:prstGeom>
        </p:spPr>
      </p:pic>
      <p:sp>
        <p:nvSpPr>
          <p:cNvPr id="21" name="Text 16"/>
          <p:cNvSpPr/>
          <p:nvPr/>
        </p:nvSpPr>
        <p:spPr>
          <a:xfrm>
            <a:off x="7040880" y="4050792"/>
            <a:ext cx="4206240" cy="228600"/>
          </a:xfrm>
          <a:prstGeom prst="rect">
            <a:avLst/>
          </a:prstGeom>
          <a:noFill/>
          <a:ln/>
        </p:spPr>
        <p:txBody>
          <a:bodyPr wrap="square" lIns="0" tIns="0" rIns="0" bIns="0" rtlCol="0" anchor="t"/>
          <a:lstStyle/>
          <a:p>
            <a:pPr algn="l" indent="0" marL="0">
              <a:lnSpc>
                <a:spcPct val="110000"/>
              </a:lnSpc>
              <a:buNone/>
            </a:pPr>
            <a:r>
              <a:rPr lang="en-US" sz="1000" b="1" spc="200" kern="0" dirty="0">
                <a:solidFill>
                  <a:srgbClr val="FFCD11"/>
                </a:solidFill>
                <a:latin typeface="Segoe UI" pitchFamily="34" charset="0"/>
                <a:ea typeface="Segoe UI" pitchFamily="34" charset="-122"/>
                <a:cs typeface="Segoe UI" pitchFamily="34" charset="-120"/>
              </a:rPr>
              <a:t>INDEPENDENCE</a:t>
            </a:r>
            <a:endParaRPr lang="en-US" sz="1000" dirty="0"/>
          </a:p>
        </p:txBody>
      </p:sp>
      <p:sp>
        <p:nvSpPr>
          <p:cNvPr id="22" name="Text 17"/>
          <p:cNvSpPr/>
          <p:nvPr/>
        </p:nvSpPr>
        <p:spPr>
          <a:xfrm>
            <a:off x="7040880" y="4306824"/>
            <a:ext cx="4297680" cy="365760"/>
          </a:xfrm>
          <a:prstGeom prst="rect">
            <a:avLst/>
          </a:prstGeom>
          <a:noFill/>
          <a:ln/>
        </p:spPr>
        <p:txBody>
          <a:bodyPr wrap="square" lIns="0" tIns="0" rIns="0" bIns="0" rtlCol="0" anchor="t"/>
          <a:lstStyle/>
          <a:p>
            <a:pPr algn="l" indent="0" marL="0">
              <a:lnSpc>
                <a:spcPct val="110000"/>
              </a:lnSpc>
              <a:buNone/>
            </a:pPr>
            <a:r>
              <a:rPr lang="en-US" sz="1700" b="1" dirty="0">
                <a:solidFill>
                  <a:srgbClr val="F2F3F5"/>
                </a:solidFill>
                <a:latin typeface="Segoe UI" pitchFamily="34" charset="0"/>
                <a:ea typeface="Segoe UI" pitchFamily="34" charset="-122"/>
                <a:cs typeface="Segoe UI" pitchFamily="34" charset="-120"/>
              </a:rPr>
              <a:t>New techs work on their own sooner</a:t>
            </a:r>
            <a:endParaRPr lang="en-US" sz="1700" dirty="0"/>
          </a:p>
        </p:txBody>
      </p:sp>
      <p:sp>
        <p:nvSpPr>
          <p:cNvPr id="23" name="Text 18"/>
          <p:cNvSpPr/>
          <p:nvPr/>
        </p:nvSpPr>
        <p:spPr>
          <a:xfrm>
            <a:off x="7040880" y="4709160"/>
            <a:ext cx="4297680" cy="640080"/>
          </a:xfrm>
          <a:prstGeom prst="rect">
            <a:avLst/>
          </a:prstGeom>
          <a:noFill/>
          <a:ln/>
        </p:spPr>
        <p:txBody>
          <a:bodyPr wrap="square" lIns="0" tIns="0" rIns="0" bIns="0" rtlCol="0" anchor="t"/>
          <a:lstStyle/>
          <a:p>
            <a:pPr algn="l" indent="0" marL="0">
              <a:lnSpc>
                <a:spcPct val="110000"/>
              </a:lnSpc>
              <a:buNone/>
            </a:pPr>
            <a:r>
              <a:rPr lang="en-US" sz="1250" dirty="0">
                <a:solidFill>
                  <a:srgbClr val="C9CED6"/>
                </a:solidFill>
                <a:latin typeface="Segoe UI" pitchFamily="34" charset="0"/>
                <a:ea typeface="Segoe UI" pitchFamily="34" charset="-122"/>
                <a:cs typeface="Segoe UI" pitchFamily="34" charset="-120"/>
              </a:rPr>
              <a:t>They get answers from the machine's memory instead of waiting for a senior tech or digging through manuals.</a:t>
            </a:r>
            <a:endParaRPr lang="en-US" sz="1250" dirty="0"/>
          </a:p>
        </p:txBody>
      </p:sp>
      <p:sp>
        <p:nvSpPr>
          <p:cNvPr id="24" name="Text 19"/>
          <p:cNvSpPr/>
          <p:nvPr/>
        </p:nvSpPr>
        <p:spPr>
          <a:xfrm>
            <a:off x="685800" y="5669280"/>
            <a:ext cx="10789920" cy="365760"/>
          </a:xfrm>
          <a:prstGeom prst="rect">
            <a:avLst/>
          </a:prstGeom>
          <a:noFill/>
          <a:ln/>
        </p:spPr>
        <p:txBody>
          <a:bodyPr wrap="square" lIns="0" tIns="0" rIns="0" bIns="0" rtlCol="0" anchor="ctr"/>
          <a:lstStyle/>
          <a:p>
            <a:pPr indent="0" marL="0">
              <a:buNone/>
            </a:pPr>
            <a:r>
              <a:rPr lang="en-US" sz="1000" b="1" spc="200" kern="0" dirty="0">
                <a:solidFill>
                  <a:srgbClr val="FFCD11"/>
                </a:solidFill>
                <a:latin typeface="Segoe UI" pitchFamily="34" charset="0"/>
                <a:ea typeface="Segoe UI" pitchFamily="34" charset="-122"/>
                <a:cs typeface="Segoe UI" pitchFamily="34" charset="-120"/>
              </a:rPr>
              <a:t>HOW WE'LL MEASURE IT   </a:t>
            </a:r>
            <a:pPr indent="0" marL="0">
              <a:buNone/>
            </a:pPr>
            <a:r>
              <a:rPr lang="en-US" sz="1250" dirty="0">
                <a:solidFill>
                  <a:srgbClr val="C9CED6"/>
                </a:solidFill>
                <a:latin typeface="Segoe UI" pitchFamily="34" charset="0"/>
                <a:ea typeface="Segoe UI" pitchFamily="34" charset="-122"/>
                <a:cs typeface="Segoe UI" pitchFamily="34" charset="-120"/>
              </a:rPr>
              <a:t>In a pilot, comparing new technicians who use DéjàView with those who don't</a:t>
            </a:r>
            <a:endParaRPr lang="en-US" sz="10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80"/>
                </a:solidFill>
                <a:latin typeface="Segoe UI"/>
                <a:ea typeface="Segoe UI"/>
                <a:cs typeface="Segoe U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85800" y="649224"/>
            <a:ext cx="320040" cy="27432"/>
          </a:xfrm>
          <a:prstGeom prst="rect">
            <a:avLst/>
          </a:prstGeom>
          <a:solidFill>
            <a:srgbClr val="FFCD11"/>
          </a:solidFill>
          <a:ln w="12700">
            <a:solidFill>
              <a:srgbClr val="FFCD11"/>
            </a:solidFill>
            <a:prstDash val="solid"/>
          </a:ln>
        </p:spPr>
      </p:sp>
      <p:sp>
        <p:nvSpPr>
          <p:cNvPr id="3" name="Text 1"/>
          <p:cNvSpPr/>
          <p:nvPr/>
        </p:nvSpPr>
        <p:spPr>
          <a:xfrm>
            <a:off x="1115568" y="512064"/>
            <a:ext cx="7315200" cy="292608"/>
          </a:xfrm>
          <a:prstGeom prst="rect">
            <a:avLst/>
          </a:prstGeom>
          <a:noFill/>
          <a:ln/>
        </p:spPr>
        <p:txBody>
          <a:bodyPr wrap="square" lIns="0" tIns="0" rIns="0" bIns="0" rtlCol="0" anchor="ctr"/>
          <a:lstStyle/>
          <a:p>
            <a:pPr indent="0" marL="0">
              <a:buNone/>
            </a:pPr>
            <a:r>
              <a:rPr lang="en-US" sz="1100" b="1" spc="300" kern="0" dirty="0">
                <a:solidFill>
                  <a:srgbClr val="FFCD11"/>
                </a:solidFill>
                <a:latin typeface="Segoe UI" pitchFamily="34" charset="0"/>
                <a:ea typeface="Segoe UI" pitchFamily="34" charset="-122"/>
                <a:cs typeface="Segoe UI" pitchFamily="34" charset="-120"/>
              </a:rPr>
              <a:t>09   </a:t>
            </a:r>
            <a:pPr indent="0" marL="0">
              <a:buNone/>
            </a:pPr>
            <a:r>
              <a:rPr lang="en-US" sz="1100" b="1" spc="300" kern="0" dirty="0">
                <a:solidFill>
                  <a:srgbClr val="9AA3B0"/>
                </a:solidFill>
                <a:latin typeface="Segoe UI" pitchFamily="34" charset="0"/>
                <a:ea typeface="Segoe UI" pitchFamily="34" charset="-122"/>
                <a:cs typeface="Segoe UI" pitchFamily="34" charset="-120"/>
              </a:rPr>
              <a:t>TRADEOFFS</a:t>
            </a:r>
            <a:endParaRPr lang="en-US" sz="1100" dirty="0"/>
          </a:p>
        </p:txBody>
      </p:sp>
      <p:sp>
        <p:nvSpPr>
          <p:cNvPr id="4" name="Text 2"/>
          <p:cNvSpPr/>
          <p:nvPr/>
        </p:nvSpPr>
        <p:spPr>
          <a:xfrm>
            <a:off x="685800" y="896112"/>
            <a:ext cx="10789920" cy="868680"/>
          </a:xfrm>
          <a:prstGeom prst="rect">
            <a:avLst/>
          </a:prstGeom>
          <a:noFill/>
          <a:ln/>
        </p:spPr>
        <p:txBody>
          <a:bodyPr wrap="square" lIns="0" tIns="0" rIns="0" bIns="0" rtlCol="0" anchor="t"/>
          <a:lstStyle/>
          <a:p>
            <a:pPr indent="0" marL="0">
              <a:lnSpc>
                <a:spcPct val="95000"/>
              </a:lnSpc>
              <a:buNone/>
            </a:pPr>
            <a:r>
              <a:rPr lang="en-US" sz="3200" b="1" dirty="0">
                <a:solidFill>
                  <a:srgbClr val="F2F3F5"/>
                </a:solidFill>
                <a:latin typeface="Segoe UI" pitchFamily="34" charset="0"/>
                <a:ea typeface="Segoe UI" pitchFamily="34" charset="-122"/>
                <a:cs typeface="Segoe UI" pitchFamily="34" charset="-120"/>
              </a:rPr>
              <a:t>What we chose, and what we gave up.</a:t>
            </a:r>
            <a:endParaRPr lang="en-US" sz="3200" dirty="0"/>
          </a:p>
        </p:txBody>
      </p:sp>
      <p:sp>
        <p:nvSpPr>
          <p:cNvPr id="5" name="Text 3"/>
          <p:cNvSpPr/>
          <p:nvPr/>
        </p:nvSpPr>
        <p:spPr>
          <a:xfrm>
            <a:off x="685800" y="1874520"/>
            <a:ext cx="2743200" cy="228600"/>
          </a:xfrm>
          <a:prstGeom prst="rect">
            <a:avLst/>
          </a:prstGeom>
          <a:noFill/>
          <a:ln/>
        </p:spPr>
        <p:txBody>
          <a:bodyPr wrap="square" lIns="0" tIns="0" rIns="0" bIns="0" rtlCol="0" anchor="t"/>
          <a:lstStyle/>
          <a:p>
            <a:pPr algn="l" indent="0" marL="0">
              <a:lnSpc>
                <a:spcPct val="110000"/>
              </a:lnSpc>
              <a:buNone/>
            </a:pPr>
            <a:r>
              <a:rPr lang="en-US" sz="1000" b="1" spc="200" kern="0" dirty="0">
                <a:solidFill>
                  <a:srgbClr val="6B7480"/>
                </a:solidFill>
                <a:latin typeface="Segoe UI" pitchFamily="34" charset="0"/>
                <a:ea typeface="Segoe UI" pitchFamily="34" charset="-122"/>
                <a:cs typeface="Segoe UI" pitchFamily="34" charset="-120"/>
              </a:rPr>
              <a:t>WE CHOSE</a:t>
            </a:r>
            <a:endParaRPr lang="en-US" sz="1000" dirty="0"/>
          </a:p>
        </p:txBody>
      </p:sp>
      <p:sp>
        <p:nvSpPr>
          <p:cNvPr id="6" name="Text 4"/>
          <p:cNvSpPr/>
          <p:nvPr/>
        </p:nvSpPr>
        <p:spPr>
          <a:xfrm>
            <a:off x="3977640" y="1874520"/>
            <a:ext cx="1828800" cy="228600"/>
          </a:xfrm>
          <a:prstGeom prst="rect">
            <a:avLst/>
          </a:prstGeom>
          <a:noFill/>
          <a:ln/>
        </p:spPr>
        <p:txBody>
          <a:bodyPr wrap="square" lIns="0" tIns="0" rIns="0" bIns="0" rtlCol="0" anchor="t"/>
          <a:lstStyle/>
          <a:p>
            <a:pPr algn="l" indent="0" marL="0">
              <a:lnSpc>
                <a:spcPct val="110000"/>
              </a:lnSpc>
              <a:buNone/>
            </a:pPr>
            <a:r>
              <a:rPr lang="en-US" sz="1000" b="1" spc="200" kern="0" dirty="0">
                <a:solidFill>
                  <a:srgbClr val="6B7480"/>
                </a:solidFill>
                <a:latin typeface="Segoe UI" pitchFamily="34" charset="0"/>
                <a:ea typeface="Segoe UI" pitchFamily="34" charset="-122"/>
                <a:cs typeface="Segoe UI" pitchFamily="34" charset="-120"/>
              </a:rPr>
              <a:t>OVER</a:t>
            </a:r>
            <a:endParaRPr lang="en-US" sz="1000" dirty="0"/>
          </a:p>
        </p:txBody>
      </p:sp>
      <p:sp>
        <p:nvSpPr>
          <p:cNvPr id="7" name="Text 5"/>
          <p:cNvSpPr/>
          <p:nvPr/>
        </p:nvSpPr>
        <p:spPr>
          <a:xfrm>
            <a:off x="6172200" y="1874520"/>
            <a:ext cx="2743200" cy="228600"/>
          </a:xfrm>
          <a:prstGeom prst="rect">
            <a:avLst/>
          </a:prstGeom>
          <a:noFill/>
          <a:ln/>
        </p:spPr>
        <p:txBody>
          <a:bodyPr wrap="square" lIns="0" tIns="0" rIns="0" bIns="0" rtlCol="0" anchor="t"/>
          <a:lstStyle/>
          <a:p>
            <a:pPr algn="l" indent="0" marL="0">
              <a:lnSpc>
                <a:spcPct val="110000"/>
              </a:lnSpc>
              <a:buNone/>
            </a:pPr>
            <a:r>
              <a:rPr lang="en-US" sz="1000" b="1" spc="200" kern="0" dirty="0">
                <a:solidFill>
                  <a:srgbClr val="6B7480"/>
                </a:solidFill>
                <a:latin typeface="Segoe UI" pitchFamily="34" charset="0"/>
                <a:ea typeface="Segoe UI" pitchFamily="34" charset="-122"/>
                <a:cs typeface="Segoe UI" pitchFamily="34" charset="-120"/>
              </a:rPr>
              <a:t>WHY</a:t>
            </a:r>
            <a:endParaRPr lang="en-US" sz="1000" dirty="0"/>
          </a:p>
        </p:txBody>
      </p:sp>
      <p:sp>
        <p:nvSpPr>
          <p:cNvPr id="8" name="Shape 6"/>
          <p:cNvSpPr/>
          <p:nvPr/>
        </p:nvSpPr>
        <p:spPr>
          <a:xfrm>
            <a:off x="685800" y="2194560"/>
            <a:ext cx="10817352" cy="0"/>
          </a:xfrm>
          <a:prstGeom prst="line">
            <a:avLst/>
          </a:prstGeom>
          <a:noFill/>
          <a:ln w="12700">
            <a:solidFill>
              <a:srgbClr val="262C35"/>
            </a:solidFill>
            <a:prstDash val="solid"/>
          </a:ln>
        </p:spPr>
      </p:sp>
      <p:pic>
        <p:nvPicPr>
          <p:cNvPr id="9" name="Image 0" descr="preencoded.png">    </p:cNvPr>
          <p:cNvPicPr>
            <a:picLocks noChangeAspect="1"/>
          </p:cNvPicPr>
          <p:nvPr/>
        </p:nvPicPr>
        <p:blipFill>
          <a:blip r:embed="rId1"/>
          <a:stretch>
            <a:fillRect/>
          </a:stretch>
        </p:blipFill>
        <p:spPr>
          <a:xfrm>
            <a:off x="685800" y="2468880"/>
            <a:ext cx="237744" cy="237744"/>
          </a:xfrm>
          <a:prstGeom prst="rect">
            <a:avLst/>
          </a:prstGeom>
        </p:spPr>
      </p:pic>
      <p:sp>
        <p:nvSpPr>
          <p:cNvPr id="10" name="Text 7"/>
          <p:cNvSpPr/>
          <p:nvPr/>
        </p:nvSpPr>
        <p:spPr>
          <a:xfrm>
            <a:off x="1051560" y="2194560"/>
            <a:ext cx="2834640" cy="786384"/>
          </a:xfrm>
          <a:prstGeom prst="rect">
            <a:avLst/>
          </a:prstGeom>
          <a:noFill/>
          <a:ln/>
        </p:spPr>
        <p:txBody>
          <a:bodyPr wrap="square" lIns="0" tIns="0" rIns="0" bIns="0" rtlCol="0" anchor="ctr"/>
          <a:lstStyle/>
          <a:p>
            <a:pPr algn="l" indent="0" marL="0">
              <a:lnSpc>
                <a:spcPct val="110000"/>
              </a:lnSpc>
              <a:buNone/>
            </a:pPr>
            <a:r>
              <a:rPr lang="en-US" sz="1600" b="1" dirty="0">
                <a:solidFill>
                  <a:srgbClr val="F2F3F5"/>
                </a:solidFill>
                <a:latin typeface="Segoe UI" pitchFamily="34" charset="0"/>
                <a:ea typeface="Segoe UI" pitchFamily="34" charset="-122"/>
                <a:cs typeface="Segoe UI" pitchFamily="34" charset="-120"/>
              </a:rPr>
              <a:t>Hands-free glasses</a:t>
            </a:r>
            <a:endParaRPr lang="en-US" sz="1600" dirty="0"/>
          </a:p>
        </p:txBody>
      </p:sp>
      <p:sp>
        <p:nvSpPr>
          <p:cNvPr id="11" name="Text 8"/>
          <p:cNvSpPr/>
          <p:nvPr/>
        </p:nvSpPr>
        <p:spPr>
          <a:xfrm>
            <a:off x="3977640" y="2194560"/>
            <a:ext cx="2103120" cy="786384"/>
          </a:xfrm>
          <a:prstGeom prst="rect">
            <a:avLst/>
          </a:prstGeom>
          <a:noFill/>
          <a:ln/>
        </p:spPr>
        <p:txBody>
          <a:bodyPr wrap="square" lIns="0" tIns="0" rIns="0" bIns="0" rtlCol="0" anchor="ctr"/>
          <a:lstStyle/>
          <a:p>
            <a:pPr algn="l" indent="0" marL="0">
              <a:lnSpc>
                <a:spcPct val="110000"/>
              </a:lnSpc>
              <a:buNone/>
            </a:pPr>
            <a:r>
              <a:rPr lang="en-US" sz="1400" dirty="0">
                <a:solidFill>
                  <a:srgbClr val="6B7480"/>
                </a:solidFill>
                <a:latin typeface="Segoe UI" pitchFamily="34" charset="0"/>
                <a:ea typeface="Segoe UI" pitchFamily="34" charset="-122"/>
                <a:cs typeface="Segoe UI" pitchFamily="34" charset="-120"/>
              </a:rPr>
              <a:t>A tablet app</a:t>
            </a:r>
            <a:endParaRPr lang="en-US" sz="1400" dirty="0"/>
          </a:p>
        </p:txBody>
      </p:sp>
      <p:sp>
        <p:nvSpPr>
          <p:cNvPr id="12" name="Text 9"/>
          <p:cNvSpPr/>
          <p:nvPr/>
        </p:nvSpPr>
        <p:spPr>
          <a:xfrm>
            <a:off x="6172200" y="2194560"/>
            <a:ext cx="5303520" cy="786384"/>
          </a:xfrm>
          <a:prstGeom prst="rect">
            <a:avLst/>
          </a:prstGeom>
          <a:noFill/>
          <a:ln/>
        </p:spPr>
        <p:txBody>
          <a:bodyPr wrap="square" lIns="0" tIns="0" rIns="0" bIns="0" rtlCol="0" anchor="ctr"/>
          <a:lstStyle/>
          <a:p>
            <a:pPr algn="l" indent="0" marL="0">
              <a:lnSpc>
                <a:spcPct val="110000"/>
              </a:lnSpc>
              <a:buNone/>
            </a:pPr>
            <a:r>
              <a:rPr lang="en-US" sz="1300" dirty="0">
                <a:solidFill>
                  <a:srgbClr val="C9CED6"/>
                </a:solidFill>
                <a:latin typeface="Segoe UI" pitchFamily="34" charset="0"/>
                <a:ea typeface="Segoe UI" pitchFamily="34" charset="-122"/>
                <a:cs typeface="Segoe UI" pitchFamily="34" charset="-120"/>
              </a:rPr>
              <a:t>Eyes up, hands on the machine. Cost: hardware and battery, so our prototype runs in a browser.</a:t>
            </a:r>
            <a:endParaRPr lang="en-US" sz="1300" dirty="0"/>
          </a:p>
        </p:txBody>
      </p:sp>
      <p:sp>
        <p:nvSpPr>
          <p:cNvPr id="13" name="Shape 10"/>
          <p:cNvSpPr/>
          <p:nvPr/>
        </p:nvSpPr>
        <p:spPr>
          <a:xfrm>
            <a:off x="685800" y="2980944"/>
            <a:ext cx="10817352" cy="0"/>
          </a:xfrm>
          <a:prstGeom prst="line">
            <a:avLst/>
          </a:prstGeom>
          <a:noFill/>
          <a:ln w="12700">
            <a:solidFill>
              <a:srgbClr val="262C35"/>
            </a:solidFill>
            <a:prstDash val="solid"/>
          </a:ln>
        </p:spPr>
      </p:sp>
      <p:pic>
        <p:nvPicPr>
          <p:cNvPr id="14" name="Image 1" descr="preencoded.png">    </p:cNvPr>
          <p:cNvPicPr>
            <a:picLocks noChangeAspect="1"/>
          </p:cNvPicPr>
          <p:nvPr/>
        </p:nvPicPr>
        <p:blipFill>
          <a:blip r:embed="rId2"/>
          <a:stretch>
            <a:fillRect/>
          </a:stretch>
        </p:blipFill>
        <p:spPr>
          <a:xfrm>
            <a:off x="685800" y="3255264"/>
            <a:ext cx="237744" cy="237744"/>
          </a:xfrm>
          <a:prstGeom prst="rect">
            <a:avLst/>
          </a:prstGeom>
        </p:spPr>
      </p:pic>
      <p:sp>
        <p:nvSpPr>
          <p:cNvPr id="15" name="Text 11"/>
          <p:cNvSpPr/>
          <p:nvPr/>
        </p:nvSpPr>
        <p:spPr>
          <a:xfrm>
            <a:off x="1051560" y="2980944"/>
            <a:ext cx="2834640" cy="786384"/>
          </a:xfrm>
          <a:prstGeom prst="rect">
            <a:avLst/>
          </a:prstGeom>
          <a:noFill/>
          <a:ln/>
        </p:spPr>
        <p:txBody>
          <a:bodyPr wrap="square" lIns="0" tIns="0" rIns="0" bIns="0" rtlCol="0" anchor="ctr"/>
          <a:lstStyle/>
          <a:p>
            <a:pPr algn="l" indent="0" marL="0">
              <a:lnSpc>
                <a:spcPct val="110000"/>
              </a:lnSpc>
              <a:buNone/>
            </a:pPr>
            <a:r>
              <a:rPr lang="en-US" sz="1600" b="1" dirty="0">
                <a:solidFill>
                  <a:srgbClr val="F2F3F5"/>
                </a:solidFill>
                <a:latin typeface="Segoe UI" pitchFamily="34" charset="0"/>
                <a:ea typeface="Segoe UI" pitchFamily="34" charset="-122"/>
                <a:cs typeface="Segoe UI" pitchFamily="34" charset="-120"/>
              </a:rPr>
              <a:t>Grounded answers</a:t>
            </a:r>
            <a:endParaRPr lang="en-US" sz="1600" dirty="0"/>
          </a:p>
        </p:txBody>
      </p:sp>
      <p:sp>
        <p:nvSpPr>
          <p:cNvPr id="16" name="Text 12"/>
          <p:cNvSpPr/>
          <p:nvPr/>
        </p:nvSpPr>
        <p:spPr>
          <a:xfrm>
            <a:off x="3977640" y="2980944"/>
            <a:ext cx="2103120" cy="786384"/>
          </a:xfrm>
          <a:prstGeom prst="rect">
            <a:avLst/>
          </a:prstGeom>
          <a:noFill/>
          <a:ln/>
        </p:spPr>
        <p:txBody>
          <a:bodyPr wrap="square" lIns="0" tIns="0" rIns="0" bIns="0" rtlCol="0" anchor="ctr"/>
          <a:lstStyle/>
          <a:p>
            <a:pPr algn="l" indent="0" marL="0">
              <a:lnSpc>
                <a:spcPct val="110000"/>
              </a:lnSpc>
              <a:buNone/>
            </a:pPr>
            <a:r>
              <a:rPr lang="en-US" sz="1400" dirty="0">
                <a:solidFill>
                  <a:srgbClr val="6B7480"/>
                </a:solidFill>
                <a:latin typeface="Segoe UI" pitchFamily="34" charset="0"/>
                <a:ea typeface="Segoe UI" pitchFamily="34" charset="-122"/>
                <a:cs typeface="Segoe UI" pitchFamily="34" charset="-120"/>
              </a:rPr>
              <a:t>Free-form AI</a:t>
            </a:r>
            <a:endParaRPr lang="en-US" sz="1400" dirty="0"/>
          </a:p>
        </p:txBody>
      </p:sp>
      <p:sp>
        <p:nvSpPr>
          <p:cNvPr id="17" name="Text 13"/>
          <p:cNvSpPr/>
          <p:nvPr/>
        </p:nvSpPr>
        <p:spPr>
          <a:xfrm>
            <a:off x="6172200" y="2980944"/>
            <a:ext cx="5303520" cy="786384"/>
          </a:xfrm>
          <a:prstGeom prst="rect">
            <a:avLst/>
          </a:prstGeom>
          <a:noFill/>
          <a:ln/>
        </p:spPr>
        <p:txBody>
          <a:bodyPr wrap="square" lIns="0" tIns="0" rIns="0" bIns="0" rtlCol="0" anchor="ctr"/>
          <a:lstStyle/>
          <a:p>
            <a:pPr algn="l" indent="0" marL="0">
              <a:lnSpc>
                <a:spcPct val="110000"/>
              </a:lnSpc>
              <a:buNone/>
            </a:pPr>
            <a:r>
              <a:rPr lang="en-US" sz="1300" dirty="0">
                <a:solidFill>
                  <a:srgbClr val="C9CED6"/>
                </a:solidFill>
                <a:latin typeface="Segoe UI" pitchFamily="34" charset="0"/>
                <a:ea typeface="Segoe UI" pitchFamily="34" charset="-122"/>
                <a:cs typeface="Segoe UI" pitchFamily="34" charset="-120"/>
              </a:rPr>
              <a:t>It only says what's in the records. For safety, accuracy beats creativity.</a:t>
            </a:r>
            <a:endParaRPr lang="en-US" sz="1300" dirty="0"/>
          </a:p>
        </p:txBody>
      </p:sp>
      <p:sp>
        <p:nvSpPr>
          <p:cNvPr id="18" name="Shape 14"/>
          <p:cNvSpPr/>
          <p:nvPr/>
        </p:nvSpPr>
        <p:spPr>
          <a:xfrm>
            <a:off x="685800" y="3767328"/>
            <a:ext cx="10817352" cy="0"/>
          </a:xfrm>
          <a:prstGeom prst="line">
            <a:avLst/>
          </a:prstGeom>
          <a:noFill/>
          <a:ln w="12700">
            <a:solidFill>
              <a:srgbClr val="262C35"/>
            </a:solidFill>
            <a:prstDash val="solid"/>
          </a:ln>
        </p:spPr>
      </p:sp>
      <p:pic>
        <p:nvPicPr>
          <p:cNvPr id="19" name="Image 2" descr="preencoded.png">    </p:cNvPr>
          <p:cNvPicPr>
            <a:picLocks noChangeAspect="1"/>
          </p:cNvPicPr>
          <p:nvPr/>
        </p:nvPicPr>
        <p:blipFill>
          <a:blip r:embed="rId3"/>
          <a:stretch>
            <a:fillRect/>
          </a:stretch>
        </p:blipFill>
        <p:spPr>
          <a:xfrm>
            <a:off x="685800" y="4041648"/>
            <a:ext cx="237744" cy="237744"/>
          </a:xfrm>
          <a:prstGeom prst="rect">
            <a:avLst/>
          </a:prstGeom>
        </p:spPr>
      </p:pic>
      <p:sp>
        <p:nvSpPr>
          <p:cNvPr id="20" name="Text 15"/>
          <p:cNvSpPr/>
          <p:nvPr/>
        </p:nvSpPr>
        <p:spPr>
          <a:xfrm>
            <a:off x="1051560" y="3767328"/>
            <a:ext cx="2834640" cy="786384"/>
          </a:xfrm>
          <a:prstGeom prst="rect">
            <a:avLst/>
          </a:prstGeom>
          <a:noFill/>
          <a:ln/>
        </p:spPr>
        <p:txBody>
          <a:bodyPr wrap="square" lIns="0" tIns="0" rIns="0" bIns="0" rtlCol="0" anchor="ctr"/>
          <a:lstStyle/>
          <a:p>
            <a:pPr algn="l" indent="0" marL="0">
              <a:lnSpc>
                <a:spcPct val="110000"/>
              </a:lnSpc>
              <a:buNone/>
            </a:pPr>
            <a:r>
              <a:rPr lang="en-US" sz="1600" b="1" dirty="0">
                <a:solidFill>
                  <a:srgbClr val="F2F3F5"/>
                </a:solidFill>
                <a:latin typeface="Segoe UI" pitchFamily="34" charset="0"/>
                <a:ea typeface="Segoe UI" pitchFamily="34" charset="-122"/>
                <a:cs typeface="Segoe UI" pitchFamily="34" charset="-120"/>
              </a:rPr>
              <a:t>Works offline</a:t>
            </a:r>
            <a:endParaRPr lang="en-US" sz="1600" dirty="0"/>
          </a:p>
        </p:txBody>
      </p:sp>
      <p:sp>
        <p:nvSpPr>
          <p:cNvPr id="21" name="Text 16"/>
          <p:cNvSpPr/>
          <p:nvPr/>
        </p:nvSpPr>
        <p:spPr>
          <a:xfrm>
            <a:off x="3977640" y="3767328"/>
            <a:ext cx="2103120" cy="786384"/>
          </a:xfrm>
          <a:prstGeom prst="rect">
            <a:avLst/>
          </a:prstGeom>
          <a:noFill/>
          <a:ln/>
        </p:spPr>
        <p:txBody>
          <a:bodyPr wrap="square" lIns="0" tIns="0" rIns="0" bIns="0" rtlCol="0" anchor="ctr"/>
          <a:lstStyle/>
          <a:p>
            <a:pPr algn="l" indent="0" marL="0">
              <a:lnSpc>
                <a:spcPct val="110000"/>
              </a:lnSpc>
              <a:buNone/>
            </a:pPr>
            <a:r>
              <a:rPr lang="en-US" sz="1400" dirty="0">
                <a:solidFill>
                  <a:srgbClr val="6B7480"/>
                </a:solidFill>
                <a:latin typeface="Segoe UI" pitchFamily="34" charset="0"/>
                <a:ea typeface="Segoe UI" pitchFamily="34" charset="-122"/>
                <a:cs typeface="Segoe UI" pitchFamily="34" charset="-120"/>
              </a:rPr>
              <a:t>AI-only</a:t>
            </a:r>
            <a:endParaRPr lang="en-US" sz="1400" dirty="0"/>
          </a:p>
        </p:txBody>
      </p:sp>
      <p:sp>
        <p:nvSpPr>
          <p:cNvPr id="22" name="Text 17"/>
          <p:cNvSpPr/>
          <p:nvPr/>
        </p:nvSpPr>
        <p:spPr>
          <a:xfrm>
            <a:off x="6172200" y="3767328"/>
            <a:ext cx="5303520" cy="786384"/>
          </a:xfrm>
          <a:prstGeom prst="rect">
            <a:avLst/>
          </a:prstGeom>
          <a:noFill/>
          <a:ln/>
        </p:spPr>
        <p:txBody>
          <a:bodyPr wrap="square" lIns="0" tIns="0" rIns="0" bIns="0" rtlCol="0" anchor="ctr"/>
          <a:lstStyle/>
          <a:p>
            <a:pPr algn="l" indent="0" marL="0">
              <a:lnSpc>
                <a:spcPct val="110000"/>
              </a:lnSpc>
              <a:buNone/>
            </a:pPr>
            <a:r>
              <a:rPr lang="en-US" sz="1300" dirty="0">
                <a:solidFill>
                  <a:srgbClr val="C9CED6"/>
                </a:solidFill>
                <a:latin typeface="Segoe UI" pitchFamily="34" charset="0"/>
                <a:ea typeface="Segoe UI" pitchFamily="34" charset="-122"/>
                <a:cs typeface="Segoe UI" pitchFamily="34" charset="-120"/>
              </a:rPr>
              <a:t>Job sites lose signal. Built-in rules work anywhere; AI adds depth when available.</a:t>
            </a:r>
            <a:endParaRPr lang="en-US" sz="1300" dirty="0"/>
          </a:p>
        </p:txBody>
      </p:sp>
      <p:sp>
        <p:nvSpPr>
          <p:cNvPr id="23" name="Shape 18"/>
          <p:cNvSpPr/>
          <p:nvPr/>
        </p:nvSpPr>
        <p:spPr>
          <a:xfrm>
            <a:off x="685800" y="4553712"/>
            <a:ext cx="10817352" cy="0"/>
          </a:xfrm>
          <a:prstGeom prst="line">
            <a:avLst/>
          </a:prstGeom>
          <a:noFill/>
          <a:ln w="12700">
            <a:solidFill>
              <a:srgbClr val="262C35"/>
            </a:solidFill>
            <a:prstDash val="solid"/>
          </a:ln>
        </p:spPr>
      </p:sp>
      <p:pic>
        <p:nvPicPr>
          <p:cNvPr id="24" name="Image 3" descr="preencoded.png">    </p:cNvPr>
          <p:cNvPicPr>
            <a:picLocks noChangeAspect="1"/>
          </p:cNvPicPr>
          <p:nvPr/>
        </p:nvPicPr>
        <p:blipFill>
          <a:blip r:embed="rId4"/>
          <a:stretch>
            <a:fillRect/>
          </a:stretch>
        </p:blipFill>
        <p:spPr>
          <a:xfrm>
            <a:off x="685800" y="4828032"/>
            <a:ext cx="237744" cy="237744"/>
          </a:xfrm>
          <a:prstGeom prst="rect">
            <a:avLst/>
          </a:prstGeom>
        </p:spPr>
      </p:pic>
      <p:sp>
        <p:nvSpPr>
          <p:cNvPr id="25" name="Text 19"/>
          <p:cNvSpPr/>
          <p:nvPr/>
        </p:nvSpPr>
        <p:spPr>
          <a:xfrm>
            <a:off x="1051560" y="4553712"/>
            <a:ext cx="2834640" cy="786384"/>
          </a:xfrm>
          <a:prstGeom prst="rect">
            <a:avLst/>
          </a:prstGeom>
          <a:noFill/>
          <a:ln/>
        </p:spPr>
        <p:txBody>
          <a:bodyPr wrap="square" lIns="0" tIns="0" rIns="0" bIns="0" rtlCol="0" anchor="ctr"/>
          <a:lstStyle/>
          <a:p>
            <a:pPr algn="l" indent="0" marL="0">
              <a:lnSpc>
                <a:spcPct val="110000"/>
              </a:lnSpc>
              <a:buNone/>
            </a:pPr>
            <a:r>
              <a:rPr lang="en-US" sz="1600" b="1" dirty="0">
                <a:solidFill>
                  <a:srgbClr val="F2F3F5"/>
                </a:solidFill>
                <a:latin typeface="Segoe UI" pitchFamily="34" charset="0"/>
                <a:ea typeface="Segoe UI" pitchFamily="34" charset="-122"/>
                <a:cs typeface="Segoe UI" pitchFamily="34" charset="-120"/>
              </a:rPr>
              <a:t>Structured memories</a:t>
            </a:r>
            <a:endParaRPr lang="en-US" sz="1600" dirty="0"/>
          </a:p>
        </p:txBody>
      </p:sp>
      <p:sp>
        <p:nvSpPr>
          <p:cNvPr id="26" name="Text 20"/>
          <p:cNvSpPr/>
          <p:nvPr/>
        </p:nvSpPr>
        <p:spPr>
          <a:xfrm>
            <a:off x="3977640" y="4553712"/>
            <a:ext cx="2103120" cy="786384"/>
          </a:xfrm>
          <a:prstGeom prst="rect">
            <a:avLst/>
          </a:prstGeom>
          <a:noFill/>
          <a:ln/>
        </p:spPr>
        <p:txBody>
          <a:bodyPr wrap="square" lIns="0" tIns="0" rIns="0" bIns="0" rtlCol="0" anchor="ctr"/>
          <a:lstStyle/>
          <a:p>
            <a:pPr algn="l" indent="0" marL="0">
              <a:lnSpc>
                <a:spcPct val="110000"/>
              </a:lnSpc>
              <a:buNone/>
            </a:pPr>
            <a:r>
              <a:rPr lang="en-US" sz="1400" dirty="0">
                <a:solidFill>
                  <a:srgbClr val="6B7480"/>
                </a:solidFill>
                <a:latin typeface="Segoe UI" pitchFamily="34" charset="0"/>
                <a:ea typeface="Segoe UI" pitchFamily="34" charset="-122"/>
                <a:cs typeface="Segoe UI" pitchFamily="34" charset="-120"/>
              </a:rPr>
              <a:t>Raw transcripts</a:t>
            </a:r>
            <a:endParaRPr lang="en-US" sz="1400" dirty="0"/>
          </a:p>
        </p:txBody>
      </p:sp>
      <p:sp>
        <p:nvSpPr>
          <p:cNvPr id="27" name="Text 21"/>
          <p:cNvSpPr/>
          <p:nvPr/>
        </p:nvSpPr>
        <p:spPr>
          <a:xfrm>
            <a:off x="6172200" y="4553712"/>
            <a:ext cx="5303520" cy="786384"/>
          </a:xfrm>
          <a:prstGeom prst="rect">
            <a:avLst/>
          </a:prstGeom>
          <a:noFill/>
          <a:ln/>
        </p:spPr>
        <p:txBody>
          <a:bodyPr wrap="square" lIns="0" tIns="0" rIns="0" bIns="0" rtlCol="0" anchor="ctr"/>
          <a:lstStyle/>
          <a:p>
            <a:pPr algn="l" indent="0" marL="0">
              <a:lnSpc>
                <a:spcPct val="110000"/>
              </a:lnSpc>
              <a:buNone/>
            </a:pPr>
            <a:r>
              <a:rPr lang="en-US" sz="1300" dirty="0">
                <a:solidFill>
                  <a:srgbClr val="C9CED6"/>
                </a:solidFill>
                <a:latin typeface="Segoe UI" pitchFamily="34" charset="0"/>
                <a:ea typeface="Segoe UI" pitchFamily="34" charset="-122"/>
                <a:cs typeface="Segoe UI" pitchFamily="34" charset="-120"/>
              </a:rPr>
              <a:t>Searchable, auditable and small. We give up some nuance.</a:t>
            </a:r>
            <a:endParaRPr lang="en-US" sz="1300" dirty="0"/>
          </a:p>
        </p:txBody>
      </p:sp>
      <p:sp>
        <p:nvSpPr>
          <p:cNvPr id="28" name="Shape 22"/>
          <p:cNvSpPr/>
          <p:nvPr/>
        </p:nvSpPr>
        <p:spPr>
          <a:xfrm>
            <a:off x="685800" y="5340096"/>
            <a:ext cx="10817352" cy="0"/>
          </a:xfrm>
          <a:prstGeom prst="line">
            <a:avLst/>
          </a:prstGeom>
          <a:noFill/>
          <a:ln w="12700">
            <a:solidFill>
              <a:srgbClr val="262C35"/>
            </a:solidFill>
            <a:prstDash val="solid"/>
          </a:ln>
        </p:spPr>
      </p:sp>
      <p:pic>
        <p:nvPicPr>
          <p:cNvPr id="29" name="Image 4" descr="preencoded.png">    </p:cNvPr>
          <p:cNvPicPr>
            <a:picLocks noChangeAspect="1"/>
          </p:cNvPicPr>
          <p:nvPr/>
        </p:nvPicPr>
        <p:blipFill>
          <a:blip r:embed="rId5"/>
          <a:stretch>
            <a:fillRect/>
          </a:stretch>
        </p:blipFill>
        <p:spPr>
          <a:xfrm>
            <a:off x="685800" y="5614416"/>
            <a:ext cx="237744" cy="237744"/>
          </a:xfrm>
          <a:prstGeom prst="rect">
            <a:avLst/>
          </a:prstGeom>
        </p:spPr>
      </p:pic>
      <p:sp>
        <p:nvSpPr>
          <p:cNvPr id="30" name="Text 23"/>
          <p:cNvSpPr/>
          <p:nvPr/>
        </p:nvSpPr>
        <p:spPr>
          <a:xfrm>
            <a:off x="1051560" y="5340096"/>
            <a:ext cx="2834640" cy="786384"/>
          </a:xfrm>
          <a:prstGeom prst="rect">
            <a:avLst/>
          </a:prstGeom>
          <a:noFill/>
          <a:ln/>
        </p:spPr>
        <p:txBody>
          <a:bodyPr wrap="square" lIns="0" tIns="0" rIns="0" bIns="0" rtlCol="0" anchor="ctr"/>
          <a:lstStyle/>
          <a:p>
            <a:pPr algn="l" indent="0" marL="0">
              <a:lnSpc>
                <a:spcPct val="110000"/>
              </a:lnSpc>
              <a:buNone/>
            </a:pPr>
            <a:r>
              <a:rPr lang="en-US" sz="1600" b="1" dirty="0">
                <a:solidFill>
                  <a:srgbClr val="F2F3F5"/>
                </a:solidFill>
                <a:latin typeface="Segoe UI" pitchFamily="34" charset="0"/>
                <a:ea typeface="Segoe UI" pitchFamily="34" charset="-122"/>
                <a:cs typeface="Segoe UI" pitchFamily="34" charset="-120"/>
              </a:rPr>
              <a:t>One workflow, done well</a:t>
            </a:r>
            <a:endParaRPr lang="en-US" sz="1600" dirty="0"/>
          </a:p>
        </p:txBody>
      </p:sp>
      <p:sp>
        <p:nvSpPr>
          <p:cNvPr id="31" name="Text 24"/>
          <p:cNvSpPr/>
          <p:nvPr/>
        </p:nvSpPr>
        <p:spPr>
          <a:xfrm>
            <a:off x="3977640" y="5340096"/>
            <a:ext cx="2103120" cy="786384"/>
          </a:xfrm>
          <a:prstGeom prst="rect">
            <a:avLst/>
          </a:prstGeom>
          <a:noFill/>
          <a:ln/>
        </p:spPr>
        <p:txBody>
          <a:bodyPr wrap="square" lIns="0" tIns="0" rIns="0" bIns="0" rtlCol="0" anchor="ctr"/>
          <a:lstStyle/>
          <a:p>
            <a:pPr algn="l" indent="0" marL="0">
              <a:lnSpc>
                <a:spcPct val="110000"/>
              </a:lnSpc>
              <a:buNone/>
            </a:pPr>
            <a:r>
              <a:rPr lang="en-US" sz="1400" dirty="0">
                <a:solidFill>
                  <a:srgbClr val="6B7480"/>
                </a:solidFill>
                <a:latin typeface="Segoe UI" pitchFamily="34" charset="0"/>
                <a:ea typeface="Segoe UI" pitchFamily="34" charset="-122"/>
                <a:cs typeface="Segoe UI" pitchFamily="34" charset="-120"/>
              </a:rPr>
              <a:t>Every feature</a:t>
            </a:r>
            <a:endParaRPr lang="en-US" sz="1400" dirty="0"/>
          </a:p>
        </p:txBody>
      </p:sp>
      <p:sp>
        <p:nvSpPr>
          <p:cNvPr id="32" name="Text 25"/>
          <p:cNvSpPr/>
          <p:nvPr/>
        </p:nvSpPr>
        <p:spPr>
          <a:xfrm>
            <a:off x="6172200" y="5340096"/>
            <a:ext cx="5303520" cy="786384"/>
          </a:xfrm>
          <a:prstGeom prst="rect">
            <a:avLst/>
          </a:prstGeom>
          <a:noFill/>
          <a:ln/>
        </p:spPr>
        <p:txBody>
          <a:bodyPr wrap="square" lIns="0" tIns="0" rIns="0" bIns="0" rtlCol="0" anchor="ctr"/>
          <a:lstStyle/>
          <a:p>
            <a:pPr algn="l" indent="0" marL="0">
              <a:lnSpc>
                <a:spcPct val="110000"/>
              </a:lnSpc>
              <a:buNone/>
            </a:pPr>
            <a:r>
              <a:rPr lang="en-US" sz="1300" dirty="0">
                <a:solidFill>
                  <a:srgbClr val="C9CED6"/>
                </a:solidFill>
                <a:latin typeface="Segoe UI" pitchFamily="34" charset="0"/>
                <a:ea typeface="Segoe UI" pitchFamily="34" charset="-122"/>
                <a:cs typeface="Segoe UI" pitchFamily="34" charset="-120"/>
              </a:rPr>
              <a:t>Unfamiliar faults are where new technicians struggle most.</a:t>
            </a:r>
            <a:endParaRPr lang="en-US" sz="1300" dirty="0"/>
          </a:p>
        </p:txBody>
      </p:sp>
      <p:sp>
        <p:nvSpPr>
          <p:cNvPr id="33" name="Shape 26"/>
          <p:cNvSpPr/>
          <p:nvPr/>
        </p:nvSpPr>
        <p:spPr>
          <a:xfrm>
            <a:off x="685800" y="6126480"/>
            <a:ext cx="10817352" cy="0"/>
          </a:xfrm>
          <a:prstGeom prst="line">
            <a:avLst/>
          </a:prstGeom>
          <a:noFill/>
          <a:ln w="12700">
            <a:solidFill>
              <a:srgbClr val="262C35"/>
            </a:solidFill>
            <a:prstDash val="solid"/>
          </a:ln>
        </p:spPr>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80"/>
                </a:solidFill>
                <a:latin typeface="Segoe UI"/>
                <a:ea typeface="Segoe UI"/>
                <a:cs typeface="Segoe U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685800" y="649224"/>
            <a:ext cx="320040" cy="27432"/>
          </a:xfrm>
          <a:prstGeom prst="rect">
            <a:avLst/>
          </a:prstGeom>
          <a:solidFill>
            <a:srgbClr val="FFCD11"/>
          </a:solidFill>
          <a:ln w="12700">
            <a:solidFill>
              <a:srgbClr val="FFCD11"/>
            </a:solidFill>
            <a:prstDash val="solid"/>
          </a:ln>
        </p:spPr>
      </p:sp>
      <p:sp>
        <p:nvSpPr>
          <p:cNvPr id="3" name="Text 1"/>
          <p:cNvSpPr/>
          <p:nvPr/>
        </p:nvSpPr>
        <p:spPr>
          <a:xfrm>
            <a:off x="1115568" y="512064"/>
            <a:ext cx="7315200" cy="292608"/>
          </a:xfrm>
          <a:prstGeom prst="rect">
            <a:avLst/>
          </a:prstGeom>
          <a:noFill/>
          <a:ln/>
        </p:spPr>
        <p:txBody>
          <a:bodyPr wrap="square" lIns="0" tIns="0" rIns="0" bIns="0" rtlCol="0" anchor="ctr"/>
          <a:lstStyle/>
          <a:p>
            <a:pPr indent="0" marL="0">
              <a:buNone/>
            </a:pPr>
            <a:r>
              <a:rPr lang="en-US" sz="1100" b="1" spc="300" kern="0" dirty="0">
                <a:solidFill>
                  <a:srgbClr val="FFCD11"/>
                </a:solidFill>
                <a:latin typeface="Segoe UI" pitchFamily="34" charset="0"/>
                <a:ea typeface="Segoe UI" pitchFamily="34" charset="-122"/>
                <a:cs typeface="Segoe UI" pitchFamily="34" charset="-120"/>
              </a:rPr>
              <a:t>10   </a:t>
            </a:r>
            <a:pPr indent="0" marL="0">
              <a:buNone/>
            </a:pPr>
            <a:r>
              <a:rPr lang="en-US" sz="1100" b="1" spc="300" kern="0" dirty="0">
                <a:solidFill>
                  <a:srgbClr val="9AA3B0"/>
                </a:solidFill>
                <a:latin typeface="Segoe UI" pitchFamily="34" charset="0"/>
                <a:ea typeface="Segoe UI" pitchFamily="34" charset="-122"/>
                <a:cs typeface="Segoe UI" pitchFamily="34" charset="-120"/>
              </a:rPr>
              <a:t>IMPLEMENTATION ROADMAP</a:t>
            </a:r>
            <a:endParaRPr lang="en-US" sz="1100" dirty="0"/>
          </a:p>
        </p:txBody>
      </p:sp>
      <p:sp>
        <p:nvSpPr>
          <p:cNvPr id="4" name="Text 2"/>
          <p:cNvSpPr/>
          <p:nvPr/>
        </p:nvSpPr>
        <p:spPr>
          <a:xfrm>
            <a:off x="685800" y="896112"/>
            <a:ext cx="10789920" cy="868680"/>
          </a:xfrm>
          <a:prstGeom prst="rect">
            <a:avLst/>
          </a:prstGeom>
          <a:noFill/>
          <a:ln/>
        </p:spPr>
        <p:txBody>
          <a:bodyPr wrap="square" lIns="0" tIns="0" rIns="0" bIns="0" rtlCol="0" anchor="t"/>
          <a:lstStyle/>
          <a:p>
            <a:pPr indent="0" marL="0">
              <a:lnSpc>
                <a:spcPct val="95000"/>
              </a:lnSpc>
              <a:buNone/>
            </a:pPr>
            <a:r>
              <a:rPr lang="en-US" sz="3200" b="1" dirty="0">
                <a:solidFill>
                  <a:srgbClr val="F2F3F5"/>
                </a:solidFill>
                <a:latin typeface="Segoe UI" pitchFamily="34" charset="0"/>
                <a:ea typeface="Segoe UI" pitchFamily="34" charset="-122"/>
                <a:cs typeface="Segoe UI" pitchFamily="34" charset="-120"/>
              </a:rPr>
              <a:t>From prototype to every Cat machine.</a:t>
            </a:r>
            <a:endParaRPr lang="en-US" sz="3200" dirty="0"/>
          </a:p>
        </p:txBody>
      </p:sp>
      <p:sp>
        <p:nvSpPr>
          <p:cNvPr id="5" name="Shape 3"/>
          <p:cNvSpPr/>
          <p:nvPr/>
        </p:nvSpPr>
        <p:spPr>
          <a:xfrm>
            <a:off x="868680" y="2148840"/>
            <a:ext cx="10424160" cy="0"/>
          </a:xfrm>
          <a:prstGeom prst="line">
            <a:avLst/>
          </a:prstGeom>
          <a:noFill/>
          <a:ln w="25400">
            <a:solidFill>
              <a:srgbClr val="FFCD11">
                <a:alpha val="60000"/>
              </a:srgbClr>
            </a:solidFill>
            <a:prstDash val="solid"/>
          </a:ln>
        </p:spPr>
      </p:sp>
      <p:sp>
        <p:nvSpPr>
          <p:cNvPr id="6" name="Shape 4"/>
          <p:cNvSpPr/>
          <p:nvPr/>
        </p:nvSpPr>
        <p:spPr>
          <a:xfrm>
            <a:off x="731520" y="1984248"/>
            <a:ext cx="329184" cy="329184"/>
          </a:xfrm>
          <a:prstGeom prst="ellipse">
            <a:avLst/>
          </a:prstGeom>
          <a:solidFill>
            <a:srgbClr val="FFCD11"/>
          </a:solidFill>
          <a:ln w="25400">
            <a:solidFill>
              <a:srgbClr val="FFCD11"/>
            </a:solidFill>
            <a:prstDash val="solid"/>
          </a:ln>
        </p:spPr>
      </p:sp>
      <p:sp>
        <p:nvSpPr>
          <p:cNvPr id="7" name="Shape 5"/>
          <p:cNvSpPr/>
          <p:nvPr/>
        </p:nvSpPr>
        <p:spPr>
          <a:xfrm>
            <a:off x="685800" y="2514600"/>
            <a:ext cx="2578608" cy="3200400"/>
          </a:xfrm>
          <a:prstGeom prst="roundRect">
            <a:avLst>
              <a:gd name="adj" fmla="val 4255"/>
            </a:avLst>
          </a:prstGeom>
          <a:solidFill>
            <a:srgbClr val="161A20"/>
          </a:solidFill>
          <a:ln w="12700">
            <a:solidFill>
              <a:srgbClr val="FFCD11"/>
            </a:solidFill>
            <a:prstDash val="solid"/>
          </a:ln>
        </p:spPr>
      </p:sp>
      <p:sp>
        <p:nvSpPr>
          <p:cNvPr id="8" name="Text 6"/>
          <p:cNvSpPr/>
          <p:nvPr/>
        </p:nvSpPr>
        <p:spPr>
          <a:xfrm>
            <a:off x="914400" y="2724912"/>
            <a:ext cx="2194560" cy="228600"/>
          </a:xfrm>
          <a:prstGeom prst="rect">
            <a:avLst/>
          </a:prstGeom>
          <a:noFill/>
          <a:ln/>
        </p:spPr>
        <p:txBody>
          <a:bodyPr wrap="square" lIns="0" tIns="0" rIns="0" bIns="0" rtlCol="0" anchor="t"/>
          <a:lstStyle/>
          <a:p>
            <a:pPr algn="l" indent="0" marL="0">
              <a:lnSpc>
                <a:spcPct val="110000"/>
              </a:lnSpc>
              <a:buNone/>
            </a:pPr>
            <a:r>
              <a:rPr lang="en-US" sz="1000" b="1" spc="200" kern="0" dirty="0">
                <a:solidFill>
                  <a:srgbClr val="FFCD11"/>
                </a:solidFill>
                <a:latin typeface="Segoe UI" pitchFamily="34" charset="0"/>
                <a:ea typeface="Segoe UI" pitchFamily="34" charset="-122"/>
                <a:cs typeface="Segoe UI" pitchFamily="34" charset="-120"/>
              </a:rPr>
              <a:t>TODAY</a:t>
            </a:r>
            <a:endParaRPr lang="en-US" sz="1000" dirty="0"/>
          </a:p>
        </p:txBody>
      </p:sp>
      <p:sp>
        <p:nvSpPr>
          <p:cNvPr id="9" name="Text 7"/>
          <p:cNvSpPr/>
          <p:nvPr/>
        </p:nvSpPr>
        <p:spPr>
          <a:xfrm>
            <a:off x="914400" y="2971800"/>
            <a:ext cx="2194560" cy="365760"/>
          </a:xfrm>
          <a:prstGeom prst="rect">
            <a:avLst/>
          </a:prstGeom>
          <a:noFill/>
          <a:ln/>
        </p:spPr>
        <p:txBody>
          <a:bodyPr wrap="square" lIns="0" tIns="0" rIns="0" bIns="0" rtlCol="0" anchor="t"/>
          <a:lstStyle/>
          <a:p>
            <a:pPr algn="l" indent="0" marL="0">
              <a:lnSpc>
                <a:spcPct val="110000"/>
              </a:lnSpc>
              <a:buNone/>
            </a:pPr>
            <a:r>
              <a:rPr lang="en-US" sz="1800" b="1" dirty="0">
                <a:solidFill>
                  <a:srgbClr val="F2F3F5"/>
                </a:solidFill>
                <a:latin typeface="Segoe UI" pitchFamily="34" charset="0"/>
                <a:ea typeface="Segoe UI" pitchFamily="34" charset="-122"/>
                <a:cs typeface="Segoe UI" pitchFamily="34" charset="-120"/>
              </a:rPr>
              <a:t>Working prototype</a:t>
            </a:r>
            <a:endParaRPr lang="en-US" sz="1800" dirty="0"/>
          </a:p>
        </p:txBody>
      </p:sp>
      <p:sp>
        <p:nvSpPr>
          <p:cNvPr id="10" name="Text 8"/>
          <p:cNvSpPr/>
          <p:nvPr/>
        </p:nvSpPr>
        <p:spPr>
          <a:xfrm>
            <a:off x="914400" y="3474720"/>
            <a:ext cx="2212848" cy="2148840"/>
          </a:xfrm>
          <a:prstGeom prst="rect">
            <a:avLst/>
          </a:prstGeom>
          <a:noFill/>
          <a:ln/>
        </p:spPr>
        <p:txBody>
          <a:bodyPr wrap="square" lIns="0" tIns="0" rIns="0" bIns="0" rtlCol="0" anchor="t"/>
          <a:lstStyle/>
          <a:p>
            <a:pPr marL="152400" indent="-152400">
              <a:spcAft>
                <a:spcPts val="1200"/>
              </a:spcAft>
              <a:buSzPct val="100000"/>
              <a:buChar char="•"/>
            </a:pPr>
            <a:r>
              <a:rPr lang="en-US" sz="1300" dirty="0">
                <a:solidFill>
                  <a:srgbClr val="C9CED6"/>
                </a:solidFill>
                <a:latin typeface="Segoe UI" pitchFamily="34" charset="0"/>
                <a:ea typeface="Segoe UI" pitchFamily="34" charset="-122"/>
                <a:cs typeface="Segoe UI" pitchFamily="34" charset="-120"/>
              </a:rPr>
              <a:t>Voice glasses view and live dashboard</a:t>
            </a:r>
            <a:endParaRPr lang="en-US" sz="1300" dirty="0"/>
          </a:p>
          <a:p>
            <a:pPr marL="152400" indent="-152400">
              <a:spcAft>
                <a:spcPts val="1200"/>
              </a:spcAft>
              <a:buSzPct val="100000"/>
              <a:buChar char="•"/>
            </a:pPr>
            <a:r>
              <a:rPr lang="en-US" sz="1300" dirty="0">
                <a:solidFill>
                  <a:srgbClr val="C9CED6"/>
                </a:solidFill>
                <a:latin typeface="Segoe UI" pitchFamily="34" charset="0"/>
                <a:ea typeface="Segoe UI" pitchFamily="34" charset="-122"/>
                <a:cs typeface="Segoe UI" pitchFamily="34" charset="-120"/>
              </a:rPr>
              <a:t>Machine memory with a learning loop</a:t>
            </a:r>
            <a:endParaRPr lang="en-US" sz="1300" dirty="0"/>
          </a:p>
          <a:p>
            <a:pPr marL="152400" indent="-152400">
              <a:spcAft>
                <a:spcPts val="1200"/>
              </a:spcAft>
              <a:buSzPct val="100000"/>
              <a:buChar char="•"/>
            </a:pPr>
            <a:r>
              <a:rPr lang="en-US" sz="1300" dirty="0">
                <a:solidFill>
                  <a:srgbClr val="C9CED6"/>
                </a:solidFill>
                <a:latin typeface="Segoe UI" pitchFamily="34" charset="0"/>
                <a:ea typeface="Segoe UI" pitchFamily="34" charset="-122"/>
                <a:cs typeface="Segoe UI" pitchFamily="34" charset="-120"/>
              </a:rPr>
              <a:t>English and Spanish</a:t>
            </a:r>
            <a:endParaRPr lang="en-US" sz="1300" dirty="0"/>
          </a:p>
        </p:txBody>
      </p:sp>
      <p:sp>
        <p:nvSpPr>
          <p:cNvPr id="11" name="Shape 9"/>
          <p:cNvSpPr/>
          <p:nvPr/>
        </p:nvSpPr>
        <p:spPr>
          <a:xfrm>
            <a:off x="3465576" y="1984248"/>
            <a:ext cx="329184" cy="329184"/>
          </a:xfrm>
          <a:prstGeom prst="ellipse">
            <a:avLst/>
          </a:prstGeom>
          <a:solidFill>
            <a:srgbClr val="0B0D10"/>
          </a:solidFill>
          <a:ln w="25400">
            <a:solidFill>
              <a:srgbClr val="FFCD11"/>
            </a:solidFill>
            <a:prstDash val="solid"/>
          </a:ln>
        </p:spPr>
      </p:sp>
      <p:sp>
        <p:nvSpPr>
          <p:cNvPr id="12" name="Shape 10"/>
          <p:cNvSpPr/>
          <p:nvPr/>
        </p:nvSpPr>
        <p:spPr>
          <a:xfrm>
            <a:off x="3419856" y="2514600"/>
            <a:ext cx="2578608" cy="3200400"/>
          </a:xfrm>
          <a:prstGeom prst="roundRect">
            <a:avLst>
              <a:gd name="adj" fmla="val 4255"/>
            </a:avLst>
          </a:prstGeom>
          <a:solidFill>
            <a:srgbClr val="161A20"/>
          </a:solidFill>
          <a:ln w="12700">
            <a:solidFill>
              <a:srgbClr val="262C35"/>
            </a:solidFill>
            <a:prstDash val="solid"/>
          </a:ln>
        </p:spPr>
      </p:sp>
      <p:sp>
        <p:nvSpPr>
          <p:cNvPr id="13" name="Text 11"/>
          <p:cNvSpPr/>
          <p:nvPr/>
        </p:nvSpPr>
        <p:spPr>
          <a:xfrm>
            <a:off x="3648456" y="2724912"/>
            <a:ext cx="2194560" cy="228600"/>
          </a:xfrm>
          <a:prstGeom prst="rect">
            <a:avLst/>
          </a:prstGeom>
          <a:noFill/>
          <a:ln/>
        </p:spPr>
        <p:txBody>
          <a:bodyPr wrap="square" lIns="0" tIns="0" rIns="0" bIns="0" rtlCol="0" anchor="t"/>
          <a:lstStyle/>
          <a:p>
            <a:pPr algn="l" indent="0" marL="0">
              <a:lnSpc>
                <a:spcPct val="110000"/>
              </a:lnSpc>
              <a:buNone/>
            </a:pPr>
            <a:r>
              <a:rPr lang="en-US" sz="1000" b="1" spc="200" kern="0" dirty="0">
                <a:solidFill>
                  <a:srgbClr val="FFCD11"/>
                </a:solidFill>
                <a:latin typeface="Segoe UI" pitchFamily="34" charset="0"/>
                <a:ea typeface="Segoe UI" pitchFamily="34" charset="-122"/>
                <a:cs typeface="Segoe UI" pitchFamily="34" charset="-120"/>
              </a:rPr>
              <a:t>0-3 MONTHS</a:t>
            </a:r>
            <a:endParaRPr lang="en-US" sz="1000" dirty="0"/>
          </a:p>
        </p:txBody>
      </p:sp>
      <p:sp>
        <p:nvSpPr>
          <p:cNvPr id="14" name="Text 12"/>
          <p:cNvSpPr/>
          <p:nvPr/>
        </p:nvSpPr>
        <p:spPr>
          <a:xfrm>
            <a:off x="3648456" y="2971800"/>
            <a:ext cx="2194560" cy="365760"/>
          </a:xfrm>
          <a:prstGeom prst="rect">
            <a:avLst/>
          </a:prstGeom>
          <a:noFill/>
          <a:ln/>
        </p:spPr>
        <p:txBody>
          <a:bodyPr wrap="square" lIns="0" tIns="0" rIns="0" bIns="0" rtlCol="0" anchor="t"/>
          <a:lstStyle/>
          <a:p>
            <a:pPr algn="l" indent="0" marL="0">
              <a:lnSpc>
                <a:spcPct val="110000"/>
              </a:lnSpc>
              <a:buNone/>
            </a:pPr>
            <a:r>
              <a:rPr lang="en-US" sz="1800" b="1" dirty="0">
                <a:solidFill>
                  <a:srgbClr val="F2F3F5"/>
                </a:solidFill>
                <a:latin typeface="Segoe UI" pitchFamily="34" charset="0"/>
                <a:ea typeface="Segoe UI" pitchFamily="34" charset="-122"/>
                <a:cs typeface="Segoe UI" pitchFamily="34" charset="-120"/>
              </a:rPr>
              <a:t>Pilot</a:t>
            </a:r>
            <a:endParaRPr lang="en-US" sz="1800" dirty="0"/>
          </a:p>
        </p:txBody>
      </p:sp>
      <p:sp>
        <p:nvSpPr>
          <p:cNvPr id="15" name="Text 13"/>
          <p:cNvSpPr/>
          <p:nvPr/>
        </p:nvSpPr>
        <p:spPr>
          <a:xfrm>
            <a:off x="3648456" y="3474720"/>
            <a:ext cx="2212848" cy="2148840"/>
          </a:xfrm>
          <a:prstGeom prst="rect">
            <a:avLst/>
          </a:prstGeom>
          <a:noFill/>
          <a:ln/>
        </p:spPr>
        <p:txBody>
          <a:bodyPr wrap="square" lIns="0" tIns="0" rIns="0" bIns="0" rtlCol="0" anchor="t"/>
          <a:lstStyle/>
          <a:p>
            <a:pPr marL="152400" indent="-152400">
              <a:spcAft>
                <a:spcPts val="1200"/>
              </a:spcAft>
              <a:buSzPct val="100000"/>
              <a:buChar char="•"/>
            </a:pPr>
            <a:r>
              <a:rPr lang="en-US" sz="1300" dirty="0">
                <a:solidFill>
                  <a:srgbClr val="C9CED6"/>
                </a:solidFill>
                <a:latin typeface="Segoe UI" pitchFamily="34" charset="0"/>
                <a:ea typeface="Segoe UI" pitchFamily="34" charset="-122"/>
                <a:cs typeface="Segoe UI" pitchFamily="34" charset="-120"/>
              </a:rPr>
              <a:t>One Cat dealer shop, 10-20 new technicians</a:t>
            </a:r>
            <a:endParaRPr lang="en-US" sz="1300" dirty="0"/>
          </a:p>
          <a:p>
            <a:pPr marL="152400" indent="-152400">
              <a:spcAft>
                <a:spcPts val="1200"/>
              </a:spcAft>
              <a:buSzPct val="100000"/>
              <a:buChar char="•"/>
            </a:pPr>
            <a:r>
              <a:rPr lang="en-US" sz="1300" dirty="0">
                <a:solidFill>
                  <a:srgbClr val="C9CED6"/>
                </a:solidFill>
                <a:latin typeface="Segoe UI" pitchFamily="34" charset="0"/>
                <a:ea typeface="Segoe UI" pitchFamily="34" charset="-122"/>
                <a:cs typeface="Segoe UI" pitchFamily="34" charset="-120"/>
              </a:rPr>
              <a:t>Connect real service records and manuals</a:t>
            </a:r>
            <a:endParaRPr lang="en-US" sz="1300" dirty="0"/>
          </a:p>
          <a:p>
            <a:pPr marL="152400" indent="-152400">
              <a:spcAft>
                <a:spcPts val="1200"/>
              </a:spcAft>
              <a:buSzPct val="100000"/>
              <a:buChar char="•"/>
            </a:pPr>
            <a:r>
              <a:rPr lang="en-US" sz="1300" dirty="0">
                <a:solidFill>
                  <a:srgbClr val="C9CED6"/>
                </a:solidFill>
                <a:latin typeface="Segoe UI" pitchFamily="34" charset="0"/>
                <a:ea typeface="Segoe UI" pitchFamily="34" charset="-122"/>
                <a:cs typeface="Segoe UI" pitchFamily="34" charset="-120"/>
              </a:rPr>
              <a:t>Run on Meta AI glasses</a:t>
            </a:r>
            <a:endParaRPr lang="en-US" sz="1300" dirty="0"/>
          </a:p>
          <a:p>
            <a:pPr marL="152400" indent="-152400">
              <a:spcAft>
                <a:spcPts val="1200"/>
              </a:spcAft>
              <a:buSzPct val="100000"/>
              <a:buChar char="•"/>
            </a:pPr>
            <a:r>
              <a:rPr lang="en-US" sz="1300" dirty="0">
                <a:solidFill>
                  <a:srgbClr val="C9CED6"/>
                </a:solidFill>
                <a:latin typeface="Segoe UI" pitchFamily="34" charset="0"/>
                <a:ea typeface="Segoe UI" pitchFamily="34" charset="-122"/>
                <a:cs typeface="Segoe UI" pitchFamily="34" charset="-120"/>
              </a:rPr>
              <a:t>Measure First-Time Fix Rate</a:t>
            </a:r>
            <a:endParaRPr lang="en-US" sz="1300" dirty="0"/>
          </a:p>
        </p:txBody>
      </p:sp>
      <p:sp>
        <p:nvSpPr>
          <p:cNvPr id="16" name="Shape 14"/>
          <p:cNvSpPr/>
          <p:nvPr/>
        </p:nvSpPr>
        <p:spPr>
          <a:xfrm>
            <a:off x="6199632" y="1984248"/>
            <a:ext cx="329184" cy="329184"/>
          </a:xfrm>
          <a:prstGeom prst="ellipse">
            <a:avLst/>
          </a:prstGeom>
          <a:solidFill>
            <a:srgbClr val="0B0D10"/>
          </a:solidFill>
          <a:ln w="25400">
            <a:solidFill>
              <a:srgbClr val="FFCD11"/>
            </a:solidFill>
            <a:prstDash val="solid"/>
          </a:ln>
        </p:spPr>
      </p:sp>
      <p:sp>
        <p:nvSpPr>
          <p:cNvPr id="17" name="Shape 15"/>
          <p:cNvSpPr/>
          <p:nvPr/>
        </p:nvSpPr>
        <p:spPr>
          <a:xfrm>
            <a:off x="6153912" y="2514600"/>
            <a:ext cx="2578608" cy="3200400"/>
          </a:xfrm>
          <a:prstGeom prst="roundRect">
            <a:avLst>
              <a:gd name="adj" fmla="val 4255"/>
            </a:avLst>
          </a:prstGeom>
          <a:solidFill>
            <a:srgbClr val="161A20"/>
          </a:solidFill>
          <a:ln w="12700">
            <a:solidFill>
              <a:srgbClr val="262C35"/>
            </a:solidFill>
            <a:prstDash val="solid"/>
          </a:ln>
        </p:spPr>
      </p:sp>
      <p:sp>
        <p:nvSpPr>
          <p:cNvPr id="18" name="Text 16"/>
          <p:cNvSpPr/>
          <p:nvPr/>
        </p:nvSpPr>
        <p:spPr>
          <a:xfrm>
            <a:off x="6382512" y="2724912"/>
            <a:ext cx="2194560" cy="228600"/>
          </a:xfrm>
          <a:prstGeom prst="rect">
            <a:avLst/>
          </a:prstGeom>
          <a:noFill/>
          <a:ln/>
        </p:spPr>
        <p:txBody>
          <a:bodyPr wrap="square" lIns="0" tIns="0" rIns="0" bIns="0" rtlCol="0" anchor="t"/>
          <a:lstStyle/>
          <a:p>
            <a:pPr algn="l" indent="0" marL="0">
              <a:lnSpc>
                <a:spcPct val="110000"/>
              </a:lnSpc>
              <a:buNone/>
            </a:pPr>
            <a:r>
              <a:rPr lang="en-US" sz="1000" b="1" spc="200" kern="0" dirty="0">
                <a:solidFill>
                  <a:srgbClr val="FFCD11"/>
                </a:solidFill>
                <a:latin typeface="Segoe UI" pitchFamily="34" charset="0"/>
                <a:ea typeface="Segoe UI" pitchFamily="34" charset="-122"/>
                <a:cs typeface="Segoe UI" pitchFamily="34" charset="-120"/>
              </a:rPr>
              <a:t>3-12 MONTHS</a:t>
            </a:r>
            <a:endParaRPr lang="en-US" sz="1000" dirty="0"/>
          </a:p>
        </p:txBody>
      </p:sp>
      <p:sp>
        <p:nvSpPr>
          <p:cNvPr id="19" name="Text 17"/>
          <p:cNvSpPr/>
          <p:nvPr/>
        </p:nvSpPr>
        <p:spPr>
          <a:xfrm>
            <a:off x="6382512" y="2971800"/>
            <a:ext cx="2194560" cy="365760"/>
          </a:xfrm>
          <a:prstGeom prst="rect">
            <a:avLst/>
          </a:prstGeom>
          <a:noFill/>
          <a:ln/>
        </p:spPr>
        <p:txBody>
          <a:bodyPr wrap="square" lIns="0" tIns="0" rIns="0" bIns="0" rtlCol="0" anchor="t"/>
          <a:lstStyle/>
          <a:p>
            <a:pPr algn="l" indent="0" marL="0">
              <a:lnSpc>
                <a:spcPct val="110000"/>
              </a:lnSpc>
              <a:buNone/>
            </a:pPr>
            <a:r>
              <a:rPr lang="en-US" sz="1800" b="1" dirty="0">
                <a:solidFill>
                  <a:srgbClr val="F2F3F5"/>
                </a:solidFill>
                <a:latin typeface="Segoe UI" pitchFamily="34" charset="0"/>
                <a:ea typeface="Segoe UI" pitchFamily="34" charset="-122"/>
                <a:cs typeface="Segoe UI" pitchFamily="34" charset="-120"/>
              </a:rPr>
              <a:t>Scale</a:t>
            </a:r>
            <a:endParaRPr lang="en-US" sz="1800" dirty="0"/>
          </a:p>
        </p:txBody>
      </p:sp>
      <p:sp>
        <p:nvSpPr>
          <p:cNvPr id="20" name="Text 18"/>
          <p:cNvSpPr/>
          <p:nvPr/>
        </p:nvSpPr>
        <p:spPr>
          <a:xfrm>
            <a:off x="6382512" y="3474720"/>
            <a:ext cx="2212848" cy="2148840"/>
          </a:xfrm>
          <a:prstGeom prst="rect">
            <a:avLst/>
          </a:prstGeom>
          <a:noFill/>
          <a:ln/>
        </p:spPr>
        <p:txBody>
          <a:bodyPr wrap="square" lIns="0" tIns="0" rIns="0" bIns="0" rtlCol="0" anchor="t"/>
          <a:lstStyle/>
          <a:p>
            <a:pPr marL="152400" indent="-152400">
              <a:spcAft>
                <a:spcPts val="1200"/>
              </a:spcAft>
              <a:buSzPct val="100000"/>
              <a:buChar char="•"/>
            </a:pPr>
            <a:r>
              <a:rPr lang="en-US" sz="1300" dirty="0">
                <a:solidFill>
                  <a:srgbClr val="C9CED6"/>
                </a:solidFill>
                <a:latin typeface="Segoe UI" pitchFamily="34" charset="0"/>
                <a:ea typeface="Segoe UI" pitchFamily="34" charset="-122"/>
                <a:cs typeface="Segoe UI" pitchFamily="34" charset="-120"/>
              </a:rPr>
              <a:t>Search all 1,000,000+ Cat parts</a:t>
            </a:r>
            <a:endParaRPr lang="en-US" sz="1300" dirty="0"/>
          </a:p>
          <a:p>
            <a:pPr marL="152400" indent="-152400">
              <a:spcAft>
                <a:spcPts val="1200"/>
              </a:spcAft>
              <a:buSzPct val="100000"/>
              <a:buChar char="•"/>
            </a:pPr>
            <a:r>
              <a:rPr lang="en-US" sz="1300" dirty="0">
                <a:solidFill>
                  <a:srgbClr val="C9CED6"/>
                </a:solidFill>
                <a:latin typeface="Segoe UI" pitchFamily="34" charset="0"/>
                <a:ea typeface="Segoe UI" pitchFamily="34" charset="-122"/>
                <a:cs typeface="Segoe UI" pitchFamily="34" charset="-120"/>
              </a:rPr>
              <a:t>Live telematics and fault codes</a:t>
            </a:r>
            <a:endParaRPr lang="en-US" sz="1300" dirty="0"/>
          </a:p>
          <a:p>
            <a:pPr marL="152400" indent="-152400">
              <a:spcAft>
                <a:spcPts val="1200"/>
              </a:spcAft>
              <a:buSzPct val="100000"/>
              <a:buChar char="•"/>
            </a:pPr>
            <a:r>
              <a:rPr lang="en-US" sz="1300" dirty="0">
                <a:solidFill>
                  <a:srgbClr val="C9CED6"/>
                </a:solidFill>
                <a:latin typeface="Segoe UI" pitchFamily="34" charset="0"/>
                <a:ea typeface="Segoe UI" pitchFamily="34" charset="-122"/>
                <a:cs typeface="Segoe UI" pitchFamily="34" charset="-120"/>
              </a:rPr>
              <a:t>More languages</a:t>
            </a:r>
            <a:endParaRPr lang="en-US" sz="1300" dirty="0"/>
          </a:p>
        </p:txBody>
      </p:sp>
      <p:sp>
        <p:nvSpPr>
          <p:cNvPr id="21" name="Shape 19"/>
          <p:cNvSpPr/>
          <p:nvPr/>
        </p:nvSpPr>
        <p:spPr>
          <a:xfrm>
            <a:off x="8933688" y="1984248"/>
            <a:ext cx="329184" cy="329184"/>
          </a:xfrm>
          <a:prstGeom prst="ellipse">
            <a:avLst/>
          </a:prstGeom>
          <a:solidFill>
            <a:srgbClr val="0B0D10"/>
          </a:solidFill>
          <a:ln w="25400">
            <a:solidFill>
              <a:srgbClr val="FFCD11"/>
            </a:solidFill>
            <a:prstDash val="solid"/>
          </a:ln>
        </p:spPr>
      </p:sp>
      <p:sp>
        <p:nvSpPr>
          <p:cNvPr id="22" name="Shape 20"/>
          <p:cNvSpPr/>
          <p:nvPr/>
        </p:nvSpPr>
        <p:spPr>
          <a:xfrm>
            <a:off x="8887968" y="2514600"/>
            <a:ext cx="2578608" cy="3200400"/>
          </a:xfrm>
          <a:prstGeom prst="roundRect">
            <a:avLst>
              <a:gd name="adj" fmla="val 4255"/>
            </a:avLst>
          </a:prstGeom>
          <a:solidFill>
            <a:srgbClr val="161A20"/>
          </a:solidFill>
          <a:ln w="12700">
            <a:solidFill>
              <a:srgbClr val="262C35"/>
            </a:solidFill>
            <a:prstDash val="solid"/>
          </a:ln>
        </p:spPr>
      </p:sp>
      <p:sp>
        <p:nvSpPr>
          <p:cNvPr id="23" name="Text 21"/>
          <p:cNvSpPr/>
          <p:nvPr/>
        </p:nvSpPr>
        <p:spPr>
          <a:xfrm>
            <a:off x="9116568" y="2724912"/>
            <a:ext cx="2194560" cy="228600"/>
          </a:xfrm>
          <a:prstGeom prst="rect">
            <a:avLst/>
          </a:prstGeom>
          <a:noFill/>
          <a:ln/>
        </p:spPr>
        <p:txBody>
          <a:bodyPr wrap="square" lIns="0" tIns="0" rIns="0" bIns="0" rtlCol="0" anchor="t"/>
          <a:lstStyle/>
          <a:p>
            <a:pPr algn="l" indent="0" marL="0">
              <a:lnSpc>
                <a:spcPct val="110000"/>
              </a:lnSpc>
              <a:buNone/>
            </a:pPr>
            <a:r>
              <a:rPr lang="en-US" sz="1000" b="1" spc="200" kern="0" dirty="0">
                <a:solidFill>
                  <a:srgbClr val="FFCD11"/>
                </a:solidFill>
                <a:latin typeface="Segoe UI" pitchFamily="34" charset="0"/>
                <a:ea typeface="Segoe UI" pitchFamily="34" charset="-122"/>
                <a:cs typeface="Segoe UI" pitchFamily="34" charset="-120"/>
              </a:rPr>
              <a:t>12+ MONTHS</a:t>
            </a:r>
            <a:endParaRPr lang="en-US" sz="1000" dirty="0"/>
          </a:p>
        </p:txBody>
      </p:sp>
      <p:sp>
        <p:nvSpPr>
          <p:cNvPr id="24" name="Text 22"/>
          <p:cNvSpPr/>
          <p:nvPr/>
        </p:nvSpPr>
        <p:spPr>
          <a:xfrm>
            <a:off x="9116568" y="2971800"/>
            <a:ext cx="2194560" cy="365760"/>
          </a:xfrm>
          <a:prstGeom prst="rect">
            <a:avLst/>
          </a:prstGeom>
          <a:noFill/>
          <a:ln/>
        </p:spPr>
        <p:txBody>
          <a:bodyPr wrap="square" lIns="0" tIns="0" rIns="0" bIns="0" rtlCol="0" anchor="t"/>
          <a:lstStyle/>
          <a:p>
            <a:pPr algn="l" indent="0" marL="0">
              <a:lnSpc>
                <a:spcPct val="110000"/>
              </a:lnSpc>
              <a:buNone/>
            </a:pPr>
            <a:r>
              <a:rPr lang="en-US" sz="1800" b="1" dirty="0">
                <a:solidFill>
                  <a:srgbClr val="F2F3F5"/>
                </a:solidFill>
                <a:latin typeface="Segoe UI" pitchFamily="34" charset="0"/>
                <a:ea typeface="Segoe UI" pitchFamily="34" charset="-122"/>
                <a:cs typeface="Segoe UI" pitchFamily="34" charset="-120"/>
              </a:rPr>
              <a:t>Fleet-wide</a:t>
            </a:r>
            <a:endParaRPr lang="en-US" sz="1800" dirty="0"/>
          </a:p>
        </p:txBody>
      </p:sp>
      <p:sp>
        <p:nvSpPr>
          <p:cNvPr id="25" name="Text 23"/>
          <p:cNvSpPr/>
          <p:nvPr/>
        </p:nvSpPr>
        <p:spPr>
          <a:xfrm>
            <a:off x="9116568" y="3474720"/>
            <a:ext cx="2212848" cy="2148840"/>
          </a:xfrm>
          <a:prstGeom prst="rect">
            <a:avLst/>
          </a:prstGeom>
          <a:noFill/>
          <a:ln/>
        </p:spPr>
        <p:txBody>
          <a:bodyPr wrap="square" lIns="0" tIns="0" rIns="0" bIns="0" rtlCol="0" anchor="t"/>
          <a:lstStyle/>
          <a:p>
            <a:pPr marL="152400" indent="-152400">
              <a:spcAft>
                <a:spcPts val="1200"/>
              </a:spcAft>
              <a:buSzPct val="100000"/>
              <a:buChar char="•"/>
            </a:pPr>
            <a:r>
              <a:rPr lang="en-US" sz="1300" dirty="0">
                <a:solidFill>
                  <a:srgbClr val="C9CED6"/>
                </a:solidFill>
                <a:latin typeface="Segoe UI" pitchFamily="34" charset="0"/>
                <a:ea typeface="Segoe UI" pitchFamily="34" charset="-122"/>
                <a:cs typeface="Segoe UI" pitchFamily="34" charset="-120"/>
              </a:rPr>
              <a:t>Every Cat machine has a memory</a:t>
            </a:r>
            <a:endParaRPr lang="en-US" sz="1300" dirty="0"/>
          </a:p>
          <a:p>
            <a:pPr marL="152400" indent="-152400">
              <a:spcAft>
                <a:spcPts val="1200"/>
              </a:spcAft>
              <a:buSzPct val="100000"/>
              <a:buChar char="•"/>
            </a:pPr>
            <a:r>
              <a:rPr lang="en-US" sz="1300" dirty="0">
                <a:solidFill>
                  <a:srgbClr val="C9CED6"/>
                </a:solidFill>
                <a:latin typeface="Segoe UI" pitchFamily="34" charset="0"/>
                <a:ea typeface="Segoe UI" pitchFamily="34" charset="-122"/>
                <a:cs typeface="Segoe UI" pitchFamily="34" charset="-120"/>
              </a:rPr>
              <a:t>Operators and fleet managers too</a:t>
            </a:r>
            <a:endParaRPr lang="en-US" sz="1300" dirty="0"/>
          </a:p>
          <a:p>
            <a:pPr marL="152400" indent="-152400">
              <a:spcAft>
                <a:spcPts val="1200"/>
              </a:spcAft>
              <a:buSzPct val="100000"/>
              <a:buChar char="•"/>
            </a:pPr>
            <a:r>
              <a:rPr lang="en-US" sz="1300" dirty="0">
                <a:solidFill>
                  <a:srgbClr val="C9CED6"/>
                </a:solidFill>
                <a:latin typeface="Segoe UI" pitchFamily="34" charset="0"/>
                <a:ea typeface="Segoe UI" pitchFamily="34" charset="-122"/>
                <a:cs typeface="Segoe UI" pitchFamily="34" charset="-120"/>
              </a:rPr>
              <a:t>AR highlights on the exact part</a:t>
            </a:r>
            <a:endParaRPr lang="en-US" sz="1300" dirty="0"/>
          </a:p>
          <a:p>
            <a:pPr marL="152400" indent="-152400">
              <a:spcAft>
                <a:spcPts val="1200"/>
              </a:spcAft>
              <a:buSzPct val="100000"/>
              <a:buChar char="•"/>
            </a:pPr>
            <a:r>
              <a:rPr lang="en-US" sz="1300" dirty="0">
                <a:solidFill>
                  <a:srgbClr val="C9CED6"/>
                </a:solidFill>
                <a:latin typeface="Segoe UI" pitchFamily="34" charset="0"/>
                <a:ea typeface="Segoe UI" pitchFamily="34" charset="-122"/>
                <a:cs typeface="Segoe UI" pitchFamily="34" charset="-120"/>
              </a:rPr>
              <a:t>Personal coaching agents</a:t>
            </a:r>
            <a:endParaRPr lang="en-US" sz="1300" dirty="0"/>
          </a:p>
        </p:txBody>
      </p:sp>
      <p:sp>
        <p:nvSpPr>
          <p:cNvPr id="26" name="Text 24"/>
          <p:cNvSpPr/>
          <p:nvPr/>
        </p:nvSpPr>
        <p:spPr>
          <a:xfrm>
            <a:off x="685800" y="5806440"/>
            <a:ext cx="10789920" cy="320040"/>
          </a:xfrm>
          <a:prstGeom prst="rect">
            <a:avLst/>
          </a:prstGeom>
          <a:noFill/>
          <a:ln/>
        </p:spPr>
        <p:txBody>
          <a:bodyPr wrap="square" lIns="0" tIns="0" rIns="0" bIns="0" rtlCol="0" anchor="ctr"/>
          <a:lstStyle/>
          <a:p>
            <a:pPr indent="0" marL="0">
              <a:buNone/>
            </a:pPr>
            <a:r>
              <a:rPr lang="en-US" sz="1000" b="1" spc="200" kern="0" dirty="0">
                <a:solidFill>
                  <a:srgbClr val="FFCD11"/>
                </a:solidFill>
                <a:latin typeface="Segoe UI" pitchFamily="34" charset="0"/>
                <a:ea typeface="Segoe UI" pitchFamily="34" charset="-122"/>
                <a:cs typeface="Segoe UI" pitchFamily="34" charset="-120"/>
              </a:rPr>
              <a:t>TO START THE PILOT WE NEED   </a:t>
            </a:r>
            <a:pPr indent="0" marL="0">
              <a:buNone/>
            </a:pPr>
            <a:r>
              <a:rPr lang="en-US" sz="1300" dirty="0">
                <a:solidFill>
                  <a:srgbClr val="C9CED6"/>
                </a:solidFill>
                <a:latin typeface="Segoe UI" pitchFamily="34" charset="0"/>
                <a:ea typeface="Segoe UI" pitchFamily="34" charset="-122"/>
                <a:cs typeface="Segoe UI" pitchFamily="34" charset="-120"/>
              </a:rPr>
              <a:t>a dealer partner  ·  access to service records  ·  glasses hardware</a:t>
            </a:r>
            <a:endParaRPr lang="en-US" sz="10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80"/>
                </a:solidFill>
                <a:latin typeface="Segoe UI"/>
                <a:ea typeface="Segoe UI"/>
                <a:cs typeface="Segoe U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685800" y="649224"/>
            <a:ext cx="320040" cy="27432"/>
          </a:xfrm>
          <a:prstGeom prst="rect">
            <a:avLst/>
          </a:prstGeom>
          <a:solidFill>
            <a:srgbClr val="FFCD11"/>
          </a:solidFill>
          <a:ln w="12700">
            <a:solidFill>
              <a:srgbClr val="FFCD11"/>
            </a:solidFill>
            <a:prstDash val="solid"/>
          </a:ln>
        </p:spPr>
      </p:sp>
      <p:sp>
        <p:nvSpPr>
          <p:cNvPr id="3" name="Text 1"/>
          <p:cNvSpPr/>
          <p:nvPr/>
        </p:nvSpPr>
        <p:spPr>
          <a:xfrm>
            <a:off x="1115568" y="512064"/>
            <a:ext cx="7315200" cy="292608"/>
          </a:xfrm>
          <a:prstGeom prst="rect">
            <a:avLst/>
          </a:prstGeom>
          <a:noFill/>
          <a:ln/>
        </p:spPr>
        <p:txBody>
          <a:bodyPr wrap="square" lIns="0" tIns="0" rIns="0" bIns="0" rtlCol="0" anchor="ctr"/>
          <a:lstStyle/>
          <a:p>
            <a:pPr indent="0" marL="0">
              <a:buNone/>
            </a:pPr>
            <a:r>
              <a:rPr lang="en-US" sz="1100" b="1" spc="300" kern="0" dirty="0">
                <a:solidFill>
                  <a:srgbClr val="FFCD11"/>
                </a:solidFill>
                <a:latin typeface="Segoe UI" pitchFamily="34" charset="0"/>
                <a:ea typeface="Segoe UI" pitchFamily="34" charset="-122"/>
                <a:cs typeface="Segoe UI" pitchFamily="34" charset="-120"/>
              </a:rPr>
              <a:t>11   </a:t>
            </a:r>
            <a:pPr indent="0" marL="0">
              <a:buNone/>
            </a:pPr>
            <a:r>
              <a:rPr lang="en-US" sz="1100" b="1" spc="300" kern="0" dirty="0">
                <a:solidFill>
                  <a:srgbClr val="9AA3B0"/>
                </a:solidFill>
                <a:latin typeface="Segoe UI" pitchFamily="34" charset="0"/>
                <a:ea typeface="Segoe UI" pitchFamily="34" charset="-122"/>
                <a:cs typeface="Segoe UI" pitchFamily="34" charset="-120"/>
              </a:rPr>
              <a:t>NEXT STEPS</a:t>
            </a:r>
            <a:endParaRPr lang="en-US" sz="1100" dirty="0"/>
          </a:p>
        </p:txBody>
      </p:sp>
      <p:sp>
        <p:nvSpPr>
          <p:cNvPr id="4" name="Text 2"/>
          <p:cNvSpPr/>
          <p:nvPr/>
        </p:nvSpPr>
        <p:spPr>
          <a:xfrm>
            <a:off x="685800" y="896112"/>
            <a:ext cx="10789920" cy="868680"/>
          </a:xfrm>
          <a:prstGeom prst="rect">
            <a:avLst/>
          </a:prstGeom>
          <a:noFill/>
          <a:ln/>
        </p:spPr>
        <p:txBody>
          <a:bodyPr wrap="square" lIns="0" tIns="0" rIns="0" bIns="0" rtlCol="0" anchor="t"/>
          <a:lstStyle/>
          <a:p>
            <a:pPr indent="0" marL="0">
              <a:lnSpc>
                <a:spcPct val="95000"/>
              </a:lnSpc>
              <a:buNone/>
            </a:pPr>
            <a:r>
              <a:rPr lang="en-US" sz="3200" b="1" dirty="0">
                <a:solidFill>
                  <a:srgbClr val="F2F3F5"/>
                </a:solidFill>
                <a:latin typeface="Segoe UI" pitchFamily="34" charset="0"/>
                <a:ea typeface="Segoe UI" pitchFamily="34" charset="-122"/>
                <a:cs typeface="Segoe UI" pitchFamily="34" charset="-120"/>
              </a:rPr>
              <a:t>What's next.</a:t>
            </a:r>
            <a:endParaRPr lang="en-US" sz="3200" dirty="0"/>
          </a:p>
        </p:txBody>
      </p:sp>
      <p:sp>
        <p:nvSpPr>
          <p:cNvPr id="5" name="Shape 3"/>
          <p:cNvSpPr/>
          <p:nvPr/>
        </p:nvSpPr>
        <p:spPr>
          <a:xfrm>
            <a:off x="685800" y="1783080"/>
            <a:ext cx="3474720" cy="1783080"/>
          </a:xfrm>
          <a:prstGeom prst="roundRect">
            <a:avLst>
              <a:gd name="adj" fmla="val 6154"/>
            </a:avLst>
          </a:prstGeom>
          <a:solidFill>
            <a:srgbClr val="161A20"/>
          </a:solidFill>
          <a:ln w="12700">
            <a:solidFill>
              <a:srgbClr val="262C35"/>
            </a:solidFill>
            <a:prstDash val="solid"/>
          </a:ln>
        </p:spPr>
      </p:sp>
      <p:sp>
        <p:nvSpPr>
          <p:cNvPr id="6" name="Shape 4"/>
          <p:cNvSpPr/>
          <p:nvPr/>
        </p:nvSpPr>
        <p:spPr>
          <a:xfrm>
            <a:off x="960120" y="2029968"/>
            <a:ext cx="512064" cy="512064"/>
          </a:xfrm>
          <a:prstGeom prst="roundRect">
            <a:avLst>
              <a:gd name="adj" fmla="val 17857"/>
            </a:avLst>
          </a:prstGeom>
          <a:solidFill>
            <a:srgbClr val="FFCD11">
              <a:alpha val="14000"/>
            </a:srgbClr>
          </a:solidFill>
          <a:ln w="9525">
            <a:solidFill>
              <a:srgbClr val="FFCD11">
                <a:alpha val="45000"/>
              </a:srgbClr>
            </a:solidFill>
            <a:prstDash val="solid"/>
          </a:ln>
        </p:spPr>
      </p:sp>
      <p:pic>
        <p:nvPicPr>
          <p:cNvPr id="7" name="Image 0" descr="preencoded.png">    </p:cNvPr>
          <p:cNvPicPr>
            <a:picLocks noChangeAspect="1"/>
          </p:cNvPicPr>
          <p:nvPr/>
        </p:nvPicPr>
        <p:blipFill>
          <a:blip r:embed="rId1"/>
          <a:stretch>
            <a:fillRect/>
          </a:stretch>
        </p:blipFill>
        <p:spPr>
          <a:xfrm>
            <a:off x="1072774" y="2142622"/>
            <a:ext cx="286756" cy="286756"/>
          </a:xfrm>
          <a:prstGeom prst="rect">
            <a:avLst/>
          </a:prstGeom>
        </p:spPr>
      </p:pic>
      <p:sp>
        <p:nvSpPr>
          <p:cNvPr id="8" name="Text 5"/>
          <p:cNvSpPr/>
          <p:nvPr/>
        </p:nvSpPr>
        <p:spPr>
          <a:xfrm>
            <a:off x="960120" y="2651760"/>
            <a:ext cx="3017520" cy="329184"/>
          </a:xfrm>
          <a:prstGeom prst="rect">
            <a:avLst/>
          </a:prstGeom>
          <a:noFill/>
          <a:ln/>
        </p:spPr>
        <p:txBody>
          <a:bodyPr wrap="square" lIns="0" tIns="0" rIns="0" bIns="0" rtlCol="0" anchor="t"/>
          <a:lstStyle/>
          <a:p>
            <a:pPr algn="l" indent="0" marL="0">
              <a:lnSpc>
                <a:spcPct val="110000"/>
              </a:lnSpc>
              <a:buNone/>
            </a:pPr>
            <a:r>
              <a:rPr lang="en-US" sz="1700" b="1" dirty="0">
                <a:solidFill>
                  <a:srgbClr val="F2F3F5"/>
                </a:solidFill>
                <a:latin typeface="Segoe UI" pitchFamily="34" charset="0"/>
                <a:ea typeface="Segoe UI" pitchFamily="34" charset="-122"/>
                <a:cs typeface="Segoe UI" pitchFamily="34" charset="-120"/>
              </a:rPr>
              <a:t>More languages</a:t>
            </a:r>
            <a:endParaRPr lang="en-US" sz="1700" dirty="0"/>
          </a:p>
        </p:txBody>
      </p:sp>
      <p:sp>
        <p:nvSpPr>
          <p:cNvPr id="9" name="Text 6"/>
          <p:cNvSpPr/>
          <p:nvPr/>
        </p:nvSpPr>
        <p:spPr>
          <a:xfrm>
            <a:off x="960120" y="2999232"/>
            <a:ext cx="2971800" cy="502920"/>
          </a:xfrm>
          <a:prstGeom prst="rect">
            <a:avLst/>
          </a:prstGeom>
          <a:noFill/>
          <a:ln/>
        </p:spPr>
        <p:txBody>
          <a:bodyPr wrap="square" lIns="0" tIns="0" rIns="0" bIns="0" rtlCol="0" anchor="t"/>
          <a:lstStyle/>
          <a:p>
            <a:pPr algn="l" indent="0" marL="0">
              <a:lnSpc>
                <a:spcPct val="110000"/>
              </a:lnSpc>
              <a:buNone/>
            </a:pPr>
            <a:r>
              <a:rPr lang="en-US" sz="1200" dirty="0">
                <a:solidFill>
                  <a:srgbClr val="9AA3B0"/>
                </a:solidFill>
                <a:latin typeface="Segoe UI" pitchFamily="34" charset="0"/>
                <a:ea typeface="Segoe UI" pitchFamily="34" charset="-122"/>
                <a:cs typeface="Segoe UI" pitchFamily="34" charset="-120"/>
              </a:rPr>
              <a:t>Beyond English and Spanish, so every crew member is covered</a:t>
            </a:r>
            <a:endParaRPr lang="en-US" sz="1200" dirty="0"/>
          </a:p>
        </p:txBody>
      </p:sp>
      <p:sp>
        <p:nvSpPr>
          <p:cNvPr id="10" name="Shape 7"/>
          <p:cNvSpPr/>
          <p:nvPr/>
        </p:nvSpPr>
        <p:spPr>
          <a:xfrm>
            <a:off x="4357116" y="1783080"/>
            <a:ext cx="3474720" cy="1783080"/>
          </a:xfrm>
          <a:prstGeom prst="roundRect">
            <a:avLst>
              <a:gd name="adj" fmla="val 6154"/>
            </a:avLst>
          </a:prstGeom>
          <a:solidFill>
            <a:srgbClr val="161A20"/>
          </a:solidFill>
          <a:ln w="12700">
            <a:solidFill>
              <a:srgbClr val="262C35"/>
            </a:solidFill>
            <a:prstDash val="solid"/>
          </a:ln>
        </p:spPr>
      </p:sp>
      <p:sp>
        <p:nvSpPr>
          <p:cNvPr id="11" name="Shape 8"/>
          <p:cNvSpPr/>
          <p:nvPr/>
        </p:nvSpPr>
        <p:spPr>
          <a:xfrm>
            <a:off x="4631436" y="2029968"/>
            <a:ext cx="512064" cy="512064"/>
          </a:xfrm>
          <a:prstGeom prst="roundRect">
            <a:avLst>
              <a:gd name="adj" fmla="val 17857"/>
            </a:avLst>
          </a:prstGeom>
          <a:solidFill>
            <a:srgbClr val="FFCD11">
              <a:alpha val="14000"/>
            </a:srgbClr>
          </a:solidFill>
          <a:ln w="9525">
            <a:solidFill>
              <a:srgbClr val="FFCD11">
                <a:alpha val="45000"/>
              </a:srgbClr>
            </a:solidFill>
            <a:prstDash val="solid"/>
          </a:ln>
        </p:spPr>
      </p:sp>
      <p:pic>
        <p:nvPicPr>
          <p:cNvPr id="12" name="Image 1" descr="preencoded.png">    </p:cNvPr>
          <p:cNvPicPr>
            <a:picLocks noChangeAspect="1"/>
          </p:cNvPicPr>
          <p:nvPr/>
        </p:nvPicPr>
        <p:blipFill>
          <a:blip r:embed="rId2"/>
          <a:stretch>
            <a:fillRect/>
          </a:stretch>
        </p:blipFill>
        <p:spPr>
          <a:xfrm>
            <a:off x="4744090" y="2142622"/>
            <a:ext cx="286756" cy="286756"/>
          </a:xfrm>
          <a:prstGeom prst="rect">
            <a:avLst/>
          </a:prstGeom>
        </p:spPr>
      </p:pic>
      <p:sp>
        <p:nvSpPr>
          <p:cNvPr id="13" name="Text 9"/>
          <p:cNvSpPr/>
          <p:nvPr/>
        </p:nvSpPr>
        <p:spPr>
          <a:xfrm>
            <a:off x="4631436" y="2651760"/>
            <a:ext cx="3017520" cy="329184"/>
          </a:xfrm>
          <a:prstGeom prst="rect">
            <a:avLst/>
          </a:prstGeom>
          <a:noFill/>
          <a:ln/>
        </p:spPr>
        <p:txBody>
          <a:bodyPr wrap="square" lIns="0" tIns="0" rIns="0" bIns="0" rtlCol="0" anchor="t"/>
          <a:lstStyle/>
          <a:p>
            <a:pPr algn="l" indent="0" marL="0">
              <a:lnSpc>
                <a:spcPct val="110000"/>
              </a:lnSpc>
              <a:buNone/>
            </a:pPr>
            <a:r>
              <a:rPr lang="en-US" sz="1700" b="1" dirty="0">
                <a:solidFill>
                  <a:srgbClr val="F2F3F5"/>
                </a:solidFill>
                <a:latin typeface="Segoe UI" pitchFamily="34" charset="0"/>
                <a:ea typeface="Segoe UI" pitchFamily="34" charset="-122"/>
                <a:cs typeface="Segoe UI" pitchFamily="34" charset="-120"/>
              </a:rPr>
              <a:t>Smarter personalization</a:t>
            </a:r>
            <a:endParaRPr lang="en-US" sz="1700" dirty="0"/>
          </a:p>
        </p:txBody>
      </p:sp>
      <p:sp>
        <p:nvSpPr>
          <p:cNvPr id="14" name="Text 10"/>
          <p:cNvSpPr/>
          <p:nvPr/>
        </p:nvSpPr>
        <p:spPr>
          <a:xfrm>
            <a:off x="4631436" y="2999232"/>
            <a:ext cx="2971800" cy="502920"/>
          </a:xfrm>
          <a:prstGeom prst="rect">
            <a:avLst/>
          </a:prstGeom>
          <a:noFill/>
          <a:ln/>
        </p:spPr>
        <p:txBody>
          <a:bodyPr wrap="square" lIns="0" tIns="0" rIns="0" bIns="0" rtlCol="0" anchor="t"/>
          <a:lstStyle/>
          <a:p>
            <a:pPr algn="l" indent="0" marL="0">
              <a:lnSpc>
                <a:spcPct val="110000"/>
              </a:lnSpc>
              <a:buNone/>
            </a:pPr>
            <a:r>
              <a:rPr lang="en-US" sz="1200" dirty="0">
                <a:solidFill>
                  <a:srgbClr val="9AA3B0"/>
                </a:solidFill>
                <a:latin typeface="Segoe UI" pitchFamily="34" charset="0"/>
                <a:ea typeface="Segoe UI" pitchFamily="34" charset="-122"/>
                <a:cs typeface="Segoe UI" pitchFamily="34" charset="-120"/>
              </a:rPr>
              <a:t>Agents adapt their tone, depth and coaching to each technician</a:t>
            </a:r>
            <a:endParaRPr lang="en-US" sz="1200" dirty="0"/>
          </a:p>
        </p:txBody>
      </p:sp>
      <p:sp>
        <p:nvSpPr>
          <p:cNvPr id="15" name="Shape 11"/>
          <p:cNvSpPr/>
          <p:nvPr/>
        </p:nvSpPr>
        <p:spPr>
          <a:xfrm>
            <a:off x="8028432" y="1783080"/>
            <a:ext cx="3474720" cy="1783080"/>
          </a:xfrm>
          <a:prstGeom prst="roundRect">
            <a:avLst>
              <a:gd name="adj" fmla="val 6154"/>
            </a:avLst>
          </a:prstGeom>
          <a:solidFill>
            <a:srgbClr val="161A20"/>
          </a:solidFill>
          <a:ln w="12700">
            <a:solidFill>
              <a:srgbClr val="262C35"/>
            </a:solidFill>
            <a:prstDash val="solid"/>
          </a:ln>
        </p:spPr>
      </p:sp>
      <p:sp>
        <p:nvSpPr>
          <p:cNvPr id="16" name="Shape 12"/>
          <p:cNvSpPr/>
          <p:nvPr/>
        </p:nvSpPr>
        <p:spPr>
          <a:xfrm>
            <a:off x="8302752" y="2029968"/>
            <a:ext cx="512064" cy="512064"/>
          </a:xfrm>
          <a:prstGeom prst="roundRect">
            <a:avLst>
              <a:gd name="adj" fmla="val 17857"/>
            </a:avLst>
          </a:prstGeom>
          <a:solidFill>
            <a:srgbClr val="FFCD11">
              <a:alpha val="14000"/>
            </a:srgbClr>
          </a:solidFill>
          <a:ln w="9525">
            <a:solidFill>
              <a:srgbClr val="FFCD11">
                <a:alpha val="45000"/>
              </a:srgbClr>
            </a:solidFill>
            <a:prstDash val="solid"/>
          </a:ln>
        </p:spPr>
      </p:sp>
      <p:pic>
        <p:nvPicPr>
          <p:cNvPr id="17" name="Image 2" descr="preencoded.png">    </p:cNvPr>
          <p:cNvPicPr>
            <a:picLocks noChangeAspect="1"/>
          </p:cNvPicPr>
          <p:nvPr/>
        </p:nvPicPr>
        <p:blipFill>
          <a:blip r:embed="rId3"/>
          <a:stretch>
            <a:fillRect/>
          </a:stretch>
        </p:blipFill>
        <p:spPr>
          <a:xfrm>
            <a:off x="8415406" y="2142622"/>
            <a:ext cx="286756" cy="286756"/>
          </a:xfrm>
          <a:prstGeom prst="rect">
            <a:avLst/>
          </a:prstGeom>
        </p:spPr>
      </p:pic>
      <p:sp>
        <p:nvSpPr>
          <p:cNvPr id="18" name="Text 13"/>
          <p:cNvSpPr/>
          <p:nvPr/>
        </p:nvSpPr>
        <p:spPr>
          <a:xfrm>
            <a:off x="8302752" y="2651760"/>
            <a:ext cx="3017520" cy="329184"/>
          </a:xfrm>
          <a:prstGeom prst="rect">
            <a:avLst/>
          </a:prstGeom>
          <a:noFill/>
          <a:ln/>
        </p:spPr>
        <p:txBody>
          <a:bodyPr wrap="square" lIns="0" tIns="0" rIns="0" bIns="0" rtlCol="0" anchor="t"/>
          <a:lstStyle/>
          <a:p>
            <a:pPr algn="l" indent="0" marL="0">
              <a:lnSpc>
                <a:spcPct val="110000"/>
              </a:lnSpc>
              <a:buNone/>
            </a:pPr>
            <a:r>
              <a:rPr lang="en-US" sz="1700" b="1" dirty="0">
                <a:solidFill>
                  <a:srgbClr val="F2F3F5"/>
                </a:solidFill>
                <a:latin typeface="Segoe UI" pitchFamily="34" charset="0"/>
                <a:ea typeface="Segoe UI" pitchFamily="34" charset="-122"/>
                <a:cs typeface="Segoe UI" pitchFamily="34" charset="-120"/>
              </a:rPr>
              <a:t>Scale to Cat's data</a:t>
            </a:r>
            <a:endParaRPr lang="en-US" sz="1700" dirty="0"/>
          </a:p>
        </p:txBody>
      </p:sp>
      <p:sp>
        <p:nvSpPr>
          <p:cNvPr id="19" name="Text 14"/>
          <p:cNvSpPr/>
          <p:nvPr/>
        </p:nvSpPr>
        <p:spPr>
          <a:xfrm>
            <a:off x="8302752" y="2999232"/>
            <a:ext cx="2971800" cy="502920"/>
          </a:xfrm>
          <a:prstGeom prst="rect">
            <a:avLst/>
          </a:prstGeom>
          <a:noFill/>
          <a:ln/>
        </p:spPr>
        <p:txBody>
          <a:bodyPr wrap="square" lIns="0" tIns="0" rIns="0" bIns="0" rtlCol="0" anchor="t"/>
          <a:lstStyle/>
          <a:p>
            <a:pPr algn="l" indent="0" marL="0">
              <a:lnSpc>
                <a:spcPct val="110000"/>
              </a:lnSpc>
              <a:buNone/>
            </a:pPr>
            <a:r>
              <a:rPr lang="en-US" sz="1200" dirty="0">
                <a:solidFill>
                  <a:srgbClr val="9AA3B0"/>
                </a:solidFill>
                <a:latin typeface="Segoe UI" pitchFamily="34" charset="0"/>
                <a:ea typeface="Segoe UI" pitchFamily="34" charset="-122"/>
                <a:cs typeface="Segoe UI" pitchFamily="34" charset="-120"/>
              </a:rPr>
              <a:t>Handle 1,000,000+ parts, manuals and live machine data</a:t>
            </a:r>
            <a:endParaRPr lang="en-US" sz="1200" dirty="0"/>
          </a:p>
        </p:txBody>
      </p:sp>
      <p:sp>
        <p:nvSpPr>
          <p:cNvPr id="20" name="Shape 15"/>
          <p:cNvSpPr/>
          <p:nvPr/>
        </p:nvSpPr>
        <p:spPr>
          <a:xfrm>
            <a:off x="685800" y="3886200"/>
            <a:ext cx="10817352" cy="2194560"/>
          </a:xfrm>
          <a:prstGeom prst="roundRect">
            <a:avLst>
              <a:gd name="adj" fmla="val 5000"/>
            </a:avLst>
          </a:prstGeom>
          <a:solidFill>
            <a:srgbClr val="FFCD11">
              <a:alpha val="12000"/>
            </a:srgbClr>
          </a:solidFill>
          <a:ln w="12700">
            <a:solidFill>
              <a:srgbClr val="FFCD11"/>
            </a:solidFill>
            <a:prstDash val="solid"/>
          </a:ln>
        </p:spPr>
      </p:sp>
      <p:sp>
        <p:nvSpPr>
          <p:cNvPr id="21" name="Text 16"/>
          <p:cNvSpPr/>
          <p:nvPr/>
        </p:nvSpPr>
        <p:spPr>
          <a:xfrm>
            <a:off x="1051560" y="4160520"/>
            <a:ext cx="4572000" cy="822960"/>
          </a:xfrm>
          <a:prstGeom prst="rect">
            <a:avLst/>
          </a:prstGeom>
          <a:noFill/>
          <a:ln/>
        </p:spPr>
        <p:txBody>
          <a:bodyPr wrap="square" lIns="0" tIns="0" rIns="0" bIns="0" rtlCol="0" anchor="ctr"/>
          <a:lstStyle/>
          <a:p>
            <a:pPr indent="0" marL="0">
              <a:buNone/>
            </a:pPr>
            <a:r>
              <a:rPr lang="en-US" sz="4400" b="1" dirty="0">
                <a:solidFill>
                  <a:srgbClr val="F2F3F5"/>
                </a:solidFill>
                <a:latin typeface="Segoe UI" pitchFamily="34" charset="0"/>
                <a:ea typeface="Segoe UI" pitchFamily="34" charset="-122"/>
                <a:cs typeface="Segoe UI" pitchFamily="34" charset="-120"/>
              </a:rPr>
              <a:t>Déjà</a:t>
            </a:r>
            <a:pPr indent="0" marL="0">
              <a:buNone/>
            </a:pPr>
            <a:r>
              <a:rPr lang="en-US" sz="4400" b="1" dirty="0">
                <a:solidFill>
                  <a:srgbClr val="FFCD11"/>
                </a:solidFill>
                <a:latin typeface="Segoe UI" pitchFamily="34" charset="0"/>
                <a:ea typeface="Segoe UI" pitchFamily="34" charset="-122"/>
                <a:cs typeface="Segoe UI" pitchFamily="34" charset="-120"/>
              </a:rPr>
              <a:t>View</a:t>
            </a:r>
            <a:endParaRPr lang="en-US" sz="4400" dirty="0"/>
          </a:p>
        </p:txBody>
      </p:sp>
      <p:sp>
        <p:nvSpPr>
          <p:cNvPr id="22" name="Text 17"/>
          <p:cNvSpPr/>
          <p:nvPr/>
        </p:nvSpPr>
        <p:spPr>
          <a:xfrm>
            <a:off x="1051560" y="5029200"/>
            <a:ext cx="5486400" cy="822960"/>
          </a:xfrm>
          <a:prstGeom prst="rect">
            <a:avLst/>
          </a:prstGeom>
          <a:noFill/>
          <a:ln/>
        </p:spPr>
        <p:txBody>
          <a:bodyPr wrap="square" lIns="0" tIns="0" rIns="0" bIns="0" rtlCol="0" anchor="t"/>
          <a:lstStyle/>
          <a:p>
            <a:pPr algn="l" indent="0" marL="0">
              <a:lnSpc>
                <a:spcPct val="120000"/>
              </a:lnSpc>
              <a:buNone/>
            </a:pPr>
            <a:r>
              <a:rPr lang="en-US" sz="1800" dirty="0">
                <a:solidFill>
                  <a:srgbClr val="C9CED6"/>
                </a:solidFill>
                <a:latin typeface="Segoe UI" pitchFamily="34" charset="0"/>
                <a:ea typeface="Segoe UI" pitchFamily="34" charset="-122"/>
                <a:cs typeface="Segoe UI" pitchFamily="34" charset="-120"/>
              </a:rPr>
              <a:t>Every machine remembers.</a:t>
            </a:r>
            <a:endParaRPr lang="en-US" sz="1800" dirty="0"/>
          </a:p>
          <a:p>
            <a:pPr algn="l" indent="0" marL="0">
              <a:lnSpc>
                <a:spcPct val="120000"/>
              </a:lnSpc>
              <a:buNone/>
            </a:pPr>
            <a:r>
              <a:rPr lang="en-US" sz="1800" dirty="0">
                <a:solidFill>
                  <a:srgbClr val="C9CED6"/>
                </a:solidFill>
                <a:latin typeface="Segoe UI" pitchFamily="34" charset="0"/>
                <a:ea typeface="Segoe UI" pitchFamily="34" charset="-122"/>
                <a:cs typeface="Segoe UI" pitchFamily="34" charset="-120"/>
              </a:rPr>
              <a:t>Every technician benefits.</a:t>
            </a:r>
            <a:endParaRPr lang="en-US" sz="1800" dirty="0"/>
          </a:p>
        </p:txBody>
      </p:sp>
      <p:sp>
        <p:nvSpPr>
          <p:cNvPr id="23" name="Text 18"/>
          <p:cNvSpPr/>
          <p:nvPr/>
        </p:nvSpPr>
        <p:spPr>
          <a:xfrm>
            <a:off x="7132320" y="4343400"/>
            <a:ext cx="4023360" cy="640080"/>
          </a:xfrm>
          <a:prstGeom prst="rect">
            <a:avLst/>
          </a:prstGeom>
          <a:noFill/>
          <a:ln/>
        </p:spPr>
        <p:txBody>
          <a:bodyPr wrap="square" lIns="0" tIns="0" rIns="0" bIns="0" rtlCol="0" anchor="t"/>
          <a:lstStyle/>
          <a:p>
            <a:pPr algn="r" indent="0" marL="0">
              <a:lnSpc>
                <a:spcPct val="110000"/>
              </a:lnSpc>
              <a:buNone/>
            </a:pPr>
            <a:r>
              <a:rPr lang="en-US" sz="3600" b="1" dirty="0">
                <a:solidFill>
                  <a:srgbClr val="F2F3F5"/>
                </a:solidFill>
                <a:latin typeface="Segoe UI" pitchFamily="34" charset="0"/>
                <a:ea typeface="Segoe UI" pitchFamily="34" charset="-122"/>
                <a:cs typeface="Segoe UI" pitchFamily="34" charset="-120"/>
              </a:rPr>
              <a:t>Thank you</a:t>
            </a:r>
            <a:endParaRPr lang="en-US" sz="3600" dirty="0"/>
          </a:p>
        </p:txBody>
      </p:sp>
      <p:sp>
        <p:nvSpPr>
          <p:cNvPr id="24" name="Text 19"/>
          <p:cNvSpPr/>
          <p:nvPr/>
        </p:nvSpPr>
        <p:spPr>
          <a:xfrm>
            <a:off x="7132320" y="5029200"/>
            <a:ext cx="4023360" cy="365760"/>
          </a:xfrm>
          <a:prstGeom prst="rect">
            <a:avLst/>
          </a:prstGeom>
          <a:noFill/>
          <a:ln/>
        </p:spPr>
        <p:txBody>
          <a:bodyPr wrap="square" lIns="0" tIns="0" rIns="0" bIns="0" rtlCol="0" anchor="t"/>
          <a:lstStyle/>
          <a:p>
            <a:pPr algn="r" indent="0" marL="0">
              <a:lnSpc>
                <a:spcPct val="110000"/>
              </a:lnSpc>
              <a:buNone/>
            </a:pPr>
            <a:r>
              <a:rPr lang="en-US" sz="1500" dirty="0">
                <a:solidFill>
                  <a:srgbClr val="9AA3B0"/>
                </a:solidFill>
                <a:latin typeface="Segoe UI" pitchFamily="34" charset="0"/>
                <a:ea typeface="Segoe UI" pitchFamily="34" charset="-122"/>
                <a:cs typeface="Segoe UI" pitchFamily="34" charset="-120"/>
              </a:rPr>
              <a:t>DAAP Developers  ·  Questions?</a:t>
            </a:r>
            <a:endParaRPr lang="en-US" sz="1500" dirty="0"/>
          </a:p>
        </p:txBody>
      </p:sp>
      <p:sp>
        <p:nvSpPr>
          <p:cNvPr id="25" name="Slide Number Placeholder 0"/>
          <p:cNvSpPr>
            <a:spLocks noGrp="1"/>
          </p:cNvSpPr>
          <p:nvPr>
            <p:ph type="sldNum" sz="quarter" idx="4294967295"/>
          </p:nvPr>
        </p:nvSpPr>
        <p:spPr>
          <a:xfrm>
            <a:off x="1106424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480"/>
                </a:solidFill>
                <a:latin typeface="Segoe UI"/>
                <a:ea typeface="Segoe UI"/>
                <a:cs typeface="Segoe UI"/>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DéjàView - DAAP Developers</dc:title>
  <dc:subject>PptxGenJS Presentation</dc:subject>
  <dc:creator>PptxGenJS</dc:creator>
  <cp:lastModifiedBy>PptxGenJS</cp:lastModifiedBy>
  <cp:revision>1</cp:revision>
  <dcterms:created xsi:type="dcterms:W3CDTF">2026-10-03T21:52:44Z</dcterms:created>
  <dcterms:modified xsi:type="dcterms:W3CDTF">2026-10-03T21:52:44Z</dcterms:modified>
</cp:coreProperties>
</file>