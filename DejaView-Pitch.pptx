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4" r:id="rId8"/>
    <p:sldId id="266" r:id="rId9"/>
    <p:sldId id="26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8" d="100"/>
          <a:sy n="88" d="100"/>
        </p:scale>
        <p:origin x="33" y="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324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[0:00-0:08] Hi, we're DAAP Developers. This is DéjàView: smart glasses that remember every Caterpillar machine and coach new technicians through repairs, hands-free and in their own language.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[0:08-0:20] Meet Luis. He's three weeks into his first technician job. A 320 excavator's boom is slow and it's throwing code 217. He's never seen this machine, the senior tech who knows it isn't here, and the answer is buried in English manuals and old notes. So he guesses.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[0:20-0:32] This isn't just Luis. Over 21,000 heavy-equipment technician jobs open every year, workers lose about a fifth of their time hunting for information, and a third of the construction workforce is Hispanic or Latino, with a higher fatal injury rate. The knowledge exists, but it's scattered, overwhelming, and English-first.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[0:32-0:42] We started by talking to Marcus, a product owner at Caterpillar. Safety is number one, so it has to be foolproof. Strikes and turnover push new people onto machines, and onboarding is slow. Our research showed the answer usually already exists; someone fixed it before. It just isn't where the technician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[0:42-0:52] DéjàView is smart glasses with a memory layer. Luis looks at the machine, asks out loud in Spanish, and hears that machine's history, what was wrongly blamed last time, and safe next steps. When he logs the fix by voice, the machine and the whole fleet learn.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[1:00-1:06] Under the hood, five kinds of memory feed every answer. Every logged repair writes back, so the next answer is smarter, for this machine and the whole fleet.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North Star is simple: a new technician fixes an unfamiliar machine right the first time. Behind it are two success criteria: every repair starts safe, and new technicians can work on their own sooner. We'll measure all three in a pilot against technicians working without DéjàView.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[1:48-1:56] Today we have a working prototype. Next is a 90-day pilot with one Cat dealer on real service records and Meta glasses. Then we scale to Cat's million-plus parts and live machine data, and finally every Cat machine gets a memory.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[1:56-2:02] Next: more languages, smarter personalization, and scaling to all of Cat's data. DéjàView: every machine remembers, and every technician benefits.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0D10"/>
        </a:solidFill>
        <a:effectLst/>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FFCD11"/>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0D10"/>
        </a:solidFill>
        <a:effectLst/>
      </p:bgPr>
    </p:bg>
    <p:spTree>
      <p:nvGrpSpPr>
        <p:cNvPr id="1" name=""/>
        <p:cNvGrpSpPr/>
        <p:nvPr/>
      </p:nvGrpSpPr>
      <p:grpSpPr>
        <a:xfrm>
          <a:off x="0" y="0"/>
          <a:ext cx="0" cy="0"/>
          <a:chOff x="0" y="0"/>
          <a:chExt cx="0" cy="0"/>
        </a:xfrm>
      </p:grpSpPr>
      <p:sp>
        <p:nvSpPr>
          <p:cNvPr id="2" name="Shape 0"/>
          <p:cNvSpPr/>
          <p:nvPr/>
        </p:nvSpPr>
        <p:spPr>
          <a:xfrm>
            <a:off x="685800" y="6428232"/>
            <a:ext cx="128016" cy="128016"/>
          </a:xfrm>
          <a:prstGeom prst="rect">
            <a:avLst/>
          </a:prstGeom>
          <a:solidFill>
            <a:srgbClr val="FFCD11"/>
          </a:solidFill>
          <a:ln/>
        </p:spPr>
      </p:sp>
      <p:sp>
        <p:nvSpPr>
          <p:cNvPr id="3" name="Text 1"/>
          <p:cNvSpPr/>
          <p:nvPr/>
        </p:nvSpPr>
        <p:spPr>
          <a:xfrm>
            <a:off x="914400" y="6355080"/>
            <a:ext cx="4572000" cy="274320"/>
          </a:xfrm>
          <a:prstGeom prst="rect">
            <a:avLst/>
          </a:prstGeom>
          <a:noFill/>
          <a:ln/>
        </p:spPr>
        <p:txBody>
          <a:bodyPr wrap="square" lIns="0" tIns="0" rIns="0" bIns="0" rtlCol="0" anchor="ctr"/>
          <a:lstStyle/>
          <a:p>
            <a:pPr marL="0" indent="0">
              <a:buNone/>
            </a:pPr>
            <a:r>
              <a:rPr lang="en-US" sz="1000" dirty="0">
                <a:solidFill>
                  <a:srgbClr val="6B7480"/>
                </a:solidFill>
                <a:latin typeface="Segoe UI" pitchFamily="34" charset="0"/>
                <a:ea typeface="Segoe UI" pitchFamily="34" charset="-122"/>
                <a:cs typeface="Segoe UI" pitchFamily="34" charset="-120"/>
              </a:rPr>
              <a:t>DéjàView  ·  DAAP Developers</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1463040"/>
            <a:ext cx="6858000" cy="6858000"/>
          </a:xfrm>
          <a:prstGeom prst="ellipse">
            <a:avLst/>
          </a:prstGeom>
          <a:solidFill>
            <a:srgbClr val="FFCD11">
              <a:alpha val="6000"/>
            </a:srgbClr>
          </a:solidFill>
          <a:ln w="12700">
            <a:solidFill>
              <a:srgbClr val="FFCD11">
                <a:alpha val="0"/>
              </a:srgbClr>
            </a:solidFill>
            <a:prstDash val="solid"/>
          </a:ln>
        </p:spPr>
        <p:txBody>
          <a:bodyPr/>
          <a:lstStyle/>
          <a:p>
            <a:endParaRPr lang="en-US"/>
          </a:p>
        </p:txBody>
      </p:sp>
      <p:sp>
        <p:nvSpPr>
          <p:cNvPr id="3" name="Shape 1"/>
          <p:cNvSpPr/>
          <p:nvPr/>
        </p:nvSpPr>
        <p:spPr>
          <a:xfrm>
            <a:off x="685800" y="1188720"/>
            <a:ext cx="4709160" cy="365760"/>
          </a:xfrm>
          <a:prstGeom prst="roundRect">
            <a:avLst>
              <a:gd name="adj" fmla="val 50000"/>
            </a:avLst>
          </a:prstGeom>
          <a:solidFill>
            <a:srgbClr val="0B0D10">
              <a:alpha val="0"/>
            </a:srgbClr>
          </a:solidFill>
          <a:ln w="9525">
            <a:solidFill>
              <a:srgbClr val="FFCD11"/>
            </a:solidFill>
            <a:prstDash val="solid"/>
          </a:ln>
        </p:spPr>
        <p:txBody>
          <a:bodyPr/>
          <a:lstStyle/>
          <a:p>
            <a:endParaRPr lang="en-US"/>
          </a:p>
        </p:txBody>
      </p:sp>
      <p:sp>
        <p:nvSpPr>
          <p:cNvPr id="4" name="Text 2"/>
          <p:cNvSpPr/>
          <p:nvPr/>
        </p:nvSpPr>
        <p:spPr>
          <a:xfrm>
            <a:off x="685800" y="1188720"/>
            <a:ext cx="4709160" cy="365760"/>
          </a:xfrm>
          <a:prstGeom prst="rect">
            <a:avLst/>
          </a:prstGeom>
          <a:noFill/>
          <a:ln/>
        </p:spPr>
        <p:txBody>
          <a:bodyPr wrap="square" lIns="0" tIns="0" rIns="0" bIns="0" rtlCol="0" anchor="ctr"/>
          <a:lstStyle/>
          <a:p>
            <a:pPr marL="0" indent="0" algn="ctr">
              <a:lnSpc>
                <a:spcPct val="110000"/>
              </a:lnSpc>
              <a:buNone/>
            </a:pPr>
            <a:r>
              <a:rPr lang="en-US" sz="950" b="1" kern="0" spc="100" dirty="0">
                <a:solidFill>
                  <a:srgbClr val="FFCD11"/>
                </a:solidFill>
                <a:latin typeface="Segoe UI" pitchFamily="34" charset="0"/>
                <a:ea typeface="Segoe UI" pitchFamily="34" charset="-122"/>
                <a:cs typeface="Segoe UI" pitchFamily="34" charset="-120"/>
              </a:rPr>
              <a:t>HACK TO THE FUTURE  ·  CAT TRACK: MEMORY FOR PHYSICAL AI</a:t>
            </a:r>
            <a:endParaRPr lang="en-US" sz="950" dirty="0"/>
          </a:p>
        </p:txBody>
      </p:sp>
      <p:sp>
        <p:nvSpPr>
          <p:cNvPr id="5" name="Text 3"/>
          <p:cNvSpPr/>
          <p:nvPr/>
        </p:nvSpPr>
        <p:spPr>
          <a:xfrm>
            <a:off x="640080" y="1691640"/>
            <a:ext cx="5669280" cy="1325880"/>
          </a:xfrm>
          <a:prstGeom prst="rect">
            <a:avLst/>
          </a:prstGeom>
          <a:noFill/>
          <a:ln/>
        </p:spPr>
        <p:txBody>
          <a:bodyPr wrap="square" lIns="0" tIns="0" rIns="0" bIns="0" rtlCol="0" anchor="ctr"/>
          <a:lstStyle/>
          <a:p>
            <a:pPr marL="0" indent="0">
              <a:buNone/>
            </a:pPr>
            <a:r>
              <a:rPr lang="en-US" sz="8000" b="1" kern="0" spc="-200" dirty="0">
                <a:solidFill>
                  <a:srgbClr val="F2F3F5"/>
                </a:solidFill>
                <a:latin typeface="Segoe UI" pitchFamily="34" charset="0"/>
                <a:ea typeface="Segoe UI" pitchFamily="34" charset="-122"/>
                <a:cs typeface="Segoe UI" pitchFamily="34" charset="-120"/>
              </a:rPr>
              <a:t>Déjà</a:t>
            </a:r>
            <a:r>
              <a:rPr lang="en-US" sz="8000" b="1" kern="0" spc="-200" dirty="0">
                <a:solidFill>
                  <a:srgbClr val="FFCD11"/>
                </a:solidFill>
                <a:latin typeface="Segoe UI" pitchFamily="34" charset="0"/>
                <a:ea typeface="Segoe UI" pitchFamily="34" charset="-122"/>
                <a:cs typeface="Segoe UI" pitchFamily="34" charset="-120"/>
              </a:rPr>
              <a:t>View</a:t>
            </a:r>
            <a:endParaRPr lang="en-US" sz="8000" dirty="0"/>
          </a:p>
        </p:txBody>
      </p:sp>
      <p:sp>
        <p:nvSpPr>
          <p:cNvPr id="6" name="Text 4"/>
          <p:cNvSpPr/>
          <p:nvPr/>
        </p:nvSpPr>
        <p:spPr>
          <a:xfrm>
            <a:off x="685800" y="3108960"/>
            <a:ext cx="5212080" cy="1097280"/>
          </a:xfrm>
          <a:prstGeom prst="rect">
            <a:avLst/>
          </a:prstGeom>
          <a:noFill/>
          <a:ln/>
        </p:spPr>
        <p:txBody>
          <a:bodyPr wrap="square" lIns="0" tIns="0" rIns="0" bIns="0" rtlCol="0" anchor="t"/>
          <a:lstStyle/>
          <a:p>
            <a:pPr marL="0" indent="0" algn="l">
              <a:lnSpc>
                <a:spcPct val="120000"/>
              </a:lnSpc>
              <a:buNone/>
            </a:pPr>
            <a:r>
              <a:rPr lang="en-US" sz="1900" dirty="0">
                <a:solidFill>
                  <a:srgbClr val="C9CED6"/>
                </a:solidFill>
                <a:latin typeface="Segoe UI" pitchFamily="34" charset="0"/>
                <a:ea typeface="Segoe UI" pitchFamily="34" charset="-122"/>
                <a:cs typeface="Segoe UI" pitchFamily="34" charset="-120"/>
              </a:rPr>
              <a:t>Smart glasses that remember every Caterpillar machine and coach new technicians through repairs, hands-free and in their own language.</a:t>
            </a:r>
            <a:endParaRPr lang="en-US" sz="1900" dirty="0"/>
          </a:p>
        </p:txBody>
      </p:sp>
      <p:pic>
        <p:nvPicPr>
          <p:cNvPr id="7" name="Image 0" descr="preencoded.png"/>
          <p:cNvPicPr>
            <a:picLocks noChangeAspect="1"/>
          </p:cNvPicPr>
          <p:nvPr/>
        </p:nvPicPr>
        <p:blipFill>
          <a:blip r:embed="rId3"/>
          <a:stretch>
            <a:fillRect/>
          </a:stretch>
        </p:blipFill>
        <p:spPr>
          <a:xfrm>
            <a:off x="685800" y="4443984"/>
            <a:ext cx="274320" cy="274320"/>
          </a:xfrm>
          <a:prstGeom prst="rect">
            <a:avLst/>
          </a:prstGeom>
        </p:spPr>
      </p:pic>
      <p:sp>
        <p:nvSpPr>
          <p:cNvPr id="8" name="Text 5"/>
          <p:cNvSpPr/>
          <p:nvPr/>
        </p:nvSpPr>
        <p:spPr>
          <a:xfrm>
            <a:off x="1051560" y="4443984"/>
            <a:ext cx="1417320" cy="292608"/>
          </a:xfrm>
          <a:prstGeom prst="rect">
            <a:avLst/>
          </a:prstGeom>
          <a:noFill/>
          <a:ln/>
        </p:spPr>
        <p:txBody>
          <a:bodyPr wrap="square" lIns="0" tIns="0" rIns="0" bIns="0" rtlCol="0" anchor="ctr"/>
          <a:lstStyle/>
          <a:p>
            <a:pPr marL="0" indent="0" algn="l">
              <a:lnSpc>
                <a:spcPct val="110000"/>
              </a:lnSpc>
              <a:buNone/>
            </a:pPr>
            <a:r>
              <a:rPr lang="en-US" sz="1200" dirty="0">
                <a:solidFill>
                  <a:srgbClr val="F2F3F5"/>
                </a:solidFill>
                <a:latin typeface="Segoe UI" pitchFamily="34" charset="0"/>
                <a:ea typeface="Segoe UI" pitchFamily="34" charset="-122"/>
                <a:cs typeface="Segoe UI" pitchFamily="34" charset="-120"/>
              </a:rPr>
              <a:t>Sees the machine</a:t>
            </a:r>
            <a:endParaRPr lang="en-US" sz="1200" dirty="0"/>
          </a:p>
        </p:txBody>
      </p:sp>
      <p:pic>
        <p:nvPicPr>
          <p:cNvPr id="9" name="Image 1" descr="preencoded.png"/>
          <p:cNvPicPr>
            <a:picLocks noChangeAspect="1"/>
          </p:cNvPicPr>
          <p:nvPr/>
        </p:nvPicPr>
        <p:blipFill>
          <a:blip r:embed="rId4"/>
          <a:stretch>
            <a:fillRect/>
          </a:stretch>
        </p:blipFill>
        <p:spPr>
          <a:xfrm>
            <a:off x="2468880" y="4443984"/>
            <a:ext cx="274320" cy="274320"/>
          </a:xfrm>
          <a:prstGeom prst="rect">
            <a:avLst/>
          </a:prstGeom>
        </p:spPr>
      </p:pic>
      <p:sp>
        <p:nvSpPr>
          <p:cNvPr id="10" name="Text 6"/>
          <p:cNvSpPr/>
          <p:nvPr/>
        </p:nvSpPr>
        <p:spPr>
          <a:xfrm>
            <a:off x="2834640" y="4443984"/>
            <a:ext cx="1417320" cy="292608"/>
          </a:xfrm>
          <a:prstGeom prst="rect">
            <a:avLst/>
          </a:prstGeom>
          <a:noFill/>
          <a:ln/>
        </p:spPr>
        <p:txBody>
          <a:bodyPr wrap="square" lIns="0" tIns="0" rIns="0" bIns="0" rtlCol="0" anchor="ctr"/>
          <a:lstStyle/>
          <a:p>
            <a:pPr marL="0" indent="0" algn="l">
              <a:lnSpc>
                <a:spcPct val="110000"/>
              </a:lnSpc>
              <a:buNone/>
            </a:pPr>
            <a:r>
              <a:rPr lang="en-US" sz="1200" dirty="0">
                <a:solidFill>
                  <a:srgbClr val="F2F3F5"/>
                </a:solidFill>
                <a:latin typeface="Segoe UI" pitchFamily="34" charset="0"/>
                <a:ea typeface="Segoe UI" pitchFamily="34" charset="-122"/>
                <a:cs typeface="Segoe UI" pitchFamily="34" charset="-120"/>
              </a:rPr>
              <a:t>Remembers its past</a:t>
            </a:r>
            <a:endParaRPr lang="en-US" sz="1200" dirty="0"/>
          </a:p>
        </p:txBody>
      </p:sp>
      <p:pic>
        <p:nvPicPr>
          <p:cNvPr id="11" name="Image 2" descr="preencoded.png"/>
          <p:cNvPicPr>
            <a:picLocks noChangeAspect="1"/>
          </p:cNvPicPr>
          <p:nvPr/>
        </p:nvPicPr>
        <p:blipFill>
          <a:blip r:embed="rId5"/>
          <a:stretch>
            <a:fillRect/>
          </a:stretch>
        </p:blipFill>
        <p:spPr>
          <a:xfrm>
            <a:off x="4251960" y="4443984"/>
            <a:ext cx="274320" cy="274320"/>
          </a:xfrm>
          <a:prstGeom prst="rect">
            <a:avLst/>
          </a:prstGeom>
        </p:spPr>
      </p:pic>
      <p:sp>
        <p:nvSpPr>
          <p:cNvPr id="12" name="Text 7"/>
          <p:cNvSpPr/>
          <p:nvPr/>
        </p:nvSpPr>
        <p:spPr>
          <a:xfrm>
            <a:off x="4617720" y="4443984"/>
            <a:ext cx="1417320" cy="292608"/>
          </a:xfrm>
          <a:prstGeom prst="rect">
            <a:avLst/>
          </a:prstGeom>
          <a:noFill/>
          <a:ln/>
        </p:spPr>
        <p:txBody>
          <a:bodyPr wrap="square" lIns="0" tIns="0" rIns="0" bIns="0" rtlCol="0" anchor="ctr"/>
          <a:lstStyle/>
          <a:p>
            <a:pPr marL="0" indent="0" algn="l">
              <a:lnSpc>
                <a:spcPct val="110000"/>
              </a:lnSpc>
              <a:buNone/>
            </a:pPr>
            <a:r>
              <a:rPr lang="en-US" sz="1200" dirty="0">
                <a:solidFill>
                  <a:srgbClr val="F2F3F5"/>
                </a:solidFill>
                <a:latin typeface="Segoe UI" pitchFamily="34" charset="0"/>
                <a:ea typeface="Segoe UI" pitchFamily="34" charset="-122"/>
                <a:cs typeface="Segoe UI" pitchFamily="34" charset="-120"/>
              </a:rPr>
              <a:t>Learns from every fix</a:t>
            </a:r>
            <a:endParaRPr lang="en-US" sz="1200" dirty="0"/>
          </a:p>
        </p:txBody>
      </p:sp>
      <p:sp>
        <p:nvSpPr>
          <p:cNvPr id="13" name="Shape 8"/>
          <p:cNvSpPr/>
          <p:nvPr/>
        </p:nvSpPr>
        <p:spPr>
          <a:xfrm>
            <a:off x="685800" y="5257800"/>
            <a:ext cx="548640" cy="548640"/>
          </a:xfrm>
          <a:prstGeom prst="roundRect">
            <a:avLst>
              <a:gd name="adj" fmla="val 16667"/>
            </a:avLst>
          </a:prstGeom>
          <a:solidFill>
            <a:srgbClr val="FFCD11">
              <a:alpha val="14000"/>
            </a:srgbClr>
          </a:solidFill>
          <a:ln w="9525">
            <a:solidFill>
              <a:srgbClr val="FFCD11">
                <a:alpha val="45000"/>
              </a:srgbClr>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806501" y="5378501"/>
            <a:ext cx="307238" cy="307238"/>
          </a:xfrm>
          <a:prstGeom prst="rect">
            <a:avLst/>
          </a:prstGeom>
        </p:spPr>
      </p:pic>
      <p:sp>
        <p:nvSpPr>
          <p:cNvPr id="15" name="Text 9"/>
          <p:cNvSpPr/>
          <p:nvPr/>
        </p:nvSpPr>
        <p:spPr>
          <a:xfrm>
            <a:off x="1417320" y="5239512"/>
            <a:ext cx="3657600" cy="329184"/>
          </a:xfrm>
          <a:prstGeom prst="rect">
            <a:avLst/>
          </a:prstGeom>
          <a:noFill/>
          <a:ln/>
        </p:spPr>
        <p:txBody>
          <a:bodyPr wrap="square" lIns="0" tIns="0" rIns="0" bIns="0" rtlCol="0" anchor="t"/>
          <a:lstStyle/>
          <a:p>
            <a:pPr marL="0" indent="0" algn="l">
              <a:lnSpc>
                <a:spcPct val="110000"/>
              </a:lnSpc>
              <a:buNone/>
            </a:pPr>
            <a:r>
              <a:rPr lang="en-US" sz="1800" b="1" dirty="0">
                <a:solidFill>
                  <a:srgbClr val="F2F3F5"/>
                </a:solidFill>
                <a:latin typeface="Segoe UI" pitchFamily="34" charset="0"/>
                <a:ea typeface="Segoe UI" pitchFamily="34" charset="-122"/>
                <a:cs typeface="Segoe UI" pitchFamily="34" charset="-120"/>
              </a:rPr>
              <a:t>DAAP Developers</a:t>
            </a:r>
            <a:endParaRPr lang="en-US" sz="1800" dirty="0"/>
          </a:p>
        </p:txBody>
      </p:sp>
      <p:sp>
        <p:nvSpPr>
          <p:cNvPr id="16" name="Text 10"/>
          <p:cNvSpPr/>
          <p:nvPr/>
        </p:nvSpPr>
        <p:spPr>
          <a:xfrm>
            <a:off x="1417320" y="5550408"/>
            <a:ext cx="3657600" cy="274320"/>
          </a:xfrm>
          <a:prstGeom prst="rect">
            <a:avLst/>
          </a:prstGeom>
          <a:noFill/>
          <a:ln/>
        </p:spPr>
        <p:txBody>
          <a:bodyPr wrap="square" lIns="0" tIns="0" rIns="0" bIns="0" rtlCol="0" anchor="t"/>
          <a:lstStyle/>
          <a:p>
            <a:pPr marL="0" indent="0" algn="l">
              <a:lnSpc>
                <a:spcPct val="110000"/>
              </a:lnSpc>
              <a:buNone/>
            </a:pPr>
            <a:r>
              <a:rPr lang="en-US" sz="1200" dirty="0">
                <a:solidFill>
                  <a:srgbClr val="9AA3B0"/>
                </a:solidFill>
                <a:latin typeface="Segoe UI" pitchFamily="34" charset="0"/>
                <a:ea typeface="Segoe UI" pitchFamily="34" charset="-122"/>
                <a:cs typeface="Segoe UI" pitchFamily="34" charset="-120"/>
              </a:rPr>
              <a:t>Built for new technicians and operators</a:t>
            </a:r>
            <a:endParaRPr lang="en-US" sz="1200" dirty="0"/>
          </a:p>
        </p:txBody>
      </p:sp>
      <p:sp>
        <p:nvSpPr>
          <p:cNvPr id="17" name="Text 11"/>
          <p:cNvSpPr/>
          <p:nvPr/>
        </p:nvSpPr>
        <p:spPr>
          <a:xfrm>
            <a:off x="6355080" y="1298448"/>
            <a:ext cx="365760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WHAT THE TECHNICIAN SEES</a:t>
            </a:r>
            <a:endParaRPr lang="en-US" sz="1000" dirty="0"/>
          </a:p>
        </p:txBody>
      </p:sp>
      <p:sp>
        <p:nvSpPr>
          <p:cNvPr id="18" name="Shape 12"/>
          <p:cNvSpPr/>
          <p:nvPr/>
        </p:nvSpPr>
        <p:spPr>
          <a:xfrm>
            <a:off x="6309360" y="1581912"/>
            <a:ext cx="5257800" cy="2997518"/>
          </a:xfrm>
          <a:prstGeom prst="roundRect">
            <a:avLst>
              <a:gd name="adj" fmla="val 2440"/>
            </a:avLst>
          </a:prstGeom>
          <a:solidFill>
            <a:srgbClr val="161A20"/>
          </a:solidFill>
          <a:ln w="15875">
            <a:solidFill>
              <a:srgbClr val="FFCD11"/>
            </a:solidFill>
            <a:prstDash val="solid"/>
          </a:ln>
        </p:spPr>
        <p:txBody>
          <a:bodyPr/>
          <a:lstStyle/>
          <a:p>
            <a:endParaRPr lang="en-US"/>
          </a:p>
        </p:txBody>
      </p:sp>
      <p:pic>
        <p:nvPicPr>
          <p:cNvPr id="19" name="Image 4" descr="C:\Users\aarav\Projects\cat-track\scripts\deck-assets\glasses-ask.png"/>
          <p:cNvPicPr>
            <a:picLocks noChangeAspect="1"/>
          </p:cNvPicPr>
          <p:nvPr/>
        </p:nvPicPr>
        <p:blipFill>
          <a:blip r:embed="rId7"/>
          <a:stretch>
            <a:fillRect/>
          </a:stretch>
        </p:blipFill>
        <p:spPr>
          <a:xfrm>
            <a:off x="6355080" y="1627632"/>
            <a:ext cx="5166360" cy="2906078"/>
          </a:xfrm>
          <a:prstGeom prst="rect">
            <a:avLst/>
          </a:prstGeom>
        </p:spPr>
      </p:pic>
      <p:sp>
        <p:nvSpPr>
          <p:cNvPr id="20" name="Text 13"/>
          <p:cNvSpPr/>
          <p:nvPr/>
        </p:nvSpPr>
        <p:spPr>
          <a:xfrm>
            <a:off x="6355080" y="4636008"/>
            <a:ext cx="5166360" cy="274320"/>
          </a:xfrm>
          <a:prstGeom prst="rect">
            <a:avLst/>
          </a:prstGeom>
          <a:noFill/>
          <a:ln/>
        </p:spPr>
        <p:txBody>
          <a:bodyPr wrap="square" lIns="0" tIns="0" rIns="0" bIns="0" rtlCol="0" anchor="t"/>
          <a:lstStyle/>
          <a:p>
            <a:pPr marL="0" indent="0" algn="l">
              <a:lnSpc>
                <a:spcPct val="110000"/>
              </a:lnSpc>
              <a:buNone/>
            </a:pPr>
            <a:r>
              <a:rPr lang="en-US" sz="1100" i="1" dirty="0">
                <a:solidFill>
                  <a:srgbClr val="6B7480"/>
                </a:solidFill>
                <a:latin typeface="Segoe UI" pitchFamily="34" charset="0"/>
                <a:ea typeface="Segoe UI" pitchFamily="34" charset="-122"/>
                <a:cs typeface="Segoe UI" pitchFamily="34" charset="-120"/>
              </a:rPr>
              <a:t>Our working prototype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01   </a:t>
            </a:r>
            <a:r>
              <a:rPr lang="en-US" sz="1100" b="1" kern="0" spc="300" dirty="0">
                <a:solidFill>
                  <a:srgbClr val="9AA3B0"/>
                </a:solidFill>
                <a:latin typeface="Segoe UI" pitchFamily="34" charset="0"/>
                <a:ea typeface="Segoe UI" pitchFamily="34" charset="-122"/>
                <a:cs typeface="Segoe UI" pitchFamily="34" charset="-120"/>
              </a:rPr>
              <a:t>MEET THE USER</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ea typeface="Segoe UI" pitchFamily="34" charset="-122"/>
                <a:cs typeface="Segoe UI" pitchFamily="34" charset="-120"/>
              </a:rPr>
              <a:t>Meet Luis.</a:t>
            </a:r>
            <a:r>
              <a:rPr lang="en-US" sz="3200" b="1" dirty="0">
                <a:solidFill>
                  <a:srgbClr val="FFCD11"/>
                </a:solidFill>
                <a:latin typeface="Segoe UI" pitchFamily="34" charset="0"/>
                <a:ea typeface="Segoe UI" pitchFamily="34" charset="-122"/>
                <a:cs typeface="Segoe UI" pitchFamily="34" charset="-120"/>
              </a:rPr>
              <a:t> Three weeks into his first job as a technician.</a:t>
            </a:r>
            <a:endParaRPr lang="en-US" sz="3200" dirty="0"/>
          </a:p>
        </p:txBody>
      </p:sp>
      <p:sp>
        <p:nvSpPr>
          <p:cNvPr id="5" name="Shape 3"/>
          <p:cNvSpPr/>
          <p:nvPr/>
        </p:nvSpPr>
        <p:spPr>
          <a:xfrm>
            <a:off x="685800" y="2011680"/>
            <a:ext cx="3749040" cy="4023360"/>
          </a:xfrm>
          <a:prstGeom prst="roundRect">
            <a:avLst>
              <a:gd name="adj" fmla="val 2927"/>
            </a:avLst>
          </a:prstGeom>
          <a:solidFill>
            <a:srgbClr val="161A20"/>
          </a:solidFill>
          <a:ln w="12700">
            <a:solidFill>
              <a:srgbClr val="262C35"/>
            </a:solidFill>
            <a:prstDash val="solid"/>
          </a:ln>
        </p:spPr>
        <p:txBody>
          <a:bodyPr/>
          <a:lstStyle/>
          <a:p>
            <a:endParaRPr lang="en-US"/>
          </a:p>
        </p:txBody>
      </p:sp>
      <p:sp>
        <p:nvSpPr>
          <p:cNvPr id="6" name="Shape 4"/>
          <p:cNvSpPr/>
          <p:nvPr/>
        </p:nvSpPr>
        <p:spPr>
          <a:xfrm>
            <a:off x="960120" y="2286000"/>
            <a:ext cx="640080" cy="640080"/>
          </a:xfrm>
          <a:prstGeom prst="roundRect">
            <a:avLst>
              <a:gd name="adj" fmla="val 14286"/>
            </a:avLst>
          </a:prstGeom>
          <a:solidFill>
            <a:srgbClr val="FFCD11">
              <a:alpha val="14000"/>
            </a:srgbClr>
          </a:solidFill>
          <a:ln w="9525">
            <a:solidFill>
              <a:srgbClr val="FFCD11">
                <a:alpha val="45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100938" y="2426818"/>
            <a:ext cx="358445" cy="358445"/>
          </a:xfrm>
          <a:prstGeom prst="rect">
            <a:avLst/>
          </a:prstGeom>
        </p:spPr>
      </p:pic>
      <p:sp>
        <p:nvSpPr>
          <p:cNvPr id="8" name="Text 5"/>
          <p:cNvSpPr/>
          <p:nvPr/>
        </p:nvSpPr>
        <p:spPr>
          <a:xfrm>
            <a:off x="960120" y="3063240"/>
            <a:ext cx="3291840" cy="384048"/>
          </a:xfrm>
          <a:prstGeom prst="rect">
            <a:avLst/>
          </a:prstGeom>
          <a:noFill/>
          <a:ln/>
        </p:spPr>
        <p:txBody>
          <a:bodyPr wrap="square" lIns="0" tIns="0" rIns="0" bIns="0" rtlCol="0" anchor="t"/>
          <a:lstStyle/>
          <a:p>
            <a:pPr marL="0" indent="0" algn="l">
              <a:lnSpc>
                <a:spcPct val="110000"/>
              </a:lnSpc>
              <a:buNone/>
            </a:pPr>
            <a:r>
              <a:rPr lang="en-US" sz="2200" b="1" dirty="0">
                <a:solidFill>
                  <a:srgbClr val="F2F3F5"/>
                </a:solidFill>
                <a:latin typeface="Segoe UI" pitchFamily="34" charset="0"/>
                <a:ea typeface="Segoe UI" pitchFamily="34" charset="-122"/>
                <a:cs typeface="Segoe UI" pitchFamily="34" charset="-120"/>
              </a:rPr>
              <a:t>Luis Ortega</a:t>
            </a:r>
            <a:endParaRPr lang="en-US" sz="2200" dirty="0"/>
          </a:p>
        </p:txBody>
      </p:sp>
      <p:sp>
        <p:nvSpPr>
          <p:cNvPr id="9" name="Text 6"/>
          <p:cNvSpPr/>
          <p:nvPr/>
        </p:nvSpPr>
        <p:spPr>
          <a:xfrm>
            <a:off x="960120" y="3456432"/>
            <a:ext cx="3291840" cy="274320"/>
          </a:xfrm>
          <a:prstGeom prst="rect">
            <a:avLst/>
          </a:prstGeom>
          <a:noFill/>
          <a:ln/>
        </p:spPr>
        <p:txBody>
          <a:bodyPr wrap="square" lIns="0" tIns="0" rIns="0" bIns="0" rtlCol="0" anchor="t"/>
          <a:lstStyle/>
          <a:p>
            <a:pPr marL="0" indent="0" algn="l">
              <a:lnSpc>
                <a:spcPct val="110000"/>
              </a:lnSpc>
              <a:buNone/>
            </a:pPr>
            <a:r>
              <a:rPr lang="en-US" sz="1300" b="1" dirty="0">
                <a:solidFill>
                  <a:srgbClr val="FFCD11"/>
                </a:solidFill>
                <a:latin typeface="Segoe UI" pitchFamily="34" charset="0"/>
                <a:ea typeface="Segoe UI" pitchFamily="34" charset="-122"/>
                <a:cs typeface="Segoe UI" pitchFamily="34" charset="-120"/>
              </a:rPr>
              <a:t>New field technician</a:t>
            </a:r>
            <a:endParaRPr lang="en-US" sz="1300" dirty="0"/>
          </a:p>
        </p:txBody>
      </p:sp>
      <p:pic>
        <p:nvPicPr>
          <p:cNvPr id="10" name="Image 1" descr="preencoded.png"/>
          <p:cNvPicPr>
            <a:picLocks noChangeAspect="1"/>
          </p:cNvPicPr>
          <p:nvPr/>
        </p:nvPicPr>
        <p:blipFill>
          <a:blip r:embed="rId4"/>
          <a:stretch>
            <a:fillRect/>
          </a:stretch>
        </p:blipFill>
        <p:spPr>
          <a:xfrm>
            <a:off x="960120" y="3931920"/>
            <a:ext cx="237744" cy="237744"/>
          </a:xfrm>
          <a:prstGeom prst="rect">
            <a:avLst/>
          </a:prstGeom>
        </p:spPr>
      </p:pic>
      <p:sp>
        <p:nvSpPr>
          <p:cNvPr id="11" name="Text 7"/>
          <p:cNvSpPr/>
          <p:nvPr/>
        </p:nvSpPr>
        <p:spPr>
          <a:xfrm>
            <a:off x="1325880" y="3913632"/>
            <a:ext cx="2926080" cy="292608"/>
          </a:xfrm>
          <a:prstGeom prst="rect">
            <a:avLst/>
          </a:prstGeom>
          <a:noFill/>
          <a:ln/>
        </p:spPr>
        <p:txBody>
          <a:bodyPr wrap="square" lIns="0" tIns="0" rIns="0" bIns="0" rtlCol="0" anchor="ctr"/>
          <a:lstStyle/>
          <a:p>
            <a:pPr marL="0" indent="0" algn="l">
              <a:lnSpc>
                <a:spcPct val="110000"/>
              </a:lnSpc>
              <a:buNone/>
            </a:pPr>
            <a:r>
              <a:rPr lang="en-US" sz="1300" dirty="0">
                <a:solidFill>
                  <a:srgbClr val="C9CED6"/>
                </a:solidFill>
                <a:latin typeface="Segoe UI" pitchFamily="34" charset="0"/>
                <a:ea typeface="Segoe UI" pitchFamily="34" charset="-122"/>
                <a:cs typeface="Segoe UI" pitchFamily="34" charset="-120"/>
              </a:rPr>
              <a:t>3 weeks on the job</a:t>
            </a:r>
            <a:endParaRPr lang="en-US" sz="1300" dirty="0"/>
          </a:p>
        </p:txBody>
      </p:sp>
      <p:pic>
        <p:nvPicPr>
          <p:cNvPr id="12" name="Image 2" descr="preencoded.png"/>
          <p:cNvPicPr>
            <a:picLocks noChangeAspect="1"/>
          </p:cNvPicPr>
          <p:nvPr/>
        </p:nvPicPr>
        <p:blipFill>
          <a:blip r:embed="rId5"/>
          <a:stretch>
            <a:fillRect/>
          </a:stretch>
        </p:blipFill>
        <p:spPr>
          <a:xfrm>
            <a:off x="960120" y="4407408"/>
            <a:ext cx="237744" cy="237744"/>
          </a:xfrm>
          <a:prstGeom prst="rect">
            <a:avLst/>
          </a:prstGeom>
        </p:spPr>
      </p:pic>
      <p:sp>
        <p:nvSpPr>
          <p:cNvPr id="13" name="Text 8"/>
          <p:cNvSpPr/>
          <p:nvPr/>
        </p:nvSpPr>
        <p:spPr>
          <a:xfrm>
            <a:off x="1325880" y="4389120"/>
            <a:ext cx="2926080" cy="292608"/>
          </a:xfrm>
          <a:prstGeom prst="rect">
            <a:avLst/>
          </a:prstGeom>
          <a:noFill/>
          <a:ln/>
        </p:spPr>
        <p:txBody>
          <a:bodyPr wrap="square" lIns="0" tIns="0" rIns="0" bIns="0" rtlCol="0" anchor="ctr"/>
          <a:lstStyle/>
          <a:p>
            <a:pPr marL="0" indent="0" algn="l">
              <a:lnSpc>
                <a:spcPct val="110000"/>
              </a:lnSpc>
              <a:buNone/>
            </a:pPr>
            <a:r>
              <a:rPr lang="en-US" sz="1300" dirty="0">
                <a:solidFill>
                  <a:srgbClr val="C9CED6"/>
                </a:solidFill>
                <a:latin typeface="Segoe UI" pitchFamily="34" charset="0"/>
                <a:ea typeface="Segoe UI" pitchFamily="34" charset="-122"/>
                <a:cs typeface="Segoe UI" pitchFamily="34" charset="-120"/>
              </a:rPr>
              <a:t>Spanish is his first language</a:t>
            </a:r>
            <a:endParaRPr lang="en-US" sz="1300" dirty="0"/>
          </a:p>
        </p:txBody>
      </p:sp>
      <p:pic>
        <p:nvPicPr>
          <p:cNvPr id="14" name="Image 3" descr="preencoded.png"/>
          <p:cNvPicPr>
            <a:picLocks noChangeAspect="1"/>
          </p:cNvPicPr>
          <p:nvPr/>
        </p:nvPicPr>
        <p:blipFill>
          <a:blip r:embed="rId6"/>
          <a:stretch>
            <a:fillRect/>
          </a:stretch>
        </p:blipFill>
        <p:spPr>
          <a:xfrm>
            <a:off x="960120" y="4882896"/>
            <a:ext cx="237744" cy="237744"/>
          </a:xfrm>
          <a:prstGeom prst="rect">
            <a:avLst/>
          </a:prstGeom>
        </p:spPr>
      </p:pic>
      <p:sp>
        <p:nvSpPr>
          <p:cNvPr id="15" name="Text 9"/>
          <p:cNvSpPr/>
          <p:nvPr/>
        </p:nvSpPr>
        <p:spPr>
          <a:xfrm>
            <a:off x="1325880" y="4864608"/>
            <a:ext cx="2926080" cy="292608"/>
          </a:xfrm>
          <a:prstGeom prst="rect">
            <a:avLst/>
          </a:prstGeom>
          <a:noFill/>
          <a:ln/>
        </p:spPr>
        <p:txBody>
          <a:bodyPr wrap="square" lIns="0" tIns="0" rIns="0" bIns="0" rtlCol="0" anchor="ctr"/>
          <a:lstStyle/>
          <a:p>
            <a:pPr marL="0" indent="0" algn="l">
              <a:lnSpc>
                <a:spcPct val="110000"/>
              </a:lnSpc>
              <a:buNone/>
            </a:pPr>
            <a:r>
              <a:rPr lang="en-US" sz="1300" dirty="0">
                <a:solidFill>
                  <a:srgbClr val="C9CED6"/>
                </a:solidFill>
                <a:latin typeface="Segoe UI" pitchFamily="34" charset="0"/>
                <a:ea typeface="Segoe UI" pitchFamily="34" charset="-122"/>
                <a:cs typeface="Segoe UI" pitchFamily="34" charset="-120"/>
              </a:rPr>
              <a:t>Learning by shadowing senior techs</a:t>
            </a:r>
            <a:endParaRPr lang="en-US" sz="1300" dirty="0"/>
          </a:p>
        </p:txBody>
      </p:sp>
      <p:pic>
        <p:nvPicPr>
          <p:cNvPr id="16" name="Image 4" descr="preencoded.png"/>
          <p:cNvPicPr>
            <a:picLocks noChangeAspect="1"/>
          </p:cNvPicPr>
          <p:nvPr/>
        </p:nvPicPr>
        <p:blipFill>
          <a:blip r:embed="rId7"/>
          <a:stretch>
            <a:fillRect/>
          </a:stretch>
        </p:blipFill>
        <p:spPr>
          <a:xfrm>
            <a:off x="960120" y="5358384"/>
            <a:ext cx="237744" cy="237744"/>
          </a:xfrm>
          <a:prstGeom prst="rect">
            <a:avLst/>
          </a:prstGeom>
        </p:spPr>
      </p:pic>
      <p:sp>
        <p:nvSpPr>
          <p:cNvPr id="17" name="Text 10"/>
          <p:cNvSpPr/>
          <p:nvPr/>
        </p:nvSpPr>
        <p:spPr>
          <a:xfrm>
            <a:off x="1325880" y="5340096"/>
            <a:ext cx="2926080" cy="292608"/>
          </a:xfrm>
          <a:prstGeom prst="rect">
            <a:avLst/>
          </a:prstGeom>
          <a:noFill/>
          <a:ln/>
        </p:spPr>
        <p:txBody>
          <a:bodyPr wrap="square" lIns="0" tIns="0" rIns="0" bIns="0" rtlCol="0" anchor="ctr"/>
          <a:lstStyle/>
          <a:p>
            <a:pPr marL="0" indent="0" algn="l">
              <a:lnSpc>
                <a:spcPct val="110000"/>
              </a:lnSpc>
              <a:buNone/>
            </a:pPr>
            <a:r>
              <a:rPr lang="en-US" sz="1300" dirty="0">
                <a:solidFill>
                  <a:srgbClr val="C9CED6"/>
                </a:solidFill>
                <a:latin typeface="Segoe UI" pitchFamily="34" charset="0"/>
                <a:ea typeface="Segoe UI" pitchFamily="34" charset="-122"/>
                <a:cs typeface="Segoe UI" pitchFamily="34" charset="-120"/>
              </a:rPr>
              <a:t>Wants to do it right, and safely</a:t>
            </a:r>
            <a:endParaRPr lang="en-US" sz="1300" dirty="0"/>
          </a:p>
        </p:txBody>
      </p:sp>
      <p:sp>
        <p:nvSpPr>
          <p:cNvPr id="18" name="Text 11"/>
          <p:cNvSpPr/>
          <p:nvPr/>
        </p:nvSpPr>
        <p:spPr>
          <a:xfrm>
            <a:off x="4800600" y="2011680"/>
            <a:ext cx="365760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MONDAY, 7:00 AM</a:t>
            </a:r>
            <a:endParaRPr lang="en-US" sz="1000" dirty="0"/>
          </a:p>
        </p:txBody>
      </p:sp>
      <p:sp>
        <p:nvSpPr>
          <p:cNvPr id="19" name="Shape 12"/>
          <p:cNvSpPr/>
          <p:nvPr/>
        </p:nvSpPr>
        <p:spPr>
          <a:xfrm>
            <a:off x="4800600" y="2395728"/>
            <a:ext cx="384048" cy="384048"/>
          </a:xfrm>
          <a:prstGeom prst="ellipse">
            <a:avLst/>
          </a:prstGeom>
          <a:solidFill>
            <a:srgbClr val="FFCD11"/>
          </a:solidFill>
          <a:ln w="12700">
            <a:solidFill>
              <a:srgbClr val="FFCD11"/>
            </a:solidFill>
            <a:prstDash val="solid"/>
          </a:ln>
        </p:spPr>
        <p:txBody>
          <a:bodyPr/>
          <a:lstStyle/>
          <a:p>
            <a:endParaRPr lang="en-US"/>
          </a:p>
        </p:txBody>
      </p:sp>
      <p:sp>
        <p:nvSpPr>
          <p:cNvPr id="20" name="Text 13"/>
          <p:cNvSpPr/>
          <p:nvPr/>
        </p:nvSpPr>
        <p:spPr>
          <a:xfrm>
            <a:off x="4800600" y="2395728"/>
            <a:ext cx="384048" cy="384048"/>
          </a:xfrm>
          <a:prstGeom prst="rect">
            <a:avLst/>
          </a:prstGeom>
          <a:noFill/>
          <a:ln/>
        </p:spPr>
        <p:txBody>
          <a:bodyPr wrap="square" lIns="0" tIns="0" rIns="0" bIns="0" rtlCol="0" anchor="ctr"/>
          <a:lstStyle/>
          <a:p>
            <a:pPr marL="0" indent="0" algn="ctr">
              <a:lnSpc>
                <a:spcPct val="110000"/>
              </a:lnSpc>
              <a:buNone/>
            </a:pPr>
            <a:r>
              <a:rPr lang="en-US" sz="1400" b="1" dirty="0">
                <a:solidFill>
                  <a:srgbClr val="111111"/>
                </a:solidFill>
                <a:latin typeface="Segoe UI" pitchFamily="34" charset="0"/>
                <a:ea typeface="Segoe UI" pitchFamily="34" charset="-122"/>
                <a:cs typeface="Segoe UI" pitchFamily="34" charset="-120"/>
              </a:rPr>
              <a:t>1</a:t>
            </a:r>
            <a:endParaRPr lang="en-US" sz="1400" dirty="0"/>
          </a:p>
        </p:txBody>
      </p:sp>
      <p:sp>
        <p:nvSpPr>
          <p:cNvPr id="21" name="Text 14"/>
          <p:cNvSpPr/>
          <p:nvPr/>
        </p:nvSpPr>
        <p:spPr>
          <a:xfrm>
            <a:off x="5394960" y="2377440"/>
            <a:ext cx="6035040" cy="347472"/>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A 320 excavator's boom is slow. Fault code 217.</a:t>
            </a:r>
            <a:endParaRPr lang="en-US" sz="1700" dirty="0"/>
          </a:p>
        </p:txBody>
      </p:sp>
      <p:sp>
        <p:nvSpPr>
          <p:cNvPr id="22" name="Text 15"/>
          <p:cNvSpPr/>
          <p:nvPr/>
        </p:nvSpPr>
        <p:spPr>
          <a:xfrm>
            <a:off x="5394960" y="2743200"/>
            <a:ext cx="6035040" cy="365760"/>
          </a:xfrm>
          <a:prstGeom prst="rect">
            <a:avLst/>
          </a:prstGeom>
          <a:noFill/>
          <a:ln/>
        </p:spPr>
        <p:txBody>
          <a:bodyPr wrap="square" lIns="0" tIns="0" rIns="0" bIns="0" rtlCol="0" anchor="t"/>
          <a:lstStyle/>
          <a:p>
            <a:pPr marL="0" indent="0" algn="l">
              <a:lnSpc>
                <a:spcPct val="110000"/>
              </a:lnSpc>
              <a:buNone/>
            </a:pPr>
            <a:r>
              <a:rPr lang="en-US" sz="1300" dirty="0">
                <a:solidFill>
                  <a:srgbClr val="9AA3B0"/>
                </a:solidFill>
                <a:latin typeface="Segoe UI" pitchFamily="34" charset="0"/>
                <a:ea typeface="Segoe UI" pitchFamily="34" charset="-122"/>
                <a:cs typeface="Segoe UI" pitchFamily="34" charset="-120"/>
              </a:rPr>
              <a:t>It's a machine he has never worked on.</a:t>
            </a:r>
            <a:endParaRPr lang="en-US" sz="1300" dirty="0"/>
          </a:p>
        </p:txBody>
      </p:sp>
      <p:sp>
        <p:nvSpPr>
          <p:cNvPr id="23" name="Shape 16"/>
          <p:cNvSpPr/>
          <p:nvPr/>
        </p:nvSpPr>
        <p:spPr>
          <a:xfrm>
            <a:off x="4800600" y="3310128"/>
            <a:ext cx="384048" cy="384048"/>
          </a:xfrm>
          <a:prstGeom prst="ellipse">
            <a:avLst/>
          </a:prstGeom>
          <a:solidFill>
            <a:srgbClr val="FFCD11"/>
          </a:solidFill>
          <a:ln w="12700">
            <a:solidFill>
              <a:srgbClr val="FFCD11"/>
            </a:solidFill>
            <a:prstDash val="solid"/>
          </a:ln>
        </p:spPr>
        <p:txBody>
          <a:bodyPr/>
          <a:lstStyle/>
          <a:p>
            <a:endParaRPr lang="en-US"/>
          </a:p>
        </p:txBody>
      </p:sp>
      <p:sp>
        <p:nvSpPr>
          <p:cNvPr id="24" name="Text 17"/>
          <p:cNvSpPr/>
          <p:nvPr/>
        </p:nvSpPr>
        <p:spPr>
          <a:xfrm>
            <a:off x="4800600" y="3310128"/>
            <a:ext cx="384048" cy="384048"/>
          </a:xfrm>
          <a:prstGeom prst="rect">
            <a:avLst/>
          </a:prstGeom>
          <a:noFill/>
          <a:ln/>
        </p:spPr>
        <p:txBody>
          <a:bodyPr wrap="square" lIns="0" tIns="0" rIns="0" bIns="0" rtlCol="0" anchor="ctr"/>
          <a:lstStyle/>
          <a:p>
            <a:pPr marL="0" indent="0" algn="ctr">
              <a:lnSpc>
                <a:spcPct val="110000"/>
              </a:lnSpc>
              <a:buNone/>
            </a:pPr>
            <a:r>
              <a:rPr lang="en-US" sz="1400" b="1" dirty="0">
                <a:solidFill>
                  <a:srgbClr val="111111"/>
                </a:solidFill>
                <a:latin typeface="Segoe UI" pitchFamily="34" charset="0"/>
                <a:ea typeface="Segoe UI" pitchFamily="34" charset="-122"/>
                <a:cs typeface="Segoe UI" pitchFamily="34" charset="-120"/>
              </a:rPr>
              <a:t>2</a:t>
            </a:r>
            <a:endParaRPr lang="en-US" sz="1400" dirty="0"/>
          </a:p>
        </p:txBody>
      </p:sp>
      <p:sp>
        <p:nvSpPr>
          <p:cNvPr id="25" name="Text 18"/>
          <p:cNvSpPr/>
          <p:nvPr/>
        </p:nvSpPr>
        <p:spPr>
          <a:xfrm>
            <a:off x="5394960" y="3291840"/>
            <a:ext cx="6035040" cy="347472"/>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The senior tech who knows it isn't here.</a:t>
            </a:r>
            <a:endParaRPr lang="en-US" sz="1700" dirty="0"/>
          </a:p>
        </p:txBody>
      </p:sp>
      <p:sp>
        <p:nvSpPr>
          <p:cNvPr id="26" name="Text 19"/>
          <p:cNvSpPr/>
          <p:nvPr/>
        </p:nvSpPr>
        <p:spPr>
          <a:xfrm>
            <a:off x="5394960" y="3657600"/>
            <a:ext cx="6035040" cy="365760"/>
          </a:xfrm>
          <a:prstGeom prst="rect">
            <a:avLst/>
          </a:prstGeom>
          <a:noFill/>
          <a:ln/>
        </p:spPr>
        <p:txBody>
          <a:bodyPr wrap="square" lIns="0" tIns="0" rIns="0" bIns="0" rtlCol="0" anchor="t"/>
          <a:lstStyle/>
          <a:p>
            <a:pPr marL="0" indent="0" algn="l">
              <a:lnSpc>
                <a:spcPct val="110000"/>
              </a:lnSpc>
              <a:buNone/>
            </a:pPr>
            <a:r>
              <a:rPr lang="en-US" sz="1300" dirty="0">
                <a:solidFill>
                  <a:srgbClr val="9AA3B0"/>
                </a:solidFill>
                <a:latin typeface="Segoe UI" pitchFamily="34" charset="0"/>
                <a:ea typeface="Segoe UI" pitchFamily="34" charset="-122"/>
                <a:cs typeface="Segoe UI" pitchFamily="34" charset="-120"/>
              </a:rPr>
              <a:t>Strikes and turnover push new people onto machines fast.</a:t>
            </a:r>
            <a:endParaRPr lang="en-US" sz="1300" dirty="0"/>
          </a:p>
        </p:txBody>
      </p:sp>
      <p:sp>
        <p:nvSpPr>
          <p:cNvPr id="27" name="Shape 20"/>
          <p:cNvSpPr/>
          <p:nvPr/>
        </p:nvSpPr>
        <p:spPr>
          <a:xfrm>
            <a:off x="4800600" y="4224528"/>
            <a:ext cx="384048" cy="384048"/>
          </a:xfrm>
          <a:prstGeom prst="ellipse">
            <a:avLst/>
          </a:prstGeom>
          <a:solidFill>
            <a:srgbClr val="FFCD11"/>
          </a:solidFill>
          <a:ln w="12700">
            <a:solidFill>
              <a:srgbClr val="FFCD11"/>
            </a:solidFill>
            <a:prstDash val="solid"/>
          </a:ln>
        </p:spPr>
        <p:txBody>
          <a:bodyPr/>
          <a:lstStyle/>
          <a:p>
            <a:endParaRPr lang="en-US"/>
          </a:p>
        </p:txBody>
      </p:sp>
      <p:sp>
        <p:nvSpPr>
          <p:cNvPr id="28" name="Text 21"/>
          <p:cNvSpPr/>
          <p:nvPr/>
        </p:nvSpPr>
        <p:spPr>
          <a:xfrm>
            <a:off x="4800600" y="4224528"/>
            <a:ext cx="384048" cy="384048"/>
          </a:xfrm>
          <a:prstGeom prst="rect">
            <a:avLst/>
          </a:prstGeom>
          <a:noFill/>
          <a:ln/>
        </p:spPr>
        <p:txBody>
          <a:bodyPr wrap="square" lIns="0" tIns="0" rIns="0" bIns="0" rtlCol="0" anchor="ctr"/>
          <a:lstStyle/>
          <a:p>
            <a:pPr marL="0" indent="0" algn="ctr">
              <a:lnSpc>
                <a:spcPct val="110000"/>
              </a:lnSpc>
              <a:buNone/>
            </a:pPr>
            <a:r>
              <a:rPr lang="en-US" sz="1400" b="1" dirty="0">
                <a:solidFill>
                  <a:srgbClr val="111111"/>
                </a:solidFill>
                <a:latin typeface="Segoe UI" pitchFamily="34" charset="0"/>
                <a:ea typeface="Segoe UI" pitchFamily="34" charset="-122"/>
                <a:cs typeface="Segoe UI" pitchFamily="34" charset="-120"/>
              </a:rPr>
              <a:t>3</a:t>
            </a:r>
            <a:endParaRPr lang="en-US" sz="1400" dirty="0"/>
          </a:p>
        </p:txBody>
      </p:sp>
      <p:sp>
        <p:nvSpPr>
          <p:cNvPr id="29" name="Text 22"/>
          <p:cNvSpPr/>
          <p:nvPr/>
        </p:nvSpPr>
        <p:spPr>
          <a:xfrm>
            <a:off x="5394960" y="4206240"/>
            <a:ext cx="6035040" cy="347472"/>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The answer is buried.</a:t>
            </a:r>
            <a:endParaRPr lang="en-US" sz="1700" dirty="0"/>
          </a:p>
        </p:txBody>
      </p:sp>
      <p:sp>
        <p:nvSpPr>
          <p:cNvPr id="30" name="Text 23"/>
          <p:cNvSpPr/>
          <p:nvPr/>
        </p:nvSpPr>
        <p:spPr>
          <a:xfrm>
            <a:off x="5394960" y="4572000"/>
            <a:ext cx="6035040" cy="365760"/>
          </a:xfrm>
          <a:prstGeom prst="rect">
            <a:avLst/>
          </a:prstGeom>
          <a:noFill/>
          <a:ln/>
        </p:spPr>
        <p:txBody>
          <a:bodyPr wrap="square" lIns="0" tIns="0" rIns="0" bIns="0" rtlCol="0" anchor="t"/>
          <a:lstStyle/>
          <a:p>
            <a:pPr marL="0" indent="0" algn="l">
              <a:lnSpc>
                <a:spcPct val="110000"/>
              </a:lnSpc>
              <a:buNone/>
            </a:pPr>
            <a:r>
              <a:rPr lang="en-US" sz="1300" dirty="0">
                <a:solidFill>
                  <a:srgbClr val="9AA3B0"/>
                </a:solidFill>
                <a:latin typeface="Segoe UI" pitchFamily="34" charset="0"/>
                <a:ea typeface="Segoe UI" pitchFamily="34" charset="-122"/>
                <a:cs typeface="Segoe UI" pitchFamily="34" charset="-120"/>
              </a:rPr>
              <a:t>Manuals, fault notes and service records, scattered and mostly in English.</a:t>
            </a:r>
            <a:endParaRPr lang="en-US" sz="1300" dirty="0"/>
          </a:p>
        </p:txBody>
      </p:sp>
      <p:sp>
        <p:nvSpPr>
          <p:cNvPr id="31" name="Shape 24"/>
          <p:cNvSpPr/>
          <p:nvPr/>
        </p:nvSpPr>
        <p:spPr>
          <a:xfrm>
            <a:off x="4800600" y="5138928"/>
            <a:ext cx="384048" cy="384048"/>
          </a:xfrm>
          <a:prstGeom prst="ellipse">
            <a:avLst/>
          </a:prstGeom>
          <a:solidFill>
            <a:srgbClr val="FFCD11"/>
          </a:solidFill>
          <a:ln w="12700">
            <a:solidFill>
              <a:srgbClr val="FFCD11"/>
            </a:solidFill>
            <a:prstDash val="solid"/>
          </a:ln>
        </p:spPr>
        <p:txBody>
          <a:bodyPr/>
          <a:lstStyle/>
          <a:p>
            <a:endParaRPr lang="en-US"/>
          </a:p>
        </p:txBody>
      </p:sp>
      <p:sp>
        <p:nvSpPr>
          <p:cNvPr id="32" name="Text 25"/>
          <p:cNvSpPr/>
          <p:nvPr/>
        </p:nvSpPr>
        <p:spPr>
          <a:xfrm>
            <a:off x="4800600" y="5138928"/>
            <a:ext cx="384048" cy="384048"/>
          </a:xfrm>
          <a:prstGeom prst="rect">
            <a:avLst/>
          </a:prstGeom>
          <a:noFill/>
          <a:ln/>
        </p:spPr>
        <p:txBody>
          <a:bodyPr wrap="square" lIns="0" tIns="0" rIns="0" bIns="0" rtlCol="0" anchor="ctr"/>
          <a:lstStyle/>
          <a:p>
            <a:pPr marL="0" indent="0" algn="ctr">
              <a:lnSpc>
                <a:spcPct val="110000"/>
              </a:lnSpc>
              <a:buNone/>
            </a:pPr>
            <a:r>
              <a:rPr lang="en-US" sz="1400" b="1" dirty="0">
                <a:solidFill>
                  <a:srgbClr val="111111"/>
                </a:solidFill>
                <a:latin typeface="Segoe UI" pitchFamily="34" charset="0"/>
                <a:ea typeface="Segoe UI" pitchFamily="34" charset="-122"/>
                <a:cs typeface="Segoe UI" pitchFamily="34" charset="-120"/>
              </a:rPr>
              <a:t>4</a:t>
            </a:r>
            <a:endParaRPr lang="en-US" sz="1400" dirty="0"/>
          </a:p>
        </p:txBody>
      </p:sp>
      <p:sp>
        <p:nvSpPr>
          <p:cNvPr id="33" name="Text 26"/>
          <p:cNvSpPr/>
          <p:nvPr/>
        </p:nvSpPr>
        <p:spPr>
          <a:xfrm>
            <a:off x="5394960" y="5120640"/>
            <a:ext cx="6035040" cy="347472"/>
          </a:xfrm>
          <a:prstGeom prst="rect">
            <a:avLst/>
          </a:prstGeom>
          <a:noFill/>
          <a:ln/>
        </p:spPr>
        <p:txBody>
          <a:bodyPr wrap="square" lIns="0" tIns="0" rIns="0" bIns="0" rtlCol="0" anchor="t"/>
          <a:lstStyle/>
          <a:p>
            <a:pPr marL="0" indent="0" algn="l">
              <a:lnSpc>
                <a:spcPct val="110000"/>
              </a:lnSpc>
              <a:buNone/>
            </a:pPr>
            <a:r>
              <a:rPr lang="en-US" sz="1700" b="1" dirty="0">
                <a:solidFill>
                  <a:srgbClr val="F87171"/>
                </a:solidFill>
                <a:latin typeface="Segoe UI" pitchFamily="34" charset="0"/>
                <a:ea typeface="Segoe UI" pitchFamily="34" charset="-122"/>
                <a:cs typeface="Segoe UI" pitchFamily="34" charset="-120"/>
              </a:rPr>
              <a:t>So he guesses.</a:t>
            </a:r>
            <a:endParaRPr lang="en-US" sz="1700" dirty="0"/>
          </a:p>
        </p:txBody>
      </p:sp>
      <p:sp>
        <p:nvSpPr>
          <p:cNvPr id="34" name="Text 27"/>
          <p:cNvSpPr/>
          <p:nvPr/>
        </p:nvSpPr>
        <p:spPr>
          <a:xfrm>
            <a:off x="5394960" y="5486400"/>
            <a:ext cx="6035040" cy="365760"/>
          </a:xfrm>
          <a:prstGeom prst="rect">
            <a:avLst/>
          </a:prstGeom>
          <a:noFill/>
          <a:ln/>
        </p:spPr>
        <p:txBody>
          <a:bodyPr wrap="square" lIns="0" tIns="0" rIns="0" bIns="0" rtlCol="0" anchor="t"/>
          <a:lstStyle/>
          <a:p>
            <a:pPr marL="0" indent="0" algn="l">
              <a:lnSpc>
                <a:spcPct val="110000"/>
              </a:lnSpc>
              <a:buNone/>
            </a:pPr>
            <a:r>
              <a:rPr lang="en-US" sz="1300" dirty="0">
                <a:solidFill>
                  <a:srgbClr val="9AA3B0"/>
                </a:solidFill>
                <a:latin typeface="Segoe UI" pitchFamily="34" charset="0"/>
                <a:ea typeface="Segoe UI" pitchFamily="34" charset="-122"/>
                <a:cs typeface="Segoe UI" pitchFamily="34" charset="-120"/>
              </a:rPr>
              <a:t>Wrong part, lost hours, and a real safety risk.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02   </a:t>
            </a:r>
            <a:r>
              <a:rPr lang="en-US" sz="1100" b="1" kern="0" spc="300" dirty="0">
                <a:solidFill>
                  <a:srgbClr val="9AA3B0"/>
                </a:solidFill>
                <a:latin typeface="Segoe UI" pitchFamily="34" charset="0"/>
                <a:ea typeface="Segoe UI" pitchFamily="34" charset="-122"/>
                <a:cs typeface="Segoe UI" pitchFamily="34" charset="-120"/>
              </a:rPr>
              <a:t>THE PROBLEM</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ea typeface="Segoe UI" pitchFamily="34" charset="-122"/>
                <a:cs typeface="Segoe UI" pitchFamily="34" charset="-120"/>
              </a:rPr>
              <a:t>Bottlenecks on jobsites stem from unfamiliarity</a:t>
            </a:r>
            <a:endParaRPr lang="en-US" sz="3200" dirty="0"/>
          </a:p>
        </p:txBody>
      </p:sp>
      <p:sp>
        <p:nvSpPr>
          <p:cNvPr id="5" name="Shape 3"/>
          <p:cNvSpPr/>
          <p:nvPr/>
        </p:nvSpPr>
        <p:spPr>
          <a:xfrm>
            <a:off x="685800" y="1965960"/>
            <a:ext cx="3474720" cy="1920240"/>
          </a:xfrm>
          <a:prstGeom prst="roundRect">
            <a:avLst>
              <a:gd name="adj" fmla="val 5714"/>
            </a:avLst>
          </a:prstGeom>
          <a:solidFill>
            <a:srgbClr val="161A20"/>
          </a:solidFill>
          <a:ln w="12700">
            <a:solidFill>
              <a:srgbClr val="262C35"/>
            </a:solidFill>
            <a:prstDash val="solid"/>
          </a:ln>
        </p:spPr>
        <p:txBody>
          <a:bodyPr/>
          <a:lstStyle/>
          <a:p>
            <a:endParaRPr lang="en-US"/>
          </a:p>
        </p:txBody>
      </p:sp>
      <p:sp>
        <p:nvSpPr>
          <p:cNvPr id="6" name="Shape 4"/>
          <p:cNvSpPr/>
          <p:nvPr/>
        </p:nvSpPr>
        <p:spPr>
          <a:xfrm>
            <a:off x="960120" y="2212848"/>
            <a:ext cx="512064" cy="512064"/>
          </a:xfrm>
          <a:prstGeom prst="roundRect">
            <a:avLst>
              <a:gd name="adj" fmla="val 17857"/>
            </a:avLst>
          </a:prstGeom>
          <a:solidFill>
            <a:srgbClr val="F87171">
              <a:alpha val="14000"/>
            </a:srgbClr>
          </a:solidFill>
          <a:ln w="9525">
            <a:solidFill>
              <a:srgbClr val="F87171">
                <a:alpha val="45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72774" y="2325502"/>
            <a:ext cx="286756" cy="286756"/>
          </a:xfrm>
          <a:prstGeom prst="rect">
            <a:avLst/>
          </a:prstGeom>
        </p:spPr>
      </p:pic>
      <p:sp>
        <p:nvSpPr>
          <p:cNvPr id="8" name="Text 5"/>
          <p:cNvSpPr/>
          <p:nvPr/>
        </p:nvSpPr>
        <p:spPr>
          <a:xfrm>
            <a:off x="960120" y="2834640"/>
            <a:ext cx="3017520" cy="329184"/>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Unfamiliar machines</a:t>
            </a:r>
            <a:endParaRPr lang="en-US" sz="1700" dirty="0"/>
          </a:p>
        </p:txBody>
      </p:sp>
      <p:sp>
        <p:nvSpPr>
          <p:cNvPr id="9" name="Text 6"/>
          <p:cNvSpPr/>
          <p:nvPr/>
        </p:nvSpPr>
        <p:spPr>
          <a:xfrm>
            <a:off x="960120" y="3182112"/>
            <a:ext cx="2971800" cy="658368"/>
          </a:xfrm>
          <a:prstGeom prst="rect">
            <a:avLst/>
          </a:prstGeom>
          <a:noFill/>
          <a:ln/>
        </p:spPr>
        <p:txBody>
          <a:bodyPr wrap="square" lIns="0" tIns="0" rIns="0" bIns="0" rtlCol="0" anchor="t"/>
          <a:lstStyle/>
          <a:p>
            <a:pPr marL="0" indent="0" algn="l">
              <a:lnSpc>
                <a:spcPct val="110000"/>
              </a:lnSpc>
              <a:buNone/>
            </a:pPr>
            <a:r>
              <a:rPr lang="en-US" sz="1200" dirty="0">
                <a:solidFill>
                  <a:srgbClr val="9AA3B0"/>
                </a:solidFill>
                <a:latin typeface="Segoe UI" pitchFamily="34" charset="0"/>
                <a:ea typeface="Segoe UI" pitchFamily="34" charset="-122"/>
                <a:cs typeface="Segoe UI" pitchFamily="34" charset="-120"/>
              </a:rPr>
              <a:t>Every machine has a past: repeat faults, misdiagnoses, quirks. That history lives in senior techs' heads.</a:t>
            </a:r>
            <a:endParaRPr lang="en-US" sz="1200" dirty="0"/>
          </a:p>
        </p:txBody>
      </p:sp>
      <p:sp>
        <p:nvSpPr>
          <p:cNvPr id="10" name="Shape 7"/>
          <p:cNvSpPr/>
          <p:nvPr/>
        </p:nvSpPr>
        <p:spPr>
          <a:xfrm>
            <a:off x="4357116" y="1965960"/>
            <a:ext cx="3474720" cy="1920240"/>
          </a:xfrm>
          <a:prstGeom prst="roundRect">
            <a:avLst>
              <a:gd name="adj" fmla="val 5714"/>
            </a:avLst>
          </a:prstGeom>
          <a:solidFill>
            <a:srgbClr val="161A20"/>
          </a:solidFill>
          <a:ln w="12700">
            <a:solidFill>
              <a:srgbClr val="262C35"/>
            </a:solidFill>
            <a:prstDash val="solid"/>
          </a:ln>
        </p:spPr>
        <p:txBody>
          <a:bodyPr/>
          <a:lstStyle/>
          <a:p>
            <a:endParaRPr lang="en-US"/>
          </a:p>
        </p:txBody>
      </p:sp>
      <p:sp>
        <p:nvSpPr>
          <p:cNvPr id="11" name="Shape 8"/>
          <p:cNvSpPr/>
          <p:nvPr/>
        </p:nvSpPr>
        <p:spPr>
          <a:xfrm>
            <a:off x="4631436" y="2212848"/>
            <a:ext cx="512064" cy="512064"/>
          </a:xfrm>
          <a:prstGeom prst="roundRect">
            <a:avLst>
              <a:gd name="adj" fmla="val 17857"/>
            </a:avLst>
          </a:prstGeom>
          <a:solidFill>
            <a:srgbClr val="FFCD11">
              <a:alpha val="14000"/>
            </a:srgbClr>
          </a:solidFill>
          <a:ln w="9525">
            <a:solidFill>
              <a:srgbClr val="FFCD11">
                <a:alpha val="45000"/>
              </a:srgbClr>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744090" y="2325502"/>
            <a:ext cx="286756" cy="286756"/>
          </a:xfrm>
          <a:prstGeom prst="rect">
            <a:avLst/>
          </a:prstGeom>
        </p:spPr>
      </p:pic>
      <p:sp>
        <p:nvSpPr>
          <p:cNvPr id="13" name="Text 9"/>
          <p:cNvSpPr/>
          <p:nvPr/>
        </p:nvSpPr>
        <p:spPr>
          <a:xfrm>
            <a:off x="4631436" y="2834640"/>
            <a:ext cx="3017520" cy="329184"/>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Information overload</a:t>
            </a:r>
            <a:endParaRPr lang="en-US" sz="1700" dirty="0"/>
          </a:p>
        </p:txBody>
      </p:sp>
      <p:sp>
        <p:nvSpPr>
          <p:cNvPr id="14" name="Text 10"/>
          <p:cNvSpPr/>
          <p:nvPr/>
        </p:nvSpPr>
        <p:spPr>
          <a:xfrm>
            <a:off x="4631436" y="3182112"/>
            <a:ext cx="2971800" cy="658368"/>
          </a:xfrm>
          <a:prstGeom prst="rect">
            <a:avLst/>
          </a:prstGeom>
          <a:noFill/>
          <a:ln/>
        </p:spPr>
        <p:txBody>
          <a:bodyPr wrap="square" lIns="0" tIns="0" rIns="0" bIns="0" rtlCol="0" anchor="t"/>
          <a:lstStyle/>
          <a:p>
            <a:pPr marL="0" indent="0" algn="l">
              <a:lnSpc>
                <a:spcPct val="110000"/>
              </a:lnSpc>
              <a:buNone/>
            </a:pPr>
            <a:r>
              <a:rPr lang="en-US" sz="1200" dirty="0">
                <a:solidFill>
                  <a:srgbClr val="9AA3B0"/>
                </a:solidFill>
                <a:latin typeface="Segoe UI" pitchFamily="34" charset="0"/>
                <a:ea typeface="Segoe UI" pitchFamily="34" charset="-122"/>
                <a:cs typeface="Segoe UI" pitchFamily="34" charset="-120"/>
              </a:rPr>
              <a:t>Manuals, fault codes, service records and notes live in different places. Cat has 1,000,000+ parts.</a:t>
            </a:r>
            <a:endParaRPr lang="en-US" sz="1200" dirty="0"/>
          </a:p>
        </p:txBody>
      </p:sp>
      <p:sp>
        <p:nvSpPr>
          <p:cNvPr id="15" name="Shape 11"/>
          <p:cNvSpPr/>
          <p:nvPr/>
        </p:nvSpPr>
        <p:spPr>
          <a:xfrm>
            <a:off x="8028432" y="1965960"/>
            <a:ext cx="3474720" cy="1920240"/>
          </a:xfrm>
          <a:prstGeom prst="roundRect">
            <a:avLst>
              <a:gd name="adj" fmla="val 5714"/>
            </a:avLst>
          </a:prstGeom>
          <a:solidFill>
            <a:srgbClr val="161A20"/>
          </a:solidFill>
          <a:ln w="12700">
            <a:solidFill>
              <a:srgbClr val="262C35"/>
            </a:solidFill>
            <a:prstDash val="solid"/>
          </a:ln>
        </p:spPr>
        <p:txBody>
          <a:bodyPr/>
          <a:lstStyle/>
          <a:p>
            <a:endParaRPr lang="en-US"/>
          </a:p>
        </p:txBody>
      </p:sp>
      <p:sp>
        <p:nvSpPr>
          <p:cNvPr id="16" name="Shape 12"/>
          <p:cNvSpPr/>
          <p:nvPr/>
        </p:nvSpPr>
        <p:spPr>
          <a:xfrm>
            <a:off x="8302752" y="2212848"/>
            <a:ext cx="512064" cy="512064"/>
          </a:xfrm>
          <a:prstGeom prst="roundRect">
            <a:avLst>
              <a:gd name="adj" fmla="val 17857"/>
            </a:avLst>
          </a:prstGeom>
          <a:solidFill>
            <a:srgbClr val="60A5FA">
              <a:alpha val="14000"/>
            </a:srgbClr>
          </a:solidFill>
          <a:ln w="9525">
            <a:solidFill>
              <a:srgbClr val="60A5FA">
                <a:alpha val="45000"/>
              </a:srgbClr>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415406" y="2325502"/>
            <a:ext cx="286756" cy="286756"/>
          </a:xfrm>
          <a:prstGeom prst="rect">
            <a:avLst/>
          </a:prstGeom>
        </p:spPr>
      </p:pic>
      <p:sp>
        <p:nvSpPr>
          <p:cNvPr id="18" name="Text 13"/>
          <p:cNvSpPr/>
          <p:nvPr/>
        </p:nvSpPr>
        <p:spPr>
          <a:xfrm>
            <a:off x="8302752" y="2834640"/>
            <a:ext cx="3017520" cy="329184"/>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Language barriers</a:t>
            </a:r>
            <a:endParaRPr lang="en-US" sz="1700" dirty="0"/>
          </a:p>
        </p:txBody>
      </p:sp>
      <p:sp>
        <p:nvSpPr>
          <p:cNvPr id="19" name="Text 14"/>
          <p:cNvSpPr/>
          <p:nvPr/>
        </p:nvSpPr>
        <p:spPr>
          <a:xfrm>
            <a:off x="8302752" y="3182112"/>
            <a:ext cx="2971800" cy="658368"/>
          </a:xfrm>
          <a:prstGeom prst="rect">
            <a:avLst/>
          </a:prstGeom>
          <a:noFill/>
          <a:ln/>
        </p:spPr>
        <p:txBody>
          <a:bodyPr wrap="square" lIns="0" tIns="0" rIns="0" bIns="0" rtlCol="0" anchor="t"/>
          <a:lstStyle/>
          <a:p>
            <a:pPr marL="0" indent="0" algn="l">
              <a:lnSpc>
                <a:spcPct val="110000"/>
              </a:lnSpc>
              <a:buNone/>
            </a:pPr>
            <a:r>
              <a:rPr lang="en-US" sz="1200" dirty="0">
                <a:solidFill>
                  <a:srgbClr val="9AA3B0"/>
                </a:solidFill>
                <a:latin typeface="Segoe UI" pitchFamily="34" charset="0"/>
                <a:ea typeface="Segoe UI" pitchFamily="34" charset="-122"/>
                <a:cs typeface="Segoe UI" pitchFamily="34" charset="-120"/>
              </a:rPr>
              <a:t>Documentation and tools are English-first. A big share of the workforce isn't.</a:t>
            </a:r>
            <a:endParaRPr lang="en-US" sz="1200" dirty="0"/>
          </a:p>
        </p:txBody>
      </p:sp>
      <p:sp>
        <p:nvSpPr>
          <p:cNvPr id="20" name="Shape 15"/>
          <p:cNvSpPr/>
          <p:nvPr/>
        </p:nvSpPr>
        <p:spPr>
          <a:xfrm>
            <a:off x="685800" y="4114800"/>
            <a:ext cx="10817352" cy="0"/>
          </a:xfrm>
          <a:prstGeom prst="line">
            <a:avLst/>
          </a:prstGeom>
          <a:noFill/>
          <a:ln w="12700">
            <a:solidFill>
              <a:srgbClr val="262C35"/>
            </a:solidFill>
            <a:prstDash val="solid"/>
          </a:ln>
        </p:spPr>
        <p:txBody>
          <a:bodyPr/>
          <a:lstStyle/>
          <a:p>
            <a:endParaRPr lang="en-US"/>
          </a:p>
        </p:txBody>
      </p:sp>
      <p:sp>
        <p:nvSpPr>
          <p:cNvPr id="21" name="Shape 16"/>
          <p:cNvSpPr/>
          <p:nvPr/>
        </p:nvSpPr>
        <p:spPr>
          <a:xfrm>
            <a:off x="685800" y="5577840"/>
            <a:ext cx="10817352" cy="0"/>
          </a:xfrm>
          <a:prstGeom prst="line">
            <a:avLst/>
          </a:prstGeom>
          <a:noFill/>
          <a:ln w="12700">
            <a:solidFill>
              <a:srgbClr val="262C35"/>
            </a:solidFill>
            <a:prstDash val="solid"/>
          </a:ln>
        </p:spPr>
        <p:txBody>
          <a:bodyPr/>
          <a:lstStyle/>
          <a:p>
            <a:endParaRPr lang="en-US"/>
          </a:p>
        </p:txBody>
      </p:sp>
      <p:sp>
        <p:nvSpPr>
          <p:cNvPr id="22" name="Text 17"/>
          <p:cNvSpPr/>
          <p:nvPr/>
        </p:nvSpPr>
        <p:spPr>
          <a:xfrm>
            <a:off x="914400" y="4251960"/>
            <a:ext cx="2377440" cy="502920"/>
          </a:xfrm>
          <a:prstGeom prst="rect">
            <a:avLst/>
          </a:prstGeom>
          <a:noFill/>
          <a:ln/>
        </p:spPr>
        <p:txBody>
          <a:bodyPr wrap="square" lIns="0" tIns="0" rIns="0" bIns="0" rtlCol="0" anchor="t"/>
          <a:lstStyle/>
          <a:p>
            <a:pPr marL="0" indent="0" algn="l">
              <a:lnSpc>
                <a:spcPct val="110000"/>
              </a:lnSpc>
              <a:buNone/>
            </a:pPr>
            <a:r>
              <a:rPr lang="en-US" sz="3000" b="1" dirty="0">
                <a:solidFill>
                  <a:srgbClr val="FFCD11"/>
                </a:solidFill>
                <a:latin typeface="Segoe UI" pitchFamily="34" charset="0"/>
                <a:ea typeface="Segoe UI" pitchFamily="34" charset="-122"/>
                <a:cs typeface="Segoe UI" pitchFamily="34" charset="-120"/>
              </a:rPr>
              <a:t>21,700</a:t>
            </a:r>
            <a:endParaRPr lang="en-US" sz="3000" dirty="0"/>
          </a:p>
        </p:txBody>
      </p:sp>
      <p:sp>
        <p:nvSpPr>
          <p:cNvPr id="23" name="Text 18"/>
          <p:cNvSpPr/>
          <p:nvPr/>
        </p:nvSpPr>
        <p:spPr>
          <a:xfrm>
            <a:off x="914400" y="4773168"/>
            <a:ext cx="2331720" cy="457200"/>
          </a:xfrm>
          <a:prstGeom prst="rect">
            <a:avLst/>
          </a:prstGeom>
          <a:noFill/>
          <a:ln/>
        </p:spPr>
        <p:txBody>
          <a:bodyPr wrap="square" lIns="0" tIns="0" rIns="0" bIns="0" rtlCol="0" anchor="t"/>
          <a:lstStyle/>
          <a:p>
            <a:pPr marL="0" indent="0" algn="l">
              <a:lnSpc>
                <a:spcPct val="110000"/>
              </a:lnSpc>
              <a:buNone/>
            </a:pPr>
            <a:r>
              <a:rPr lang="en-US" sz="1150" dirty="0">
                <a:solidFill>
                  <a:srgbClr val="C9CED6"/>
                </a:solidFill>
                <a:latin typeface="Segoe UI" pitchFamily="34" charset="0"/>
                <a:ea typeface="Segoe UI" pitchFamily="34" charset="-122"/>
                <a:cs typeface="Segoe UI" pitchFamily="34" charset="-120"/>
              </a:rPr>
              <a:t>heavy-equipment technician openings every year</a:t>
            </a:r>
            <a:endParaRPr lang="en-US" sz="1150" dirty="0"/>
          </a:p>
        </p:txBody>
      </p:sp>
      <p:sp>
        <p:nvSpPr>
          <p:cNvPr id="24" name="Text 19"/>
          <p:cNvSpPr/>
          <p:nvPr/>
        </p:nvSpPr>
        <p:spPr>
          <a:xfrm>
            <a:off x="914400" y="5266944"/>
            <a:ext cx="2331720" cy="228600"/>
          </a:xfrm>
          <a:prstGeom prst="rect">
            <a:avLst/>
          </a:prstGeom>
          <a:noFill/>
          <a:ln/>
        </p:spPr>
        <p:txBody>
          <a:bodyPr wrap="square" lIns="0" tIns="0" rIns="0" bIns="0" rtlCol="0" anchor="t"/>
          <a:lstStyle/>
          <a:p>
            <a:pPr marL="0" indent="0" algn="l">
              <a:lnSpc>
                <a:spcPct val="110000"/>
              </a:lnSpc>
              <a:buNone/>
            </a:pPr>
            <a:r>
              <a:rPr lang="en-US" sz="900" dirty="0">
                <a:solidFill>
                  <a:srgbClr val="6B7480"/>
                </a:solidFill>
                <a:latin typeface="Segoe UI" pitchFamily="34" charset="0"/>
                <a:ea typeface="Segoe UI" pitchFamily="34" charset="-122"/>
                <a:cs typeface="Segoe UI" pitchFamily="34" charset="-120"/>
              </a:rPr>
              <a:t>BLS, 2024-34 projections</a:t>
            </a:r>
            <a:endParaRPr lang="en-US" sz="900" dirty="0"/>
          </a:p>
        </p:txBody>
      </p:sp>
      <p:sp>
        <p:nvSpPr>
          <p:cNvPr id="25" name="Shape 20"/>
          <p:cNvSpPr/>
          <p:nvPr/>
        </p:nvSpPr>
        <p:spPr>
          <a:xfrm>
            <a:off x="3392424" y="4114800"/>
            <a:ext cx="0" cy="1463040"/>
          </a:xfrm>
          <a:prstGeom prst="line">
            <a:avLst/>
          </a:prstGeom>
          <a:noFill/>
          <a:ln w="12700">
            <a:solidFill>
              <a:srgbClr val="262C35"/>
            </a:solidFill>
            <a:prstDash val="solid"/>
          </a:ln>
        </p:spPr>
        <p:txBody>
          <a:bodyPr/>
          <a:lstStyle/>
          <a:p>
            <a:endParaRPr lang="en-US"/>
          </a:p>
        </p:txBody>
      </p:sp>
      <p:sp>
        <p:nvSpPr>
          <p:cNvPr id="26" name="Text 21"/>
          <p:cNvSpPr/>
          <p:nvPr/>
        </p:nvSpPr>
        <p:spPr>
          <a:xfrm>
            <a:off x="3621024" y="4251960"/>
            <a:ext cx="2377440" cy="502920"/>
          </a:xfrm>
          <a:prstGeom prst="rect">
            <a:avLst/>
          </a:prstGeom>
          <a:noFill/>
          <a:ln/>
        </p:spPr>
        <p:txBody>
          <a:bodyPr wrap="square" lIns="0" tIns="0" rIns="0" bIns="0" rtlCol="0" anchor="t"/>
          <a:lstStyle/>
          <a:p>
            <a:pPr marL="0" indent="0" algn="l">
              <a:lnSpc>
                <a:spcPct val="110000"/>
              </a:lnSpc>
              <a:buNone/>
            </a:pPr>
            <a:r>
              <a:rPr lang="en-US" sz="3000" b="1" dirty="0">
                <a:solidFill>
                  <a:srgbClr val="FFCD11"/>
                </a:solidFill>
                <a:latin typeface="Segoe UI" pitchFamily="34" charset="0"/>
                <a:ea typeface="Segoe UI" pitchFamily="34" charset="-122"/>
                <a:cs typeface="Segoe UI" pitchFamily="34" charset="-120"/>
              </a:rPr>
              <a:t>~19%</a:t>
            </a:r>
            <a:endParaRPr lang="en-US" sz="3000" dirty="0"/>
          </a:p>
        </p:txBody>
      </p:sp>
      <p:sp>
        <p:nvSpPr>
          <p:cNvPr id="27" name="Text 22"/>
          <p:cNvSpPr/>
          <p:nvPr/>
        </p:nvSpPr>
        <p:spPr>
          <a:xfrm>
            <a:off x="3621024" y="4773168"/>
            <a:ext cx="2331720" cy="457200"/>
          </a:xfrm>
          <a:prstGeom prst="rect">
            <a:avLst/>
          </a:prstGeom>
          <a:noFill/>
          <a:ln/>
        </p:spPr>
        <p:txBody>
          <a:bodyPr wrap="square" lIns="0" tIns="0" rIns="0" bIns="0" rtlCol="0" anchor="t"/>
          <a:lstStyle/>
          <a:p>
            <a:pPr marL="0" indent="0" algn="l">
              <a:lnSpc>
                <a:spcPct val="110000"/>
              </a:lnSpc>
              <a:buNone/>
            </a:pPr>
            <a:r>
              <a:rPr lang="en-US" sz="1150" dirty="0">
                <a:solidFill>
                  <a:srgbClr val="C9CED6"/>
                </a:solidFill>
                <a:latin typeface="Segoe UI" pitchFamily="34" charset="0"/>
                <a:ea typeface="Segoe UI" pitchFamily="34" charset="-122"/>
                <a:cs typeface="Segoe UI" pitchFamily="34" charset="-120"/>
              </a:rPr>
              <a:t>of work time is spent searching for information</a:t>
            </a:r>
            <a:endParaRPr lang="en-US" sz="1150" dirty="0"/>
          </a:p>
        </p:txBody>
      </p:sp>
      <p:sp>
        <p:nvSpPr>
          <p:cNvPr id="28" name="Text 23"/>
          <p:cNvSpPr/>
          <p:nvPr/>
        </p:nvSpPr>
        <p:spPr>
          <a:xfrm>
            <a:off x="3621024" y="5266944"/>
            <a:ext cx="2331720" cy="228600"/>
          </a:xfrm>
          <a:prstGeom prst="rect">
            <a:avLst/>
          </a:prstGeom>
          <a:noFill/>
          <a:ln/>
        </p:spPr>
        <p:txBody>
          <a:bodyPr wrap="square" lIns="0" tIns="0" rIns="0" bIns="0" rtlCol="0" anchor="t"/>
          <a:lstStyle/>
          <a:p>
            <a:pPr marL="0" indent="0" algn="l">
              <a:lnSpc>
                <a:spcPct val="110000"/>
              </a:lnSpc>
              <a:buNone/>
            </a:pPr>
            <a:r>
              <a:rPr lang="en-US" sz="900" dirty="0">
                <a:solidFill>
                  <a:srgbClr val="6B7480"/>
                </a:solidFill>
                <a:latin typeface="Segoe UI" pitchFamily="34" charset="0"/>
                <a:ea typeface="Segoe UI" pitchFamily="34" charset="-122"/>
                <a:cs typeface="Segoe UI" pitchFamily="34" charset="-120"/>
              </a:rPr>
              <a:t>McKinsey Global Institute</a:t>
            </a:r>
            <a:endParaRPr lang="en-US" sz="900" dirty="0"/>
          </a:p>
        </p:txBody>
      </p:sp>
      <p:sp>
        <p:nvSpPr>
          <p:cNvPr id="29" name="Shape 24"/>
          <p:cNvSpPr/>
          <p:nvPr/>
        </p:nvSpPr>
        <p:spPr>
          <a:xfrm>
            <a:off x="6099048" y="4114800"/>
            <a:ext cx="0" cy="1463040"/>
          </a:xfrm>
          <a:prstGeom prst="line">
            <a:avLst/>
          </a:prstGeom>
          <a:noFill/>
          <a:ln w="12700">
            <a:solidFill>
              <a:srgbClr val="262C35"/>
            </a:solidFill>
            <a:prstDash val="solid"/>
          </a:ln>
        </p:spPr>
        <p:txBody>
          <a:bodyPr/>
          <a:lstStyle/>
          <a:p>
            <a:endParaRPr lang="en-US"/>
          </a:p>
        </p:txBody>
      </p:sp>
      <p:sp>
        <p:nvSpPr>
          <p:cNvPr id="30" name="Text 25"/>
          <p:cNvSpPr/>
          <p:nvPr/>
        </p:nvSpPr>
        <p:spPr>
          <a:xfrm>
            <a:off x="6327648" y="4251960"/>
            <a:ext cx="2377440" cy="502920"/>
          </a:xfrm>
          <a:prstGeom prst="rect">
            <a:avLst/>
          </a:prstGeom>
          <a:noFill/>
          <a:ln/>
        </p:spPr>
        <p:txBody>
          <a:bodyPr wrap="square" lIns="0" tIns="0" rIns="0" bIns="0" rtlCol="0" anchor="t"/>
          <a:lstStyle/>
          <a:p>
            <a:pPr marL="0" indent="0" algn="l">
              <a:lnSpc>
                <a:spcPct val="110000"/>
              </a:lnSpc>
              <a:buNone/>
            </a:pPr>
            <a:r>
              <a:rPr lang="en-US" sz="3000" b="1" dirty="0">
                <a:solidFill>
                  <a:srgbClr val="FFCD11"/>
                </a:solidFill>
                <a:latin typeface="Segoe UI" pitchFamily="34" charset="0"/>
                <a:ea typeface="Segoe UI" pitchFamily="34" charset="-122"/>
                <a:cs typeface="Segoe UI" pitchFamily="34" charset="-120"/>
              </a:rPr>
              <a:t>35%</a:t>
            </a:r>
            <a:endParaRPr lang="en-US" sz="3000" dirty="0"/>
          </a:p>
        </p:txBody>
      </p:sp>
      <p:sp>
        <p:nvSpPr>
          <p:cNvPr id="31" name="Text 26"/>
          <p:cNvSpPr/>
          <p:nvPr/>
        </p:nvSpPr>
        <p:spPr>
          <a:xfrm>
            <a:off x="6327648" y="4773168"/>
            <a:ext cx="2331720" cy="457200"/>
          </a:xfrm>
          <a:prstGeom prst="rect">
            <a:avLst/>
          </a:prstGeom>
          <a:noFill/>
          <a:ln/>
        </p:spPr>
        <p:txBody>
          <a:bodyPr wrap="square" lIns="0" tIns="0" rIns="0" bIns="0" rtlCol="0" anchor="t"/>
          <a:lstStyle/>
          <a:p>
            <a:pPr marL="0" indent="0" algn="l">
              <a:lnSpc>
                <a:spcPct val="110000"/>
              </a:lnSpc>
              <a:buNone/>
            </a:pPr>
            <a:r>
              <a:rPr lang="en-US" sz="1150" dirty="0">
                <a:solidFill>
                  <a:srgbClr val="C9CED6"/>
                </a:solidFill>
                <a:latin typeface="Segoe UI" pitchFamily="34" charset="0"/>
                <a:ea typeface="Segoe UI" pitchFamily="34" charset="-122"/>
                <a:cs typeface="Segoe UI" pitchFamily="34" charset="-120"/>
              </a:rPr>
              <a:t>of U.S. construction workers are Hispanic or Latino</a:t>
            </a:r>
            <a:endParaRPr lang="en-US" sz="1150" dirty="0"/>
          </a:p>
        </p:txBody>
      </p:sp>
      <p:sp>
        <p:nvSpPr>
          <p:cNvPr id="32" name="Text 27"/>
          <p:cNvSpPr/>
          <p:nvPr/>
        </p:nvSpPr>
        <p:spPr>
          <a:xfrm>
            <a:off x="6327648" y="5266944"/>
            <a:ext cx="2331720" cy="228600"/>
          </a:xfrm>
          <a:prstGeom prst="rect">
            <a:avLst/>
          </a:prstGeom>
          <a:noFill/>
          <a:ln/>
        </p:spPr>
        <p:txBody>
          <a:bodyPr wrap="square" lIns="0" tIns="0" rIns="0" bIns="0" rtlCol="0" anchor="t"/>
          <a:lstStyle/>
          <a:p>
            <a:pPr marL="0" indent="0" algn="l">
              <a:lnSpc>
                <a:spcPct val="110000"/>
              </a:lnSpc>
              <a:buNone/>
            </a:pPr>
            <a:r>
              <a:rPr lang="en-US" sz="900" dirty="0">
                <a:solidFill>
                  <a:srgbClr val="6B7480"/>
                </a:solidFill>
                <a:latin typeface="Segoe UI" pitchFamily="34" charset="0"/>
                <a:ea typeface="Segoe UI" pitchFamily="34" charset="-122"/>
                <a:cs typeface="Segoe UI" pitchFamily="34" charset="-120"/>
              </a:rPr>
              <a:t>BLS, 2024</a:t>
            </a:r>
            <a:endParaRPr lang="en-US" sz="900" dirty="0"/>
          </a:p>
        </p:txBody>
      </p:sp>
      <p:sp>
        <p:nvSpPr>
          <p:cNvPr id="33" name="Shape 28"/>
          <p:cNvSpPr/>
          <p:nvPr/>
        </p:nvSpPr>
        <p:spPr>
          <a:xfrm>
            <a:off x="8805672" y="4114800"/>
            <a:ext cx="0" cy="1463040"/>
          </a:xfrm>
          <a:prstGeom prst="line">
            <a:avLst/>
          </a:prstGeom>
          <a:noFill/>
          <a:ln w="12700">
            <a:solidFill>
              <a:srgbClr val="262C35"/>
            </a:solidFill>
            <a:prstDash val="solid"/>
          </a:ln>
        </p:spPr>
        <p:txBody>
          <a:bodyPr/>
          <a:lstStyle/>
          <a:p>
            <a:endParaRPr lang="en-US"/>
          </a:p>
        </p:txBody>
      </p:sp>
      <p:sp>
        <p:nvSpPr>
          <p:cNvPr id="34" name="Text 29"/>
          <p:cNvSpPr/>
          <p:nvPr/>
        </p:nvSpPr>
        <p:spPr>
          <a:xfrm>
            <a:off x="9034272" y="4251960"/>
            <a:ext cx="2377440" cy="502920"/>
          </a:xfrm>
          <a:prstGeom prst="rect">
            <a:avLst/>
          </a:prstGeom>
          <a:noFill/>
          <a:ln/>
        </p:spPr>
        <p:txBody>
          <a:bodyPr wrap="square" lIns="0" tIns="0" rIns="0" bIns="0" rtlCol="0" anchor="t"/>
          <a:lstStyle/>
          <a:p>
            <a:pPr marL="0" indent="0" algn="l">
              <a:lnSpc>
                <a:spcPct val="110000"/>
              </a:lnSpc>
              <a:buNone/>
            </a:pPr>
            <a:r>
              <a:rPr lang="en-US" sz="3000" b="1" dirty="0">
                <a:solidFill>
                  <a:srgbClr val="FFCD11"/>
                </a:solidFill>
                <a:latin typeface="Segoe UI" pitchFamily="34" charset="0"/>
                <a:ea typeface="Segoe UI" pitchFamily="34" charset="-122"/>
                <a:cs typeface="Segoe UI" pitchFamily="34" charset="-120"/>
              </a:rPr>
              <a:t>26%</a:t>
            </a:r>
            <a:endParaRPr lang="en-US" sz="3000" dirty="0"/>
          </a:p>
        </p:txBody>
      </p:sp>
      <p:sp>
        <p:nvSpPr>
          <p:cNvPr id="35" name="Text 30"/>
          <p:cNvSpPr/>
          <p:nvPr/>
        </p:nvSpPr>
        <p:spPr>
          <a:xfrm>
            <a:off x="9034272" y="4773168"/>
            <a:ext cx="2331720" cy="457200"/>
          </a:xfrm>
          <a:prstGeom prst="rect">
            <a:avLst/>
          </a:prstGeom>
          <a:noFill/>
          <a:ln/>
        </p:spPr>
        <p:txBody>
          <a:bodyPr wrap="square" lIns="0" tIns="0" rIns="0" bIns="0" rtlCol="0" anchor="t"/>
          <a:lstStyle/>
          <a:p>
            <a:pPr marL="0" indent="0" algn="l">
              <a:lnSpc>
                <a:spcPct val="110000"/>
              </a:lnSpc>
              <a:buNone/>
            </a:pPr>
            <a:r>
              <a:rPr lang="en-US" sz="1150" dirty="0">
                <a:solidFill>
                  <a:srgbClr val="C9CED6"/>
                </a:solidFill>
                <a:latin typeface="Segoe UI" pitchFamily="34" charset="0"/>
                <a:ea typeface="Segoe UI" pitchFamily="34" charset="-122"/>
                <a:cs typeface="Segoe UI" pitchFamily="34" charset="-120"/>
              </a:rPr>
              <a:t>higher fatal injury rate for Hispanic or Latino workers</a:t>
            </a:r>
            <a:endParaRPr lang="en-US" sz="1150" dirty="0"/>
          </a:p>
        </p:txBody>
      </p:sp>
      <p:sp>
        <p:nvSpPr>
          <p:cNvPr id="36" name="Text 31"/>
          <p:cNvSpPr/>
          <p:nvPr/>
        </p:nvSpPr>
        <p:spPr>
          <a:xfrm>
            <a:off x="9034272" y="5266944"/>
            <a:ext cx="2331720" cy="228600"/>
          </a:xfrm>
          <a:prstGeom prst="rect">
            <a:avLst/>
          </a:prstGeom>
          <a:noFill/>
          <a:ln/>
        </p:spPr>
        <p:txBody>
          <a:bodyPr wrap="square" lIns="0" tIns="0" rIns="0" bIns="0" rtlCol="0" anchor="t"/>
          <a:lstStyle/>
          <a:p>
            <a:pPr marL="0" indent="0" algn="l">
              <a:lnSpc>
                <a:spcPct val="110000"/>
              </a:lnSpc>
              <a:buNone/>
            </a:pPr>
            <a:r>
              <a:rPr lang="en-US" sz="900" dirty="0">
                <a:solidFill>
                  <a:srgbClr val="6B7480"/>
                </a:solidFill>
                <a:latin typeface="Segoe UI" pitchFamily="34" charset="0"/>
                <a:ea typeface="Segoe UI" pitchFamily="34" charset="-122"/>
                <a:cs typeface="Segoe UI" pitchFamily="34" charset="-120"/>
              </a:rPr>
              <a:t>BLS, 2023</a:t>
            </a:r>
            <a:endParaRPr lang="en-US" sz="900" dirty="0"/>
          </a:p>
        </p:txBody>
      </p:sp>
      <p:sp>
        <p:nvSpPr>
          <p:cNvPr id="37" name="Text 32"/>
          <p:cNvSpPr/>
          <p:nvPr/>
        </p:nvSpPr>
        <p:spPr>
          <a:xfrm>
            <a:off x="685800" y="5742432"/>
            <a:ext cx="10789920" cy="320040"/>
          </a:xfrm>
          <a:prstGeom prst="rect">
            <a:avLst/>
          </a:prstGeom>
          <a:noFill/>
          <a:ln/>
        </p:spPr>
        <p:txBody>
          <a:bodyPr wrap="square" lIns="0" tIns="0" rIns="0" bIns="0" rtlCol="0" anchor="ctr"/>
          <a:lstStyle/>
          <a:p>
            <a:pPr marL="0" indent="0">
              <a:buNone/>
            </a:pPr>
            <a:r>
              <a:rPr lang="en-US" sz="1000" b="1" kern="0" spc="200" dirty="0">
                <a:solidFill>
                  <a:srgbClr val="FFCD11"/>
                </a:solidFill>
                <a:latin typeface="Segoe UI" pitchFamily="34" charset="0"/>
                <a:ea typeface="Segoe UI" pitchFamily="34" charset="-122"/>
                <a:cs typeface="Segoe UI" pitchFamily="34" charset="-120"/>
              </a:rPr>
              <a:t>BARRIERS WE REMOVE   </a:t>
            </a:r>
            <a:r>
              <a:rPr lang="en-US" sz="1400" dirty="0">
                <a:solidFill>
                  <a:srgbClr val="C9CED6"/>
                </a:solidFill>
                <a:latin typeface="Segoe UI" pitchFamily="34" charset="0"/>
                <a:ea typeface="Segoe UI" pitchFamily="34" charset="-122"/>
                <a:cs typeface="Segoe UI" pitchFamily="34" charset="-120"/>
              </a:rPr>
              <a:t>Cognitive  ·  Informational  ·  Linguistic</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03   </a:t>
            </a:r>
            <a:r>
              <a:rPr lang="en-US" sz="1100" b="1" kern="0" spc="300" dirty="0">
                <a:solidFill>
                  <a:srgbClr val="9AA3B0"/>
                </a:solidFill>
                <a:latin typeface="Segoe UI" pitchFamily="34" charset="0"/>
                <a:ea typeface="Segoe UI" pitchFamily="34" charset="-122"/>
                <a:cs typeface="Segoe UI" pitchFamily="34" charset="-120"/>
              </a:rPr>
              <a:t>HOW WE GOT HERE</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ea typeface="Segoe UI" pitchFamily="34" charset="-122"/>
                <a:cs typeface="Segoe UI" pitchFamily="34" charset="-120"/>
              </a:rPr>
              <a:t>We talked to Caterpillar</a:t>
            </a:r>
            <a:r>
              <a:rPr lang="en-US" sz="3200" b="1" dirty="0">
                <a:solidFill>
                  <a:srgbClr val="FFCD11"/>
                </a:solidFill>
                <a:latin typeface="Segoe UI" pitchFamily="34" charset="0"/>
                <a:ea typeface="Segoe UI" pitchFamily="34" charset="-122"/>
                <a:cs typeface="Segoe UI" pitchFamily="34" charset="-120"/>
              </a:rPr>
              <a:t> before jumping to any solutions`</a:t>
            </a:r>
            <a:endParaRPr lang="en-US" sz="3200" dirty="0"/>
          </a:p>
        </p:txBody>
      </p:sp>
      <p:sp>
        <p:nvSpPr>
          <p:cNvPr id="5" name="Shape 3"/>
          <p:cNvSpPr/>
          <p:nvPr/>
        </p:nvSpPr>
        <p:spPr>
          <a:xfrm>
            <a:off x="685800" y="1965960"/>
            <a:ext cx="5303520" cy="3383280"/>
          </a:xfrm>
          <a:prstGeom prst="roundRect">
            <a:avLst>
              <a:gd name="adj" fmla="val 3243"/>
            </a:avLst>
          </a:prstGeom>
          <a:solidFill>
            <a:srgbClr val="161A20"/>
          </a:solidFill>
          <a:ln w="12700">
            <a:solidFill>
              <a:srgbClr val="262C35"/>
            </a:solidFill>
            <a:prstDash val="solid"/>
          </a:ln>
        </p:spPr>
        <p:txBody>
          <a:bodyPr/>
          <a:lstStyle/>
          <a:p>
            <a:endParaRPr lang="en-US"/>
          </a:p>
        </p:txBody>
      </p:sp>
      <p:sp>
        <p:nvSpPr>
          <p:cNvPr id="6" name="Shape 4"/>
          <p:cNvSpPr/>
          <p:nvPr/>
        </p:nvSpPr>
        <p:spPr>
          <a:xfrm>
            <a:off x="960120" y="2240280"/>
            <a:ext cx="512064" cy="512064"/>
          </a:xfrm>
          <a:prstGeom prst="roundRect">
            <a:avLst>
              <a:gd name="adj" fmla="val 17857"/>
            </a:avLst>
          </a:prstGeom>
          <a:solidFill>
            <a:srgbClr val="FFCD11">
              <a:alpha val="14000"/>
            </a:srgbClr>
          </a:solidFill>
          <a:ln w="9525">
            <a:solidFill>
              <a:srgbClr val="FFCD11">
                <a:alpha val="45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72774" y="2352934"/>
            <a:ext cx="286756" cy="286756"/>
          </a:xfrm>
          <a:prstGeom prst="rect">
            <a:avLst/>
          </a:prstGeom>
        </p:spPr>
      </p:pic>
      <p:sp>
        <p:nvSpPr>
          <p:cNvPr id="8" name="Text 5"/>
          <p:cNvSpPr/>
          <p:nvPr/>
        </p:nvSpPr>
        <p:spPr>
          <a:xfrm>
            <a:off x="1645920" y="2286000"/>
            <a:ext cx="365760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INTERVIEW</a:t>
            </a:r>
            <a:endParaRPr lang="en-US" sz="1000" dirty="0"/>
          </a:p>
        </p:txBody>
      </p:sp>
      <p:sp>
        <p:nvSpPr>
          <p:cNvPr id="9" name="Text 6"/>
          <p:cNvSpPr/>
          <p:nvPr/>
        </p:nvSpPr>
        <p:spPr>
          <a:xfrm>
            <a:off x="1645920" y="2505456"/>
            <a:ext cx="4206240" cy="310896"/>
          </a:xfrm>
          <a:prstGeom prst="rect">
            <a:avLst/>
          </a:prstGeom>
          <a:noFill/>
          <a:ln/>
        </p:spPr>
        <p:txBody>
          <a:bodyPr wrap="square" lIns="0" tIns="0" rIns="0" bIns="0" rtlCol="0" anchor="t"/>
          <a:lstStyle/>
          <a:p>
            <a:pPr marL="0" indent="0" algn="l">
              <a:lnSpc>
                <a:spcPct val="110000"/>
              </a:lnSpc>
              <a:buNone/>
            </a:pPr>
            <a:r>
              <a:rPr lang="en-US" sz="1600" b="1" dirty="0">
                <a:solidFill>
                  <a:srgbClr val="F2F3F5"/>
                </a:solidFill>
                <a:latin typeface="Segoe UI" pitchFamily="34" charset="0"/>
                <a:ea typeface="Segoe UI" pitchFamily="34" charset="-122"/>
                <a:cs typeface="Segoe UI" pitchFamily="34" charset="-120"/>
              </a:rPr>
              <a:t>Marcus, Lead Product Owner at Caterpillar</a:t>
            </a:r>
            <a:endParaRPr lang="en-US" sz="1600" dirty="0"/>
          </a:p>
        </p:txBody>
      </p:sp>
      <p:pic>
        <p:nvPicPr>
          <p:cNvPr id="10" name="Image 1" descr="preencoded.png"/>
          <p:cNvPicPr>
            <a:picLocks noChangeAspect="1"/>
          </p:cNvPicPr>
          <p:nvPr/>
        </p:nvPicPr>
        <p:blipFill>
          <a:blip r:embed="rId4"/>
          <a:stretch>
            <a:fillRect/>
          </a:stretch>
        </p:blipFill>
        <p:spPr>
          <a:xfrm>
            <a:off x="960120" y="3136392"/>
            <a:ext cx="201168" cy="201168"/>
          </a:xfrm>
          <a:prstGeom prst="rect">
            <a:avLst/>
          </a:prstGeom>
        </p:spPr>
      </p:pic>
      <p:sp>
        <p:nvSpPr>
          <p:cNvPr id="11" name="Text 7"/>
          <p:cNvSpPr/>
          <p:nvPr/>
        </p:nvSpPr>
        <p:spPr>
          <a:xfrm>
            <a:off x="1289304" y="3108960"/>
            <a:ext cx="4471416" cy="530352"/>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ea typeface="Segoe UI" pitchFamily="34" charset="-122"/>
                <a:cs typeface="Segoe UI" pitchFamily="34" charset="-120"/>
              </a:rPr>
              <a:t>Safety is the #1 priority, so any tool has to be foolproof</a:t>
            </a:r>
            <a:endParaRPr lang="en-US" sz="1400" dirty="0"/>
          </a:p>
        </p:txBody>
      </p:sp>
      <p:pic>
        <p:nvPicPr>
          <p:cNvPr id="12" name="Image 2" descr="preencoded.png"/>
          <p:cNvPicPr>
            <a:picLocks noChangeAspect="1"/>
          </p:cNvPicPr>
          <p:nvPr/>
        </p:nvPicPr>
        <p:blipFill>
          <a:blip r:embed="rId4"/>
          <a:stretch>
            <a:fillRect/>
          </a:stretch>
        </p:blipFill>
        <p:spPr>
          <a:xfrm>
            <a:off x="960120" y="3666744"/>
            <a:ext cx="201168" cy="201168"/>
          </a:xfrm>
          <a:prstGeom prst="rect">
            <a:avLst/>
          </a:prstGeom>
        </p:spPr>
      </p:pic>
      <p:sp>
        <p:nvSpPr>
          <p:cNvPr id="13" name="Text 8"/>
          <p:cNvSpPr/>
          <p:nvPr/>
        </p:nvSpPr>
        <p:spPr>
          <a:xfrm>
            <a:off x="1289304" y="3639312"/>
            <a:ext cx="4471416" cy="530352"/>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ea typeface="Segoe UI" pitchFamily="34" charset="-122"/>
                <a:cs typeface="Segoe UI" pitchFamily="34" charset="-120"/>
              </a:rPr>
              <a:t>Strikes and turnover put new people on machines fast</a:t>
            </a:r>
            <a:endParaRPr lang="en-US" sz="1400" dirty="0"/>
          </a:p>
        </p:txBody>
      </p:sp>
      <p:pic>
        <p:nvPicPr>
          <p:cNvPr id="14" name="Image 3" descr="preencoded.png"/>
          <p:cNvPicPr>
            <a:picLocks noChangeAspect="1"/>
          </p:cNvPicPr>
          <p:nvPr/>
        </p:nvPicPr>
        <p:blipFill>
          <a:blip r:embed="rId4"/>
          <a:stretch>
            <a:fillRect/>
          </a:stretch>
        </p:blipFill>
        <p:spPr>
          <a:xfrm>
            <a:off x="960120" y="4197096"/>
            <a:ext cx="201168" cy="201168"/>
          </a:xfrm>
          <a:prstGeom prst="rect">
            <a:avLst/>
          </a:prstGeom>
        </p:spPr>
      </p:pic>
      <p:sp>
        <p:nvSpPr>
          <p:cNvPr id="15" name="Text 9"/>
          <p:cNvSpPr/>
          <p:nvPr/>
        </p:nvSpPr>
        <p:spPr>
          <a:xfrm>
            <a:off x="1289304" y="4169664"/>
            <a:ext cx="4471416" cy="530352"/>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ea typeface="Segoe UI" pitchFamily="34" charset="-122"/>
                <a:cs typeface="Segoe UI" pitchFamily="34" charset="-120"/>
              </a:rPr>
              <a:t>Bringing new technicians up to speed takes a long time</a:t>
            </a:r>
            <a:endParaRPr lang="en-US" sz="1400" dirty="0"/>
          </a:p>
        </p:txBody>
      </p:sp>
      <p:pic>
        <p:nvPicPr>
          <p:cNvPr id="16" name="Image 4" descr="preencoded.png"/>
          <p:cNvPicPr>
            <a:picLocks noChangeAspect="1"/>
          </p:cNvPicPr>
          <p:nvPr/>
        </p:nvPicPr>
        <p:blipFill>
          <a:blip r:embed="rId4"/>
          <a:stretch>
            <a:fillRect/>
          </a:stretch>
        </p:blipFill>
        <p:spPr>
          <a:xfrm>
            <a:off x="960120" y="4727448"/>
            <a:ext cx="201168" cy="201168"/>
          </a:xfrm>
          <a:prstGeom prst="rect">
            <a:avLst/>
          </a:prstGeom>
        </p:spPr>
      </p:pic>
      <p:sp>
        <p:nvSpPr>
          <p:cNvPr id="17" name="Text 10"/>
          <p:cNvSpPr/>
          <p:nvPr/>
        </p:nvSpPr>
        <p:spPr>
          <a:xfrm>
            <a:off x="1289304" y="4700016"/>
            <a:ext cx="4471416" cy="530352"/>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ea typeface="Segoe UI" pitchFamily="34" charset="-122"/>
                <a:cs typeface="Segoe UI" pitchFamily="34" charset="-120"/>
              </a:rPr>
              <a:t>Cat has 1,000,000+ parts; nobody can memorize them</a:t>
            </a:r>
            <a:endParaRPr lang="en-US" sz="1400" dirty="0"/>
          </a:p>
        </p:txBody>
      </p:sp>
      <p:sp>
        <p:nvSpPr>
          <p:cNvPr id="31" name="Shape 19"/>
          <p:cNvSpPr/>
          <p:nvPr/>
        </p:nvSpPr>
        <p:spPr>
          <a:xfrm>
            <a:off x="685800" y="5532120"/>
            <a:ext cx="10817352" cy="594360"/>
          </a:xfrm>
          <a:prstGeom prst="roundRect">
            <a:avLst>
              <a:gd name="adj" fmla="val 18462"/>
            </a:avLst>
          </a:prstGeom>
          <a:solidFill>
            <a:srgbClr val="FFCD11">
              <a:alpha val="12000"/>
            </a:srgbClr>
          </a:solidFill>
          <a:ln w="12700">
            <a:solidFill>
              <a:srgbClr val="FFCD11"/>
            </a:solidFill>
            <a:prstDash val="solid"/>
          </a:ln>
        </p:spPr>
        <p:txBody>
          <a:bodyPr/>
          <a:lstStyle/>
          <a:p>
            <a:endParaRPr lang="en-US"/>
          </a:p>
        </p:txBody>
      </p:sp>
      <p:pic>
        <p:nvPicPr>
          <p:cNvPr id="32" name="Image 10" descr="preencoded.png"/>
          <p:cNvPicPr>
            <a:picLocks noChangeAspect="1"/>
          </p:cNvPicPr>
          <p:nvPr/>
        </p:nvPicPr>
        <p:blipFill>
          <a:blip r:embed="rId5"/>
          <a:stretch>
            <a:fillRect/>
          </a:stretch>
        </p:blipFill>
        <p:spPr>
          <a:xfrm>
            <a:off x="914400" y="5687568"/>
            <a:ext cx="274320" cy="274320"/>
          </a:xfrm>
          <a:prstGeom prst="rect">
            <a:avLst/>
          </a:prstGeom>
        </p:spPr>
      </p:pic>
      <p:sp>
        <p:nvSpPr>
          <p:cNvPr id="33" name="Text 20"/>
          <p:cNvSpPr/>
          <p:nvPr/>
        </p:nvSpPr>
        <p:spPr>
          <a:xfrm>
            <a:off x="1325880" y="5532120"/>
            <a:ext cx="10058400" cy="594360"/>
          </a:xfrm>
          <a:prstGeom prst="rect">
            <a:avLst/>
          </a:prstGeom>
          <a:noFill/>
          <a:ln/>
        </p:spPr>
        <p:txBody>
          <a:bodyPr wrap="square" lIns="0" tIns="0" rIns="0" bIns="0" rtlCol="0" anchor="ctr"/>
          <a:lstStyle/>
          <a:p>
            <a:pPr marL="0" indent="0">
              <a:buNone/>
            </a:pPr>
            <a:r>
              <a:rPr lang="en-US" sz="1500" b="1" dirty="0">
                <a:solidFill>
                  <a:srgbClr val="FFCD11"/>
                </a:solidFill>
                <a:latin typeface="Segoe UI" pitchFamily="34" charset="0"/>
                <a:ea typeface="Segoe UI" pitchFamily="34" charset="-122"/>
                <a:cs typeface="Segoe UI" pitchFamily="34" charset="-120"/>
              </a:rPr>
              <a:t>Key insight:  </a:t>
            </a:r>
            <a:r>
              <a:rPr lang="en-US" sz="1500" dirty="0">
                <a:solidFill>
                  <a:srgbClr val="F2F3F5"/>
                </a:solidFill>
                <a:latin typeface="Segoe UI" pitchFamily="34" charset="0"/>
                <a:ea typeface="Segoe UI" pitchFamily="34" charset="-122"/>
                <a:cs typeface="Segoe UI" pitchFamily="34" charset="-120"/>
              </a:rPr>
              <a:t>the answer usually already exists. Someone fixed this before. It just isn't where the technician is.</a:t>
            </a:r>
            <a:endParaRPr lang="en-US" sz="1500" dirty="0"/>
          </a:p>
        </p:txBody>
      </p:sp>
      <p:sp>
        <p:nvSpPr>
          <p:cNvPr id="37" name="Shape 3">
            <a:extLst>
              <a:ext uri="{FF2B5EF4-FFF2-40B4-BE49-F238E27FC236}">
                <a16:creationId xmlns:a16="http://schemas.microsoft.com/office/drawing/2014/main" id="{484C5E8D-E9CF-1C86-5B5F-F33F43D07BC2}"/>
              </a:ext>
            </a:extLst>
          </p:cNvPr>
          <p:cNvSpPr/>
          <p:nvPr/>
        </p:nvSpPr>
        <p:spPr>
          <a:xfrm>
            <a:off x="6205946" y="1965960"/>
            <a:ext cx="5303520" cy="3383280"/>
          </a:xfrm>
          <a:prstGeom prst="roundRect">
            <a:avLst>
              <a:gd name="adj" fmla="val 3243"/>
            </a:avLst>
          </a:prstGeom>
          <a:solidFill>
            <a:srgbClr val="161A20"/>
          </a:solidFill>
          <a:ln w="12700">
            <a:solidFill>
              <a:srgbClr val="262C35"/>
            </a:solidFill>
            <a:prstDash val="solid"/>
          </a:ln>
        </p:spPr>
        <p:txBody>
          <a:bodyPr/>
          <a:lstStyle/>
          <a:p>
            <a:endParaRPr lang="en-US" dirty="0"/>
          </a:p>
        </p:txBody>
      </p:sp>
      <p:sp>
        <p:nvSpPr>
          <p:cNvPr id="38" name="Shape 4">
            <a:extLst>
              <a:ext uri="{FF2B5EF4-FFF2-40B4-BE49-F238E27FC236}">
                <a16:creationId xmlns:a16="http://schemas.microsoft.com/office/drawing/2014/main" id="{4EA2A8C6-78D4-CF51-6575-E5131737E357}"/>
              </a:ext>
            </a:extLst>
          </p:cNvPr>
          <p:cNvSpPr/>
          <p:nvPr/>
        </p:nvSpPr>
        <p:spPr>
          <a:xfrm>
            <a:off x="6480266" y="2240280"/>
            <a:ext cx="512064" cy="512064"/>
          </a:xfrm>
          <a:prstGeom prst="roundRect">
            <a:avLst>
              <a:gd name="adj" fmla="val 17857"/>
            </a:avLst>
          </a:prstGeom>
          <a:solidFill>
            <a:srgbClr val="FFCD11">
              <a:alpha val="14000"/>
            </a:srgbClr>
          </a:solidFill>
          <a:ln w="9525">
            <a:solidFill>
              <a:srgbClr val="FFCD11">
                <a:alpha val="45000"/>
              </a:srgbClr>
            </a:solidFill>
            <a:prstDash val="solid"/>
          </a:ln>
        </p:spPr>
        <p:txBody>
          <a:bodyPr/>
          <a:lstStyle/>
          <a:p>
            <a:endParaRPr lang="en-US"/>
          </a:p>
        </p:txBody>
      </p:sp>
      <p:pic>
        <p:nvPicPr>
          <p:cNvPr id="39" name="Image 0" descr="preencoded.png">
            <a:extLst>
              <a:ext uri="{FF2B5EF4-FFF2-40B4-BE49-F238E27FC236}">
                <a16:creationId xmlns:a16="http://schemas.microsoft.com/office/drawing/2014/main" id="{9BA9DE49-310E-7047-0406-5A6C9183BF3F}"/>
              </a:ext>
            </a:extLst>
          </p:cNvPr>
          <p:cNvPicPr>
            <a:picLocks noChangeAspect="1"/>
          </p:cNvPicPr>
          <p:nvPr/>
        </p:nvPicPr>
        <p:blipFill>
          <a:blip r:embed="rId3"/>
          <a:stretch>
            <a:fillRect/>
          </a:stretch>
        </p:blipFill>
        <p:spPr>
          <a:xfrm>
            <a:off x="6592920" y="2352934"/>
            <a:ext cx="286756" cy="286756"/>
          </a:xfrm>
          <a:prstGeom prst="rect">
            <a:avLst/>
          </a:prstGeom>
        </p:spPr>
      </p:pic>
      <p:sp>
        <p:nvSpPr>
          <p:cNvPr id="40" name="Text 5">
            <a:extLst>
              <a:ext uri="{FF2B5EF4-FFF2-40B4-BE49-F238E27FC236}">
                <a16:creationId xmlns:a16="http://schemas.microsoft.com/office/drawing/2014/main" id="{D92CC121-B2D7-4278-ED7E-B68CC1F07211}"/>
              </a:ext>
            </a:extLst>
          </p:cNvPr>
          <p:cNvSpPr/>
          <p:nvPr/>
        </p:nvSpPr>
        <p:spPr>
          <a:xfrm>
            <a:off x="7166066" y="2286000"/>
            <a:ext cx="365760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INTERVIEW</a:t>
            </a:r>
            <a:endParaRPr lang="en-US" sz="1000" dirty="0"/>
          </a:p>
        </p:txBody>
      </p:sp>
      <p:sp>
        <p:nvSpPr>
          <p:cNvPr id="41" name="Text 6">
            <a:extLst>
              <a:ext uri="{FF2B5EF4-FFF2-40B4-BE49-F238E27FC236}">
                <a16:creationId xmlns:a16="http://schemas.microsoft.com/office/drawing/2014/main" id="{29D2AFC0-DA9B-972E-584A-157CD4434CFF}"/>
              </a:ext>
            </a:extLst>
          </p:cNvPr>
          <p:cNvSpPr/>
          <p:nvPr/>
        </p:nvSpPr>
        <p:spPr>
          <a:xfrm>
            <a:off x="7166066" y="2505456"/>
            <a:ext cx="4206240" cy="310896"/>
          </a:xfrm>
          <a:prstGeom prst="rect">
            <a:avLst/>
          </a:prstGeom>
          <a:noFill/>
          <a:ln/>
        </p:spPr>
        <p:txBody>
          <a:bodyPr wrap="square" lIns="0" tIns="0" rIns="0" bIns="0" rtlCol="0" anchor="t"/>
          <a:lstStyle/>
          <a:p>
            <a:pPr marL="0" indent="0" algn="l">
              <a:lnSpc>
                <a:spcPct val="110000"/>
              </a:lnSpc>
              <a:buNone/>
            </a:pPr>
            <a:r>
              <a:rPr lang="en-US" sz="1600" b="1" dirty="0">
                <a:solidFill>
                  <a:srgbClr val="F2F3F5"/>
                </a:solidFill>
                <a:latin typeface="Segoe UI" pitchFamily="34" charset="0"/>
                <a:ea typeface="Segoe UI" pitchFamily="34" charset="-122"/>
                <a:cs typeface="Segoe UI" pitchFamily="34" charset="-120"/>
              </a:rPr>
              <a:t>Gino, Lead Product Owner at Caterpillar</a:t>
            </a:r>
            <a:endParaRPr lang="en-US" sz="1600" dirty="0"/>
          </a:p>
        </p:txBody>
      </p:sp>
      <p:pic>
        <p:nvPicPr>
          <p:cNvPr id="42" name="Image 1" descr="preencoded.png">
            <a:extLst>
              <a:ext uri="{FF2B5EF4-FFF2-40B4-BE49-F238E27FC236}">
                <a16:creationId xmlns:a16="http://schemas.microsoft.com/office/drawing/2014/main" id="{0221D5A1-CA4A-D0F7-87F6-AACEE894CABA}"/>
              </a:ext>
            </a:extLst>
          </p:cNvPr>
          <p:cNvPicPr>
            <a:picLocks noChangeAspect="1"/>
          </p:cNvPicPr>
          <p:nvPr/>
        </p:nvPicPr>
        <p:blipFill>
          <a:blip r:embed="rId4"/>
          <a:stretch>
            <a:fillRect/>
          </a:stretch>
        </p:blipFill>
        <p:spPr>
          <a:xfrm>
            <a:off x="6480266" y="3136392"/>
            <a:ext cx="201168" cy="201168"/>
          </a:xfrm>
          <a:prstGeom prst="rect">
            <a:avLst/>
          </a:prstGeom>
        </p:spPr>
      </p:pic>
      <p:sp>
        <p:nvSpPr>
          <p:cNvPr id="43" name="Text 7">
            <a:extLst>
              <a:ext uri="{FF2B5EF4-FFF2-40B4-BE49-F238E27FC236}">
                <a16:creationId xmlns:a16="http://schemas.microsoft.com/office/drawing/2014/main" id="{94F2E99E-C356-03E8-2620-0450E8B78BFF}"/>
              </a:ext>
            </a:extLst>
          </p:cNvPr>
          <p:cNvSpPr/>
          <p:nvPr/>
        </p:nvSpPr>
        <p:spPr>
          <a:xfrm>
            <a:off x="6809450" y="3108960"/>
            <a:ext cx="4471416" cy="530352"/>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ea typeface="Segoe UI" pitchFamily="34" charset="-122"/>
                <a:cs typeface="Segoe UI" pitchFamily="34" charset="-120"/>
              </a:rPr>
              <a:t>Half of today’s representative were non-native English speakers</a:t>
            </a:r>
            <a:endParaRPr lang="en-US" sz="1400" dirty="0"/>
          </a:p>
        </p:txBody>
      </p:sp>
      <p:pic>
        <p:nvPicPr>
          <p:cNvPr id="44" name="Image 2" descr="preencoded.png">
            <a:extLst>
              <a:ext uri="{FF2B5EF4-FFF2-40B4-BE49-F238E27FC236}">
                <a16:creationId xmlns:a16="http://schemas.microsoft.com/office/drawing/2014/main" id="{157B302C-25A3-9951-C099-8827CBB9520E}"/>
              </a:ext>
            </a:extLst>
          </p:cNvPr>
          <p:cNvPicPr>
            <a:picLocks noChangeAspect="1"/>
          </p:cNvPicPr>
          <p:nvPr/>
        </p:nvPicPr>
        <p:blipFill>
          <a:blip r:embed="rId4"/>
          <a:stretch>
            <a:fillRect/>
          </a:stretch>
        </p:blipFill>
        <p:spPr>
          <a:xfrm>
            <a:off x="6480266" y="3884459"/>
            <a:ext cx="201168" cy="201168"/>
          </a:xfrm>
          <a:prstGeom prst="rect">
            <a:avLst/>
          </a:prstGeom>
        </p:spPr>
      </p:pic>
      <p:sp>
        <p:nvSpPr>
          <p:cNvPr id="45" name="Text 8">
            <a:extLst>
              <a:ext uri="{FF2B5EF4-FFF2-40B4-BE49-F238E27FC236}">
                <a16:creationId xmlns:a16="http://schemas.microsoft.com/office/drawing/2014/main" id="{4A4214F4-D819-3F18-0D89-E027FDC0ED2F}"/>
              </a:ext>
            </a:extLst>
          </p:cNvPr>
          <p:cNvSpPr/>
          <p:nvPr/>
        </p:nvSpPr>
        <p:spPr>
          <a:xfrm>
            <a:off x="6809450" y="3877056"/>
            <a:ext cx="4471416" cy="530352"/>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cs typeface="Segoe UI" pitchFamily="34" charset="-120"/>
              </a:rPr>
              <a:t>New ESL employees tend to feel small early on</a:t>
            </a:r>
            <a:endParaRPr lang="en-US" sz="1400" dirty="0"/>
          </a:p>
        </p:txBody>
      </p:sp>
      <p:pic>
        <p:nvPicPr>
          <p:cNvPr id="46" name="Image 3" descr="preencoded.png">
            <a:extLst>
              <a:ext uri="{FF2B5EF4-FFF2-40B4-BE49-F238E27FC236}">
                <a16:creationId xmlns:a16="http://schemas.microsoft.com/office/drawing/2014/main" id="{99CFF294-99A3-749C-8DD9-ACD67E4B77F5}"/>
              </a:ext>
            </a:extLst>
          </p:cNvPr>
          <p:cNvPicPr>
            <a:picLocks noChangeAspect="1"/>
          </p:cNvPicPr>
          <p:nvPr/>
        </p:nvPicPr>
        <p:blipFill>
          <a:blip r:embed="rId4"/>
          <a:stretch>
            <a:fillRect/>
          </a:stretch>
        </p:blipFill>
        <p:spPr>
          <a:xfrm>
            <a:off x="6480266" y="4512782"/>
            <a:ext cx="201168" cy="201168"/>
          </a:xfrm>
          <a:prstGeom prst="rect">
            <a:avLst/>
          </a:prstGeom>
        </p:spPr>
      </p:pic>
      <p:sp>
        <p:nvSpPr>
          <p:cNvPr id="47" name="Text 9">
            <a:extLst>
              <a:ext uri="{FF2B5EF4-FFF2-40B4-BE49-F238E27FC236}">
                <a16:creationId xmlns:a16="http://schemas.microsoft.com/office/drawing/2014/main" id="{7B4ED091-C655-8F85-6BEA-6561B6053368}"/>
              </a:ext>
            </a:extLst>
          </p:cNvPr>
          <p:cNvSpPr/>
          <p:nvPr/>
        </p:nvSpPr>
        <p:spPr>
          <a:xfrm>
            <a:off x="6809450" y="4494276"/>
            <a:ext cx="4471416" cy="530352"/>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ea typeface="Segoe UI" pitchFamily="34" charset="-122"/>
                <a:cs typeface="Segoe UI" pitchFamily="34" charset="-120"/>
              </a:rPr>
              <a:t>New hires are also prone to Impostor Syndrome</a:t>
            </a:r>
            <a:endParaRPr lang="en-US" sz="1400" dirty="0"/>
          </a:p>
        </p:txBody>
      </p:sp>
      <p:sp>
        <p:nvSpPr>
          <p:cNvPr id="49" name="Text 10">
            <a:extLst>
              <a:ext uri="{FF2B5EF4-FFF2-40B4-BE49-F238E27FC236}">
                <a16:creationId xmlns:a16="http://schemas.microsoft.com/office/drawing/2014/main" id="{4239FC4B-7FA1-08B7-2F9B-FFEB2037B729}"/>
              </a:ext>
            </a:extLst>
          </p:cNvPr>
          <p:cNvSpPr/>
          <p:nvPr/>
        </p:nvSpPr>
        <p:spPr>
          <a:xfrm>
            <a:off x="6809450" y="4700016"/>
            <a:ext cx="4471416" cy="530352"/>
          </a:xfrm>
          <a:prstGeom prst="rect">
            <a:avLst/>
          </a:prstGeom>
          <a:noFill/>
          <a:ln/>
        </p:spPr>
        <p:txBody>
          <a:bodyPr wrap="square" lIns="0" tIns="0" rIns="0" bIns="0" rtlCol="0" anchor="t"/>
          <a:lstStyle/>
          <a:p>
            <a:pPr marL="0" indent="0" algn="l">
              <a:lnSpc>
                <a:spcPct val="110000"/>
              </a:lnSpc>
              <a:buNone/>
            </a:pP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04   </a:t>
            </a:r>
            <a:r>
              <a:rPr lang="en-US" sz="1100" b="1" kern="0" spc="300" dirty="0">
                <a:solidFill>
                  <a:srgbClr val="9AA3B0"/>
                </a:solidFill>
                <a:latin typeface="Segoe UI" pitchFamily="34" charset="0"/>
                <a:ea typeface="Segoe UI" pitchFamily="34" charset="-122"/>
                <a:cs typeface="Segoe UI" pitchFamily="34" charset="-120"/>
              </a:rPr>
              <a:t>OUR SOLUTION</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ea typeface="Segoe UI" pitchFamily="34" charset="-122"/>
                <a:cs typeface="Segoe UI" pitchFamily="34" charset="-120"/>
              </a:rPr>
              <a:t>Introducing </a:t>
            </a:r>
            <a:r>
              <a:rPr lang="en-US" sz="3200" b="1" dirty="0" err="1">
                <a:solidFill>
                  <a:srgbClr val="F2F3F5"/>
                </a:solidFill>
                <a:latin typeface="Segoe UI" pitchFamily="34" charset="0"/>
                <a:ea typeface="Segoe UI" pitchFamily="34" charset="-122"/>
                <a:cs typeface="Segoe UI" pitchFamily="34" charset="-120"/>
              </a:rPr>
              <a:t>DéjàView</a:t>
            </a:r>
            <a:r>
              <a:rPr lang="en-US" sz="3200" b="1" dirty="0">
                <a:solidFill>
                  <a:srgbClr val="F2F3F5"/>
                </a:solidFill>
                <a:latin typeface="Segoe UI" pitchFamily="34" charset="0"/>
                <a:ea typeface="Segoe UI" pitchFamily="34" charset="-122"/>
                <a:cs typeface="Segoe UI" pitchFamily="34" charset="-120"/>
              </a:rPr>
              <a:t> Glasses, putting the machine's memory</a:t>
            </a:r>
            <a:r>
              <a:rPr lang="en-US" sz="3200" b="1" dirty="0">
                <a:solidFill>
                  <a:srgbClr val="FFCD11"/>
                </a:solidFill>
                <a:latin typeface="Segoe UI" pitchFamily="34" charset="0"/>
                <a:ea typeface="Segoe UI" pitchFamily="34" charset="-122"/>
                <a:cs typeface="Segoe UI" pitchFamily="34" charset="-120"/>
              </a:rPr>
              <a:t> right in front of the technician’s eyes</a:t>
            </a:r>
            <a:endParaRPr lang="en-US" sz="3200" dirty="0"/>
          </a:p>
        </p:txBody>
      </p:sp>
      <p:sp>
        <p:nvSpPr>
          <p:cNvPr id="5" name="Shape 3"/>
          <p:cNvSpPr/>
          <p:nvPr/>
        </p:nvSpPr>
        <p:spPr>
          <a:xfrm>
            <a:off x="685800" y="1965960"/>
            <a:ext cx="6309360" cy="3589020"/>
          </a:xfrm>
          <a:prstGeom prst="roundRect">
            <a:avLst>
              <a:gd name="adj" fmla="val 2038"/>
            </a:avLst>
          </a:prstGeom>
          <a:solidFill>
            <a:srgbClr val="161A20"/>
          </a:solidFill>
          <a:ln w="15875">
            <a:solidFill>
              <a:srgbClr val="FFCD11"/>
            </a:solidFill>
            <a:prstDash val="solid"/>
          </a:ln>
        </p:spPr>
        <p:txBody>
          <a:bodyPr/>
          <a:lstStyle/>
          <a:p>
            <a:endParaRPr lang="en-US"/>
          </a:p>
        </p:txBody>
      </p:sp>
      <p:pic>
        <p:nvPicPr>
          <p:cNvPr id="6" name="Image 0" descr="C:\Users\aarav\Projects\cat-track\scripts\deck-assets\glasses-ask.png"/>
          <p:cNvPicPr>
            <a:picLocks noChangeAspect="1"/>
          </p:cNvPicPr>
          <p:nvPr/>
        </p:nvPicPr>
        <p:blipFill>
          <a:blip r:embed="rId3"/>
          <a:stretch>
            <a:fillRect/>
          </a:stretch>
        </p:blipFill>
        <p:spPr>
          <a:xfrm>
            <a:off x="731520" y="2011680"/>
            <a:ext cx="6217920" cy="3497580"/>
          </a:xfrm>
          <a:prstGeom prst="rect">
            <a:avLst/>
          </a:prstGeom>
        </p:spPr>
      </p:pic>
      <p:sp>
        <p:nvSpPr>
          <p:cNvPr id="8" name="Shape 5"/>
          <p:cNvSpPr/>
          <p:nvPr/>
        </p:nvSpPr>
        <p:spPr>
          <a:xfrm>
            <a:off x="7315200" y="2011680"/>
            <a:ext cx="566928" cy="566928"/>
          </a:xfrm>
          <a:prstGeom prst="roundRect">
            <a:avLst>
              <a:gd name="adj" fmla="val 16129"/>
            </a:avLst>
          </a:prstGeom>
          <a:solidFill>
            <a:srgbClr val="FFCD11">
              <a:alpha val="14000"/>
            </a:srgbClr>
          </a:solidFill>
          <a:ln w="9525">
            <a:solidFill>
              <a:srgbClr val="FFCD11">
                <a:alpha val="45000"/>
              </a:srgbClr>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439924" y="2136404"/>
            <a:ext cx="317480" cy="317480"/>
          </a:xfrm>
          <a:prstGeom prst="rect">
            <a:avLst/>
          </a:prstGeom>
        </p:spPr>
      </p:pic>
      <p:sp>
        <p:nvSpPr>
          <p:cNvPr id="10" name="Text 6"/>
          <p:cNvSpPr/>
          <p:nvPr/>
        </p:nvSpPr>
        <p:spPr>
          <a:xfrm>
            <a:off x="8092440" y="1993392"/>
            <a:ext cx="3474720" cy="365760"/>
          </a:xfrm>
          <a:prstGeom prst="rect">
            <a:avLst/>
          </a:prstGeom>
          <a:noFill/>
          <a:ln/>
        </p:spPr>
        <p:txBody>
          <a:bodyPr wrap="square" lIns="0" tIns="0" rIns="0" bIns="0" rtlCol="0" anchor="t"/>
          <a:lstStyle/>
          <a:p>
            <a:pPr marL="0" indent="0" algn="l">
              <a:lnSpc>
                <a:spcPct val="110000"/>
              </a:lnSpc>
              <a:buNone/>
            </a:pPr>
            <a:r>
              <a:rPr lang="en-US" sz="2000" b="1" dirty="0">
                <a:solidFill>
                  <a:srgbClr val="F2F3F5"/>
                </a:solidFill>
                <a:latin typeface="Segoe UI" pitchFamily="34" charset="0"/>
                <a:ea typeface="Segoe UI" pitchFamily="34" charset="-122"/>
                <a:cs typeface="Segoe UI" pitchFamily="34" charset="-120"/>
              </a:rPr>
              <a:t>1. Look</a:t>
            </a:r>
            <a:endParaRPr lang="en-US" sz="2000" dirty="0"/>
          </a:p>
        </p:txBody>
      </p:sp>
      <p:sp>
        <p:nvSpPr>
          <p:cNvPr id="11" name="Text 7"/>
          <p:cNvSpPr/>
          <p:nvPr/>
        </p:nvSpPr>
        <p:spPr>
          <a:xfrm>
            <a:off x="8092440" y="2377440"/>
            <a:ext cx="3429000" cy="731520"/>
          </a:xfrm>
          <a:prstGeom prst="rect">
            <a:avLst/>
          </a:prstGeom>
          <a:noFill/>
          <a:ln/>
        </p:spPr>
        <p:txBody>
          <a:bodyPr wrap="square" lIns="0" tIns="0" rIns="0" bIns="0" rtlCol="0" anchor="t"/>
          <a:lstStyle/>
          <a:p>
            <a:pPr marL="0" indent="0" algn="l">
              <a:lnSpc>
                <a:spcPct val="110000"/>
              </a:lnSpc>
              <a:buNone/>
            </a:pPr>
            <a:r>
              <a:rPr lang="en-US" sz="1300" dirty="0">
                <a:solidFill>
                  <a:srgbClr val="9AA3B0"/>
                </a:solidFill>
                <a:latin typeface="Segoe UI" pitchFamily="34" charset="0"/>
                <a:ea typeface="Segoe UI" pitchFamily="34" charset="-122"/>
                <a:cs typeface="Segoe UI" pitchFamily="34" charset="-120"/>
              </a:rPr>
              <a:t>The glasses recognize the machine from its tag and camera.</a:t>
            </a:r>
            <a:endParaRPr lang="en-US" sz="1300" dirty="0"/>
          </a:p>
        </p:txBody>
      </p:sp>
      <p:sp>
        <p:nvSpPr>
          <p:cNvPr id="12" name="Shape 8"/>
          <p:cNvSpPr/>
          <p:nvPr/>
        </p:nvSpPr>
        <p:spPr>
          <a:xfrm>
            <a:off x="7315200" y="3218688"/>
            <a:ext cx="566928" cy="566928"/>
          </a:xfrm>
          <a:prstGeom prst="roundRect">
            <a:avLst>
              <a:gd name="adj" fmla="val 16129"/>
            </a:avLst>
          </a:prstGeom>
          <a:solidFill>
            <a:srgbClr val="FFCD11">
              <a:alpha val="14000"/>
            </a:srgbClr>
          </a:solidFill>
          <a:ln w="9525">
            <a:solidFill>
              <a:srgbClr val="FFCD11">
                <a:alpha val="45000"/>
              </a:srgbClr>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439924" y="3343412"/>
            <a:ext cx="317480" cy="317480"/>
          </a:xfrm>
          <a:prstGeom prst="rect">
            <a:avLst/>
          </a:prstGeom>
        </p:spPr>
      </p:pic>
      <p:sp>
        <p:nvSpPr>
          <p:cNvPr id="14" name="Text 9"/>
          <p:cNvSpPr/>
          <p:nvPr/>
        </p:nvSpPr>
        <p:spPr>
          <a:xfrm>
            <a:off x="8092440" y="3200400"/>
            <a:ext cx="3474720" cy="365760"/>
          </a:xfrm>
          <a:prstGeom prst="rect">
            <a:avLst/>
          </a:prstGeom>
          <a:noFill/>
          <a:ln/>
        </p:spPr>
        <p:txBody>
          <a:bodyPr wrap="square" lIns="0" tIns="0" rIns="0" bIns="0" rtlCol="0" anchor="t"/>
          <a:lstStyle/>
          <a:p>
            <a:pPr marL="0" indent="0" algn="l">
              <a:lnSpc>
                <a:spcPct val="110000"/>
              </a:lnSpc>
              <a:buNone/>
            </a:pPr>
            <a:r>
              <a:rPr lang="en-US" sz="2000" b="1" dirty="0">
                <a:solidFill>
                  <a:srgbClr val="F2F3F5"/>
                </a:solidFill>
                <a:latin typeface="Segoe UI" pitchFamily="34" charset="0"/>
                <a:ea typeface="Segoe UI" pitchFamily="34" charset="-122"/>
                <a:cs typeface="Segoe UI" pitchFamily="34" charset="-120"/>
              </a:rPr>
              <a:t>2. Ask</a:t>
            </a:r>
            <a:endParaRPr lang="en-US" sz="2000" dirty="0"/>
          </a:p>
        </p:txBody>
      </p:sp>
      <p:sp>
        <p:nvSpPr>
          <p:cNvPr id="15" name="Text 10"/>
          <p:cNvSpPr/>
          <p:nvPr/>
        </p:nvSpPr>
        <p:spPr>
          <a:xfrm>
            <a:off x="8092440" y="3584448"/>
            <a:ext cx="3429000" cy="731520"/>
          </a:xfrm>
          <a:prstGeom prst="rect">
            <a:avLst/>
          </a:prstGeom>
          <a:noFill/>
          <a:ln/>
        </p:spPr>
        <p:txBody>
          <a:bodyPr wrap="square" lIns="0" tIns="0" rIns="0" bIns="0" rtlCol="0" anchor="t"/>
          <a:lstStyle/>
          <a:p>
            <a:pPr marL="0" indent="0" algn="l">
              <a:lnSpc>
                <a:spcPct val="110000"/>
              </a:lnSpc>
              <a:buNone/>
            </a:pPr>
            <a:r>
              <a:rPr lang="en-US" sz="1300" dirty="0">
                <a:solidFill>
                  <a:srgbClr val="9AA3B0"/>
                </a:solidFill>
                <a:latin typeface="Segoe UI" pitchFamily="34" charset="0"/>
                <a:ea typeface="Segoe UI" pitchFamily="34" charset="-122"/>
                <a:cs typeface="Segoe UI" pitchFamily="34" charset="-120"/>
              </a:rPr>
              <a:t>Ask out loud, “have we seen this before?”, and hear the answer in your language.</a:t>
            </a:r>
            <a:endParaRPr lang="en-US" sz="1300" dirty="0"/>
          </a:p>
        </p:txBody>
      </p:sp>
      <p:sp>
        <p:nvSpPr>
          <p:cNvPr id="16" name="Shape 11"/>
          <p:cNvSpPr/>
          <p:nvPr/>
        </p:nvSpPr>
        <p:spPr>
          <a:xfrm>
            <a:off x="7315200" y="4425696"/>
            <a:ext cx="566928" cy="566928"/>
          </a:xfrm>
          <a:prstGeom prst="roundRect">
            <a:avLst>
              <a:gd name="adj" fmla="val 16129"/>
            </a:avLst>
          </a:prstGeom>
          <a:solidFill>
            <a:srgbClr val="FFCD11">
              <a:alpha val="14000"/>
            </a:srgbClr>
          </a:solidFill>
          <a:ln w="9525">
            <a:solidFill>
              <a:srgbClr val="FFCD11">
                <a:alpha val="45000"/>
              </a:srgbClr>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439924" y="4550420"/>
            <a:ext cx="317480" cy="317480"/>
          </a:xfrm>
          <a:prstGeom prst="rect">
            <a:avLst/>
          </a:prstGeom>
        </p:spPr>
      </p:pic>
      <p:sp>
        <p:nvSpPr>
          <p:cNvPr id="18" name="Text 12"/>
          <p:cNvSpPr/>
          <p:nvPr/>
        </p:nvSpPr>
        <p:spPr>
          <a:xfrm>
            <a:off x="8092440" y="4407408"/>
            <a:ext cx="3474720" cy="365760"/>
          </a:xfrm>
          <a:prstGeom prst="rect">
            <a:avLst/>
          </a:prstGeom>
          <a:noFill/>
          <a:ln/>
        </p:spPr>
        <p:txBody>
          <a:bodyPr wrap="square" lIns="0" tIns="0" rIns="0" bIns="0" rtlCol="0" anchor="t"/>
          <a:lstStyle/>
          <a:p>
            <a:pPr marL="0" indent="0" algn="l">
              <a:lnSpc>
                <a:spcPct val="110000"/>
              </a:lnSpc>
              <a:buNone/>
            </a:pPr>
            <a:r>
              <a:rPr lang="en-US" sz="2000" b="1" dirty="0">
                <a:solidFill>
                  <a:srgbClr val="F2F3F5"/>
                </a:solidFill>
                <a:latin typeface="Segoe UI" pitchFamily="34" charset="0"/>
                <a:ea typeface="Segoe UI" pitchFamily="34" charset="-122"/>
                <a:cs typeface="Segoe UI" pitchFamily="34" charset="-120"/>
              </a:rPr>
              <a:t>3. Fix and teach</a:t>
            </a:r>
            <a:endParaRPr lang="en-US" sz="2000" dirty="0"/>
          </a:p>
        </p:txBody>
      </p:sp>
      <p:sp>
        <p:nvSpPr>
          <p:cNvPr id="19" name="Text 13"/>
          <p:cNvSpPr/>
          <p:nvPr/>
        </p:nvSpPr>
        <p:spPr>
          <a:xfrm>
            <a:off x="8092440" y="4791456"/>
            <a:ext cx="3429000" cy="731520"/>
          </a:xfrm>
          <a:prstGeom prst="rect">
            <a:avLst/>
          </a:prstGeom>
          <a:noFill/>
          <a:ln/>
        </p:spPr>
        <p:txBody>
          <a:bodyPr wrap="square" lIns="0" tIns="0" rIns="0" bIns="0" rtlCol="0" anchor="t"/>
          <a:lstStyle/>
          <a:p>
            <a:pPr marL="0" indent="0" algn="l">
              <a:lnSpc>
                <a:spcPct val="110000"/>
              </a:lnSpc>
              <a:buNone/>
            </a:pPr>
            <a:r>
              <a:rPr lang="en-US" sz="1300" dirty="0">
                <a:solidFill>
                  <a:srgbClr val="9AA3B0"/>
                </a:solidFill>
                <a:latin typeface="Segoe UI" pitchFamily="34" charset="0"/>
                <a:ea typeface="Segoe UI" pitchFamily="34" charset="-122"/>
                <a:cs typeface="Segoe UI" pitchFamily="34" charset="-120"/>
              </a:rPr>
              <a:t>Follow safe, step-by-step guidance. Say what you fixed, and the machine and the whole fleet learn.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05   </a:t>
            </a:r>
            <a:r>
              <a:rPr lang="en-US" sz="1100" b="1" kern="0" spc="300" dirty="0">
                <a:solidFill>
                  <a:srgbClr val="9AA3B0"/>
                </a:solidFill>
                <a:latin typeface="Segoe UI" pitchFamily="34" charset="0"/>
                <a:ea typeface="Segoe UI" pitchFamily="34" charset="-122"/>
                <a:cs typeface="Segoe UI" pitchFamily="34" charset="-120"/>
              </a:rPr>
              <a:t>HOW IT WORKS</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ea typeface="Segoe UI" pitchFamily="34" charset="-122"/>
                <a:cs typeface="Segoe UI" pitchFamily="34" charset="-120"/>
              </a:rPr>
              <a:t>A memory layer that</a:t>
            </a:r>
            <a:r>
              <a:rPr lang="en-US" sz="3200" b="1" dirty="0">
                <a:solidFill>
                  <a:srgbClr val="FFCD11"/>
                </a:solidFill>
                <a:latin typeface="Segoe UI" pitchFamily="34" charset="0"/>
                <a:ea typeface="Segoe UI" pitchFamily="34" charset="-122"/>
                <a:cs typeface="Segoe UI" pitchFamily="34" charset="-120"/>
              </a:rPr>
              <a:t> learns from every repair.</a:t>
            </a:r>
            <a:endParaRPr lang="en-US" sz="3200" dirty="0"/>
          </a:p>
        </p:txBody>
      </p:sp>
      <p:sp>
        <p:nvSpPr>
          <p:cNvPr id="5" name="Text 3"/>
          <p:cNvSpPr/>
          <p:nvPr/>
        </p:nvSpPr>
        <p:spPr>
          <a:xfrm>
            <a:off x="685800" y="2011680"/>
            <a:ext cx="365760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FIVE KINDS OF MEMORY</a:t>
            </a:r>
            <a:endParaRPr lang="en-US" sz="1000" dirty="0"/>
          </a:p>
        </p:txBody>
      </p:sp>
      <p:sp>
        <p:nvSpPr>
          <p:cNvPr id="6" name="Shape 4"/>
          <p:cNvSpPr/>
          <p:nvPr/>
        </p:nvSpPr>
        <p:spPr>
          <a:xfrm>
            <a:off x="713232" y="2468880"/>
            <a:ext cx="164592" cy="164592"/>
          </a:xfrm>
          <a:prstGeom prst="ellipse">
            <a:avLst/>
          </a:prstGeom>
          <a:solidFill>
            <a:srgbClr val="FFCD11"/>
          </a:solidFill>
          <a:ln w="12700">
            <a:solidFill>
              <a:srgbClr val="FFCD11"/>
            </a:solidFill>
            <a:prstDash val="solid"/>
          </a:ln>
        </p:spPr>
        <p:txBody>
          <a:bodyPr/>
          <a:lstStyle/>
          <a:p>
            <a:endParaRPr lang="en-US"/>
          </a:p>
        </p:txBody>
      </p:sp>
      <p:sp>
        <p:nvSpPr>
          <p:cNvPr id="7" name="Text 5"/>
          <p:cNvSpPr/>
          <p:nvPr/>
        </p:nvSpPr>
        <p:spPr>
          <a:xfrm>
            <a:off x="1024128" y="2377440"/>
            <a:ext cx="1371600" cy="365760"/>
          </a:xfrm>
          <a:prstGeom prst="rect">
            <a:avLst/>
          </a:prstGeom>
          <a:noFill/>
          <a:ln/>
        </p:spPr>
        <p:txBody>
          <a:bodyPr wrap="square" lIns="0" tIns="0" rIns="0" bIns="0" rtlCol="0" anchor="t"/>
          <a:lstStyle/>
          <a:p>
            <a:pPr marL="0" indent="0" algn="l">
              <a:lnSpc>
                <a:spcPct val="110000"/>
              </a:lnSpc>
              <a:buNone/>
            </a:pPr>
            <a:r>
              <a:rPr lang="en-US" sz="1500" b="1" dirty="0">
                <a:solidFill>
                  <a:srgbClr val="F2F3F5"/>
                </a:solidFill>
                <a:latin typeface="Segoe UI" pitchFamily="34" charset="0"/>
                <a:ea typeface="Segoe UI" pitchFamily="34" charset="-122"/>
                <a:cs typeface="Segoe UI" pitchFamily="34" charset="-120"/>
              </a:rPr>
              <a:t>Machine</a:t>
            </a:r>
            <a:endParaRPr lang="en-US" sz="1500" dirty="0"/>
          </a:p>
        </p:txBody>
      </p:sp>
      <p:sp>
        <p:nvSpPr>
          <p:cNvPr id="8" name="Text 6"/>
          <p:cNvSpPr/>
          <p:nvPr/>
        </p:nvSpPr>
        <p:spPr>
          <a:xfrm>
            <a:off x="2377440" y="2395728"/>
            <a:ext cx="3108960" cy="365760"/>
          </a:xfrm>
          <a:prstGeom prst="rect">
            <a:avLst/>
          </a:prstGeom>
          <a:noFill/>
          <a:ln/>
        </p:spPr>
        <p:txBody>
          <a:bodyPr wrap="square" lIns="0" tIns="0" rIns="0" bIns="0" rtlCol="0" anchor="t"/>
          <a:lstStyle/>
          <a:p>
            <a:pPr marL="0" indent="0" algn="l">
              <a:lnSpc>
                <a:spcPct val="110000"/>
              </a:lnSpc>
              <a:buNone/>
            </a:pPr>
            <a:r>
              <a:rPr lang="en-US" sz="1250" dirty="0">
                <a:solidFill>
                  <a:srgbClr val="9AA3B0"/>
                </a:solidFill>
                <a:latin typeface="Segoe UI" pitchFamily="34" charset="0"/>
                <a:ea typeface="Segoe UI" pitchFamily="34" charset="-122"/>
                <a:cs typeface="Segoe UI" pitchFamily="34" charset="-120"/>
              </a:rPr>
              <a:t>Permanent facts: model, hours, parts replaced</a:t>
            </a:r>
            <a:endParaRPr lang="en-US" sz="1250" dirty="0"/>
          </a:p>
        </p:txBody>
      </p:sp>
      <p:sp>
        <p:nvSpPr>
          <p:cNvPr id="9" name="Shape 7"/>
          <p:cNvSpPr/>
          <p:nvPr/>
        </p:nvSpPr>
        <p:spPr>
          <a:xfrm>
            <a:off x="713232" y="3072384"/>
            <a:ext cx="164592" cy="164592"/>
          </a:xfrm>
          <a:prstGeom prst="ellipse">
            <a:avLst/>
          </a:prstGeom>
          <a:solidFill>
            <a:srgbClr val="60A5FA"/>
          </a:solidFill>
          <a:ln w="12700">
            <a:solidFill>
              <a:srgbClr val="60A5FA"/>
            </a:solidFill>
            <a:prstDash val="solid"/>
          </a:ln>
        </p:spPr>
        <p:txBody>
          <a:bodyPr/>
          <a:lstStyle/>
          <a:p>
            <a:endParaRPr lang="en-US"/>
          </a:p>
        </p:txBody>
      </p:sp>
      <p:sp>
        <p:nvSpPr>
          <p:cNvPr id="10" name="Text 8"/>
          <p:cNvSpPr/>
          <p:nvPr/>
        </p:nvSpPr>
        <p:spPr>
          <a:xfrm>
            <a:off x="1024128" y="2980944"/>
            <a:ext cx="1371600" cy="365760"/>
          </a:xfrm>
          <a:prstGeom prst="rect">
            <a:avLst/>
          </a:prstGeom>
          <a:noFill/>
          <a:ln/>
        </p:spPr>
        <p:txBody>
          <a:bodyPr wrap="square" lIns="0" tIns="0" rIns="0" bIns="0" rtlCol="0" anchor="t"/>
          <a:lstStyle/>
          <a:p>
            <a:pPr marL="0" indent="0" algn="l">
              <a:lnSpc>
                <a:spcPct val="110000"/>
              </a:lnSpc>
              <a:buNone/>
            </a:pPr>
            <a:r>
              <a:rPr lang="en-US" sz="1500" b="1" dirty="0">
                <a:solidFill>
                  <a:srgbClr val="F2F3F5"/>
                </a:solidFill>
                <a:latin typeface="Segoe UI" pitchFamily="34" charset="0"/>
                <a:ea typeface="Segoe UI" pitchFamily="34" charset="-122"/>
                <a:cs typeface="Segoe UI" pitchFamily="34" charset="-120"/>
              </a:rPr>
              <a:t>Episodic</a:t>
            </a:r>
            <a:endParaRPr lang="en-US" sz="1500" dirty="0"/>
          </a:p>
        </p:txBody>
      </p:sp>
      <p:sp>
        <p:nvSpPr>
          <p:cNvPr id="11" name="Text 9"/>
          <p:cNvSpPr/>
          <p:nvPr/>
        </p:nvSpPr>
        <p:spPr>
          <a:xfrm>
            <a:off x="2377440" y="2999232"/>
            <a:ext cx="3108960" cy="365760"/>
          </a:xfrm>
          <a:prstGeom prst="rect">
            <a:avLst/>
          </a:prstGeom>
          <a:noFill/>
          <a:ln/>
        </p:spPr>
        <p:txBody>
          <a:bodyPr wrap="square" lIns="0" tIns="0" rIns="0" bIns="0" rtlCol="0" anchor="t"/>
          <a:lstStyle/>
          <a:p>
            <a:pPr marL="0" indent="0" algn="l">
              <a:lnSpc>
                <a:spcPct val="110000"/>
              </a:lnSpc>
              <a:buNone/>
            </a:pPr>
            <a:r>
              <a:rPr lang="en-US" sz="1250" dirty="0">
                <a:solidFill>
                  <a:srgbClr val="9AA3B0"/>
                </a:solidFill>
                <a:latin typeface="Segoe UI" pitchFamily="34" charset="0"/>
                <a:ea typeface="Segoe UI" pitchFamily="34" charset="-122"/>
                <a:cs typeface="Segoe UI" pitchFamily="34" charset="-120"/>
              </a:rPr>
              <a:t>Every fault, repair and inspection, in order</a:t>
            </a:r>
            <a:endParaRPr lang="en-US" sz="1250" dirty="0"/>
          </a:p>
        </p:txBody>
      </p:sp>
      <p:sp>
        <p:nvSpPr>
          <p:cNvPr id="12" name="Shape 10"/>
          <p:cNvSpPr/>
          <p:nvPr/>
        </p:nvSpPr>
        <p:spPr>
          <a:xfrm>
            <a:off x="713232" y="3675888"/>
            <a:ext cx="164592" cy="164592"/>
          </a:xfrm>
          <a:prstGeom prst="ellipse">
            <a:avLst/>
          </a:prstGeom>
          <a:solidFill>
            <a:srgbClr val="C084FC"/>
          </a:solidFill>
          <a:ln w="12700">
            <a:solidFill>
              <a:srgbClr val="C084FC"/>
            </a:solidFill>
            <a:prstDash val="solid"/>
          </a:ln>
        </p:spPr>
        <p:txBody>
          <a:bodyPr/>
          <a:lstStyle/>
          <a:p>
            <a:endParaRPr lang="en-US"/>
          </a:p>
        </p:txBody>
      </p:sp>
      <p:sp>
        <p:nvSpPr>
          <p:cNvPr id="13" name="Text 11"/>
          <p:cNvSpPr/>
          <p:nvPr/>
        </p:nvSpPr>
        <p:spPr>
          <a:xfrm>
            <a:off x="1024128" y="3584448"/>
            <a:ext cx="1371600" cy="365760"/>
          </a:xfrm>
          <a:prstGeom prst="rect">
            <a:avLst/>
          </a:prstGeom>
          <a:noFill/>
          <a:ln/>
        </p:spPr>
        <p:txBody>
          <a:bodyPr wrap="square" lIns="0" tIns="0" rIns="0" bIns="0" rtlCol="0" anchor="t"/>
          <a:lstStyle/>
          <a:p>
            <a:pPr marL="0" indent="0" algn="l">
              <a:lnSpc>
                <a:spcPct val="110000"/>
              </a:lnSpc>
              <a:buNone/>
            </a:pPr>
            <a:r>
              <a:rPr lang="en-US" sz="1500" b="1" dirty="0">
                <a:solidFill>
                  <a:srgbClr val="F2F3F5"/>
                </a:solidFill>
                <a:latin typeface="Segoe UI" pitchFamily="34" charset="0"/>
                <a:ea typeface="Segoe UI" pitchFamily="34" charset="-122"/>
                <a:cs typeface="Segoe UI" pitchFamily="34" charset="-120"/>
              </a:rPr>
              <a:t>Human</a:t>
            </a:r>
            <a:endParaRPr lang="en-US" sz="1500" dirty="0"/>
          </a:p>
        </p:txBody>
      </p:sp>
      <p:sp>
        <p:nvSpPr>
          <p:cNvPr id="14" name="Text 12"/>
          <p:cNvSpPr/>
          <p:nvPr/>
        </p:nvSpPr>
        <p:spPr>
          <a:xfrm>
            <a:off x="2377440" y="3602736"/>
            <a:ext cx="3108960" cy="365760"/>
          </a:xfrm>
          <a:prstGeom prst="rect">
            <a:avLst/>
          </a:prstGeom>
          <a:noFill/>
          <a:ln/>
        </p:spPr>
        <p:txBody>
          <a:bodyPr wrap="square" lIns="0" tIns="0" rIns="0" bIns="0" rtlCol="0" anchor="t"/>
          <a:lstStyle/>
          <a:p>
            <a:pPr marL="0" indent="0" algn="l">
              <a:lnSpc>
                <a:spcPct val="110000"/>
              </a:lnSpc>
              <a:buNone/>
            </a:pPr>
            <a:r>
              <a:rPr lang="en-US" sz="1250" dirty="0">
                <a:solidFill>
                  <a:srgbClr val="9AA3B0"/>
                </a:solidFill>
                <a:latin typeface="Segoe UI" pitchFamily="34" charset="0"/>
                <a:ea typeface="Segoe UI" pitchFamily="34" charset="-122"/>
                <a:cs typeface="Segoe UI" pitchFamily="34" charset="-120"/>
              </a:rPr>
              <a:t>Each technician's experience and language</a:t>
            </a:r>
            <a:endParaRPr lang="en-US" sz="1250" dirty="0"/>
          </a:p>
        </p:txBody>
      </p:sp>
      <p:sp>
        <p:nvSpPr>
          <p:cNvPr id="15" name="Shape 13"/>
          <p:cNvSpPr/>
          <p:nvPr/>
        </p:nvSpPr>
        <p:spPr>
          <a:xfrm>
            <a:off x="713232" y="4279392"/>
            <a:ext cx="164592" cy="164592"/>
          </a:xfrm>
          <a:prstGeom prst="ellipse">
            <a:avLst/>
          </a:prstGeom>
          <a:solidFill>
            <a:srgbClr val="94A3B8"/>
          </a:solidFill>
          <a:ln w="12700">
            <a:solidFill>
              <a:srgbClr val="94A3B8"/>
            </a:solidFill>
            <a:prstDash val="solid"/>
          </a:ln>
        </p:spPr>
        <p:txBody>
          <a:bodyPr/>
          <a:lstStyle/>
          <a:p>
            <a:endParaRPr lang="en-US"/>
          </a:p>
        </p:txBody>
      </p:sp>
      <p:sp>
        <p:nvSpPr>
          <p:cNvPr id="16" name="Text 14"/>
          <p:cNvSpPr/>
          <p:nvPr/>
        </p:nvSpPr>
        <p:spPr>
          <a:xfrm>
            <a:off x="1024128" y="4187952"/>
            <a:ext cx="1371600" cy="365760"/>
          </a:xfrm>
          <a:prstGeom prst="rect">
            <a:avLst/>
          </a:prstGeom>
          <a:noFill/>
          <a:ln/>
        </p:spPr>
        <p:txBody>
          <a:bodyPr wrap="square" lIns="0" tIns="0" rIns="0" bIns="0" rtlCol="0" anchor="t"/>
          <a:lstStyle/>
          <a:p>
            <a:pPr marL="0" indent="0" algn="l">
              <a:lnSpc>
                <a:spcPct val="110000"/>
              </a:lnSpc>
              <a:buNone/>
            </a:pPr>
            <a:r>
              <a:rPr lang="en-US" sz="1500" b="1" dirty="0">
                <a:solidFill>
                  <a:srgbClr val="F2F3F5"/>
                </a:solidFill>
                <a:latin typeface="Segoe UI" pitchFamily="34" charset="0"/>
                <a:ea typeface="Segoe UI" pitchFamily="34" charset="-122"/>
                <a:cs typeface="Segoe UI" pitchFamily="34" charset="-120"/>
              </a:rPr>
              <a:t>Procedural</a:t>
            </a:r>
            <a:endParaRPr lang="en-US" sz="1500" dirty="0"/>
          </a:p>
        </p:txBody>
      </p:sp>
      <p:sp>
        <p:nvSpPr>
          <p:cNvPr id="17" name="Text 15"/>
          <p:cNvSpPr/>
          <p:nvPr/>
        </p:nvSpPr>
        <p:spPr>
          <a:xfrm>
            <a:off x="2377440" y="4206240"/>
            <a:ext cx="3108960" cy="365760"/>
          </a:xfrm>
          <a:prstGeom prst="rect">
            <a:avLst/>
          </a:prstGeom>
          <a:noFill/>
          <a:ln/>
        </p:spPr>
        <p:txBody>
          <a:bodyPr wrap="square" lIns="0" tIns="0" rIns="0" bIns="0" rtlCol="0" anchor="t"/>
          <a:lstStyle/>
          <a:p>
            <a:pPr marL="0" indent="0" algn="l">
              <a:lnSpc>
                <a:spcPct val="110000"/>
              </a:lnSpc>
              <a:buNone/>
            </a:pPr>
            <a:r>
              <a:rPr lang="en-US" sz="1250" dirty="0">
                <a:solidFill>
                  <a:srgbClr val="9AA3B0"/>
                </a:solidFill>
                <a:latin typeface="Segoe UI" pitchFamily="34" charset="0"/>
                <a:ea typeface="Segoe UI" pitchFamily="34" charset="-122"/>
                <a:cs typeface="Segoe UI" pitchFamily="34" charset="-120"/>
              </a:rPr>
              <a:t>Repair steps, with the safety step first</a:t>
            </a:r>
            <a:endParaRPr lang="en-US" sz="1250" dirty="0"/>
          </a:p>
        </p:txBody>
      </p:sp>
      <p:sp>
        <p:nvSpPr>
          <p:cNvPr id="18" name="Shape 16"/>
          <p:cNvSpPr/>
          <p:nvPr/>
        </p:nvSpPr>
        <p:spPr>
          <a:xfrm>
            <a:off x="713232" y="4882896"/>
            <a:ext cx="164592" cy="164592"/>
          </a:xfrm>
          <a:prstGeom prst="ellipse">
            <a:avLst/>
          </a:prstGeom>
          <a:solidFill>
            <a:srgbClr val="34D399"/>
          </a:solidFill>
          <a:ln w="12700">
            <a:solidFill>
              <a:srgbClr val="34D399"/>
            </a:solidFill>
            <a:prstDash val="solid"/>
          </a:ln>
        </p:spPr>
        <p:txBody>
          <a:bodyPr/>
          <a:lstStyle/>
          <a:p>
            <a:endParaRPr lang="en-US"/>
          </a:p>
        </p:txBody>
      </p:sp>
      <p:sp>
        <p:nvSpPr>
          <p:cNvPr id="19" name="Text 17"/>
          <p:cNvSpPr/>
          <p:nvPr/>
        </p:nvSpPr>
        <p:spPr>
          <a:xfrm>
            <a:off x="1024128" y="4791456"/>
            <a:ext cx="1371600" cy="365760"/>
          </a:xfrm>
          <a:prstGeom prst="rect">
            <a:avLst/>
          </a:prstGeom>
          <a:noFill/>
          <a:ln/>
        </p:spPr>
        <p:txBody>
          <a:bodyPr wrap="square" lIns="0" tIns="0" rIns="0" bIns="0" rtlCol="0" anchor="t"/>
          <a:lstStyle/>
          <a:p>
            <a:pPr marL="0" indent="0" algn="l">
              <a:lnSpc>
                <a:spcPct val="110000"/>
              </a:lnSpc>
              <a:buNone/>
            </a:pPr>
            <a:r>
              <a:rPr lang="en-US" sz="1500" b="1" dirty="0">
                <a:solidFill>
                  <a:srgbClr val="F2F3F5"/>
                </a:solidFill>
                <a:latin typeface="Segoe UI" pitchFamily="34" charset="0"/>
                <a:ea typeface="Segoe UI" pitchFamily="34" charset="-122"/>
                <a:cs typeface="Segoe UI" pitchFamily="34" charset="-120"/>
              </a:rPr>
              <a:t>Fleet</a:t>
            </a:r>
            <a:endParaRPr lang="en-US" sz="1500" dirty="0"/>
          </a:p>
        </p:txBody>
      </p:sp>
      <p:sp>
        <p:nvSpPr>
          <p:cNvPr id="20" name="Text 18"/>
          <p:cNvSpPr/>
          <p:nvPr/>
        </p:nvSpPr>
        <p:spPr>
          <a:xfrm>
            <a:off x="2377440" y="4809744"/>
            <a:ext cx="3108960" cy="365760"/>
          </a:xfrm>
          <a:prstGeom prst="rect">
            <a:avLst/>
          </a:prstGeom>
          <a:noFill/>
          <a:ln/>
        </p:spPr>
        <p:txBody>
          <a:bodyPr wrap="square" lIns="0" tIns="0" rIns="0" bIns="0" rtlCol="0" anchor="t"/>
          <a:lstStyle/>
          <a:p>
            <a:pPr marL="0" indent="0" algn="l">
              <a:lnSpc>
                <a:spcPct val="110000"/>
              </a:lnSpc>
              <a:buNone/>
            </a:pPr>
            <a:r>
              <a:rPr lang="en-US" sz="1250" dirty="0">
                <a:solidFill>
                  <a:srgbClr val="9AA3B0"/>
                </a:solidFill>
                <a:latin typeface="Segoe UI" pitchFamily="34" charset="0"/>
                <a:ea typeface="Segoe UI" pitchFamily="34" charset="-122"/>
                <a:cs typeface="Segoe UI" pitchFamily="34" charset="-120"/>
              </a:rPr>
              <a:t>Patterns across every machine of a model</a:t>
            </a:r>
            <a:endParaRPr lang="en-US" sz="1250" dirty="0"/>
          </a:p>
        </p:txBody>
      </p:sp>
      <p:sp>
        <p:nvSpPr>
          <p:cNvPr id="21" name="Shape 19"/>
          <p:cNvSpPr/>
          <p:nvPr/>
        </p:nvSpPr>
        <p:spPr>
          <a:xfrm>
            <a:off x="5897880" y="2011680"/>
            <a:ext cx="5623560" cy="3203258"/>
          </a:xfrm>
          <a:prstGeom prst="roundRect">
            <a:avLst>
              <a:gd name="adj" fmla="val 2284"/>
            </a:avLst>
          </a:prstGeom>
          <a:solidFill>
            <a:srgbClr val="161A20"/>
          </a:solidFill>
          <a:ln w="15875">
            <a:solidFill>
              <a:srgbClr val="FFCD11"/>
            </a:solidFill>
            <a:prstDash val="solid"/>
          </a:ln>
        </p:spPr>
        <p:txBody>
          <a:bodyPr/>
          <a:lstStyle/>
          <a:p>
            <a:endParaRPr lang="en-US"/>
          </a:p>
        </p:txBody>
      </p:sp>
      <p:pic>
        <p:nvPicPr>
          <p:cNvPr id="22" name="Image 0" descr="C:\Users\aarav\Projects\cat-track\scripts\deck-assets\dashboard.png"/>
          <p:cNvPicPr>
            <a:picLocks noChangeAspect="1"/>
          </p:cNvPicPr>
          <p:nvPr/>
        </p:nvPicPr>
        <p:blipFill>
          <a:blip r:embed="rId3"/>
          <a:stretch>
            <a:fillRect/>
          </a:stretch>
        </p:blipFill>
        <p:spPr>
          <a:xfrm>
            <a:off x="5943600" y="2057400"/>
            <a:ext cx="5532120" cy="3111817"/>
          </a:xfrm>
          <a:prstGeom prst="rect">
            <a:avLst/>
          </a:prstGeom>
        </p:spPr>
      </p:pic>
      <p:sp>
        <p:nvSpPr>
          <p:cNvPr id="23" name="Text 20"/>
          <p:cNvSpPr/>
          <p:nvPr/>
        </p:nvSpPr>
        <p:spPr>
          <a:xfrm>
            <a:off x="5943600" y="5260657"/>
            <a:ext cx="5532120" cy="274320"/>
          </a:xfrm>
          <a:prstGeom prst="rect">
            <a:avLst/>
          </a:prstGeom>
          <a:noFill/>
          <a:ln/>
        </p:spPr>
        <p:txBody>
          <a:bodyPr wrap="square" lIns="0" tIns="0" rIns="0" bIns="0" rtlCol="0" anchor="t"/>
          <a:lstStyle/>
          <a:p>
            <a:pPr marL="0" indent="0" algn="l">
              <a:lnSpc>
                <a:spcPct val="110000"/>
              </a:lnSpc>
              <a:buNone/>
            </a:pPr>
            <a:r>
              <a:rPr lang="en-US" sz="1050" i="1" dirty="0">
                <a:solidFill>
                  <a:srgbClr val="6B7480"/>
                </a:solidFill>
                <a:latin typeface="Segoe UI" pitchFamily="34" charset="0"/>
                <a:ea typeface="Segoe UI" pitchFamily="34" charset="-122"/>
                <a:cs typeface="Segoe UI" pitchFamily="34" charset="-120"/>
              </a:rPr>
              <a:t>Live dashboard: yellow rings mark root causes found, dashed red lines mark parts ruled out</a:t>
            </a:r>
            <a:endParaRPr lang="en-US" sz="1050" dirty="0"/>
          </a:p>
        </p:txBody>
      </p:sp>
      <p:sp>
        <p:nvSpPr>
          <p:cNvPr id="24" name="Shape 21"/>
          <p:cNvSpPr/>
          <p:nvPr/>
        </p:nvSpPr>
        <p:spPr>
          <a:xfrm>
            <a:off x="685800" y="5596128"/>
            <a:ext cx="10817352" cy="548640"/>
          </a:xfrm>
          <a:prstGeom prst="roundRect">
            <a:avLst>
              <a:gd name="adj" fmla="val 20000"/>
            </a:avLst>
          </a:prstGeom>
          <a:solidFill>
            <a:srgbClr val="0B0D10"/>
          </a:solidFill>
          <a:ln w="12700">
            <a:solidFill>
              <a:srgbClr val="FFCD11"/>
            </a:solidFill>
            <a:prstDash val="solid"/>
          </a:ln>
        </p:spPr>
        <p:txBody>
          <a:bodyPr/>
          <a:lstStyle/>
          <a:p>
            <a:endParaRPr lang="en-US"/>
          </a:p>
        </p:txBody>
      </p:sp>
      <p:pic>
        <p:nvPicPr>
          <p:cNvPr id="25" name="Image 1" descr="preencoded.png"/>
          <p:cNvPicPr>
            <a:picLocks noChangeAspect="1"/>
          </p:cNvPicPr>
          <p:nvPr/>
        </p:nvPicPr>
        <p:blipFill>
          <a:blip r:embed="rId4"/>
          <a:stretch>
            <a:fillRect/>
          </a:stretch>
        </p:blipFill>
        <p:spPr>
          <a:xfrm>
            <a:off x="914400" y="5733288"/>
            <a:ext cx="274320" cy="274320"/>
          </a:xfrm>
          <a:prstGeom prst="rect">
            <a:avLst/>
          </a:prstGeom>
        </p:spPr>
      </p:pic>
      <p:sp>
        <p:nvSpPr>
          <p:cNvPr id="26" name="Text 22"/>
          <p:cNvSpPr/>
          <p:nvPr/>
        </p:nvSpPr>
        <p:spPr>
          <a:xfrm>
            <a:off x="1325880" y="5596128"/>
            <a:ext cx="10058400" cy="548640"/>
          </a:xfrm>
          <a:prstGeom prst="rect">
            <a:avLst/>
          </a:prstGeom>
          <a:noFill/>
          <a:ln/>
        </p:spPr>
        <p:txBody>
          <a:bodyPr wrap="square" lIns="0" tIns="0" rIns="0" bIns="0" rtlCol="0" anchor="ctr"/>
          <a:lstStyle/>
          <a:p>
            <a:pPr marL="0" indent="0" algn="l">
              <a:lnSpc>
                <a:spcPct val="110000"/>
              </a:lnSpc>
              <a:buNone/>
            </a:pPr>
            <a:r>
              <a:rPr lang="en-US" sz="1400" b="1" dirty="0">
                <a:solidFill>
                  <a:srgbClr val="F2F3F5"/>
                </a:solidFill>
                <a:latin typeface="Segoe UI" pitchFamily="34" charset="0"/>
                <a:ea typeface="Segoe UI" pitchFamily="34" charset="-122"/>
                <a:cs typeface="Segoe UI" pitchFamily="34" charset="-120"/>
              </a:rPr>
              <a:t>Ask  →  answer from memory  →  fix  →  log it by voice  →  machine and fleet learn  →  better answer next time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06   </a:t>
            </a:r>
            <a:r>
              <a:rPr lang="en-US" sz="1100" b="1" kern="0" spc="300" dirty="0">
                <a:solidFill>
                  <a:srgbClr val="9AA3B0"/>
                </a:solidFill>
                <a:latin typeface="Segoe UI" pitchFamily="34" charset="0"/>
                <a:ea typeface="Segoe UI" pitchFamily="34" charset="-122"/>
                <a:cs typeface="Segoe UI" pitchFamily="34" charset="-120"/>
              </a:rPr>
              <a:t>SUCCESS CRITERIA</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ea typeface="Segoe UI" pitchFamily="34" charset="-122"/>
                <a:cs typeface="Segoe UI" pitchFamily="34" charset="-120"/>
              </a:rPr>
              <a:t>Metrics towards success</a:t>
            </a:r>
            <a:endParaRPr lang="en-US" sz="3200" dirty="0"/>
          </a:p>
        </p:txBody>
      </p:sp>
      <p:sp>
        <p:nvSpPr>
          <p:cNvPr id="5" name="Shape 3"/>
          <p:cNvSpPr/>
          <p:nvPr/>
        </p:nvSpPr>
        <p:spPr>
          <a:xfrm>
            <a:off x="685800" y="1965960"/>
            <a:ext cx="5120640" cy="3520440"/>
          </a:xfrm>
          <a:prstGeom prst="roundRect">
            <a:avLst>
              <a:gd name="adj" fmla="val 3117"/>
            </a:avLst>
          </a:prstGeom>
          <a:solidFill>
            <a:srgbClr val="FFCD11">
              <a:alpha val="12000"/>
            </a:srgbClr>
          </a:solidFill>
          <a:ln w="12700">
            <a:solidFill>
              <a:srgbClr val="FFCD11"/>
            </a:solidFill>
            <a:prstDash val="solid"/>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960120" y="2240280"/>
            <a:ext cx="329184" cy="329184"/>
          </a:xfrm>
          <a:prstGeom prst="rect">
            <a:avLst/>
          </a:prstGeom>
        </p:spPr>
      </p:pic>
      <p:sp>
        <p:nvSpPr>
          <p:cNvPr id="7" name="Text 4"/>
          <p:cNvSpPr/>
          <p:nvPr/>
        </p:nvSpPr>
        <p:spPr>
          <a:xfrm>
            <a:off x="1417320" y="2304288"/>
            <a:ext cx="365760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OUR NORTH STAR</a:t>
            </a:r>
            <a:endParaRPr lang="en-US" sz="1000" dirty="0"/>
          </a:p>
        </p:txBody>
      </p:sp>
      <p:sp>
        <p:nvSpPr>
          <p:cNvPr id="8" name="Text 5"/>
          <p:cNvSpPr/>
          <p:nvPr/>
        </p:nvSpPr>
        <p:spPr>
          <a:xfrm>
            <a:off x="960120" y="2743200"/>
            <a:ext cx="4572000" cy="548640"/>
          </a:xfrm>
          <a:prstGeom prst="rect">
            <a:avLst/>
          </a:prstGeom>
          <a:noFill/>
          <a:ln/>
        </p:spPr>
        <p:txBody>
          <a:bodyPr wrap="square" lIns="0" tIns="0" rIns="0" bIns="0" rtlCol="0" anchor="t"/>
          <a:lstStyle/>
          <a:p>
            <a:pPr marL="0" indent="0" algn="l">
              <a:lnSpc>
                <a:spcPct val="110000"/>
              </a:lnSpc>
              <a:buNone/>
            </a:pPr>
            <a:r>
              <a:rPr lang="en-US" sz="2800" b="1" dirty="0">
                <a:solidFill>
                  <a:srgbClr val="F2F3F5"/>
                </a:solidFill>
                <a:latin typeface="Segoe UI" pitchFamily="34" charset="0"/>
                <a:ea typeface="Segoe UI" pitchFamily="34" charset="-122"/>
                <a:cs typeface="Segoe UI" pitchFamily="34" charset="-120"/>
              </a:rPr>
              <a:t>Fixed right the first time</a:t>
            </a:r>
            <a:endParaRPr lang="en-US" sz="2800" dirty="0"/>
          </a:p>
        </p:txBody>
      </p:sp>
      <p:sp>
        <p:nvSpPr>
          <p:cNvPr id="9" name="Text 6"/>
          <p:cNvSpPr/>
          <p:nvPr/>
        </p:nvSpPr>
        <p:spPr>
          <a:xfrm>
            <a:off x="960120" y="3364992"/>
            <a:ext cx="4572000" cy="822960"/>
          </a:xfrm>
          <a:prstGeom prst="rect">
            <a:avLst/>
          </a:prstGeom>
          <a:noFill/>
          <a:ln/>
        </p:spPr>
        <p:txBody>
          <a:bodyPr wrap="square" lIns="0" tIns="0" rIns="0" bIns="0" rtlCol="0" anchor="t"/>
          <a:lstStyle/>
          <a:p>
            <a:pPr marL="0" indent="0" algn="l">
              <a:lnSpc>
                <a:spcPct val="110000"/>
              </a:lnSpc>
              <a:buNone/>
            </a:pPr>
            <a:r>
              <a:rPr lang="en-US" sz="1400" dirty="0">
                <a:solidFill>
                  <a:srgbClr val="C9CED6"/>
                </a:solidFill>
                <a:latin typeface="Segoe UI" pitchFamily="34" charset="0"/>
                <a:ea typeface="Segoe UI" pitchFamily="34" charset="-122"/>
                <a:cs typeface="Segoe UI" pitchFamily="34" charset="-120"/>
              </a:rPr>
              <a:t>A new technician diagnoses and repairs an unfamiliar fault correctly on the first visit, and the problem doesn't come back.</a:t>
            </a:r>
            <a:endParaRPr lang="en-US" sz="1400" dirty="0"/>
          </a:p>
        </p:txBody>
      </p:sp>
      <p:sp>
        <p:nvSpPr>
          <p:cNvPr id="12" name="Shape 9"/>
          <p:cNvSpPr/>
          <p:nvPr/>
        </p:nvSpPr>
        <p:spPr>
          <a:xfrm>
            <a:off x="6035040" y="1965960"/>
            <a:ext cx="5468112" cy="1691640"/>
          </a:xfrm>
          <a:prstGeom prst="roundRect">
            <a:avLst>
              <a:gd name="adj" fmla="val 6486"/>
            </a:avLst>
          </a:prstGeom>
          <a:solidFill>
            <a:srgbClr val="161A20"/>
          </a:solidFill>
          <a:ln w="12700">
            <a:solidFill>
              <a:srgbClr val="262C35"/>
            </a:solidFill>
            <a:prstDash val="solid"/>
          </a:ln>
        </p:spPr>
        <p:txBody>
          <a:bodyPr/>
          <a:lstStyle/>
          <a:p>
            <a:endParaRPr lang="en-US"/>
          </a:p>
        </p:txBody>
      </p:sp>
      <p:sp>
        <p:nvSpPr>
          <p:cNvPr id="13" name="Shape 10"/>
          <p:cNvSpPr/>
          <p:nvPr/>
        </p:nvSpPr>
        <p:spPr>
          <a:xfrm>
            <a:off x="6309360" y="2240280"/>
            <a:ext cx="512064" cy="512064"/>
          </a:xfrm>
          <a:prstGeom prst="roundRect">
            <a:avLst>
              <a:gd name="adj" fmla="val 17857"/>
            </a:avLst>
          </a:prstGeom>
          <a:solidFill>
            <a:srgbClr val="34D399">
              <a:alpha val="14000"/>
            </a:srgbClr>
          </a:solidFill>
          <a:ln w="9525">
            <a:solidFill>
              <a:srgbClr val="34D399">
                <a:alpha val="45000"/>
              </a:srgbClr>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6422014" y="2352934"/>
            <a:ext cx="286756" cy="286756"/>
          </a:xfrm>
          <a:prstGeom prst="rect">
            <a:avLst/>
          </a:prstGeom>
        </p:spPr>
      </p:pic>
      <p:sp>
        <p:nvSpPr>
          <p:cNvPr id="15" name="Text 11"/>
          <p:cNvSpPr/>
          <p:nvPr/>
        </p:nvSpPr>
        <p:spPr>
          <a:xfrm>
            <a:off x="7040880" y="2240280"/>
            <a:ext cx="420624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SAFETY</a:t>
            </a:r>
            <a:endParaRPr lang="en-US" sz="1000" dirty="0"/>
          </a:p>
        </p:txBody>
      </p:sp>
      <p:sp>
        <p:nvSpPr>
          <p:cNvPr id="16" name="Text 12"/>
          <p:cNvSpPr/>
          <p:nvPr/>
        </p:nvSpPr>
        <p:spPr>
          <a:xfrm>
            <a:off x="7040880" y="2496312"/>
            <a:ext cx="4297680" cy="365760"/>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Every repair starts safe</a:t>
            </a:r>
            <a:endParaRPr lang="en-US" sz="1700" dirty="0"/>
          </a:p>
        </p:txBody>
      </p:sp>
      <p:sp>
        <p:nvSpPr>
          <p:cNvPr id="17" name="Text 13"/>
          <p:cNvSpPr/>
          <p:nvPr/>
        </p:nvSpPr>
        <p:spPr>
          <a:xfrm>
            <a:off x="7040880" y="2898648"/>
            <a:ext cx="4297680" cy="640080"/>
          </a:xfrm>
          <a:prstGeom prst="rect">
            <a:avLst/>
          </a:prstGeom>
          <a:noFill/>
          <a:ln/>
        </p:spPr>
        <p:txBody>
          <a:bodyPr wrap="square" lIns="0" tIns="0" rIns="0" bIns="0" rtlCol="0" anchor="t"/>
          <a:lstStyle/>
          <a:p>
            <a:pPr marL="0" indent="0" algn="l">
              <a:lnSpc>
                <a:spcPct val="110000"/>
              </a:lnSpc>
              <a:buNone/>
            </a:pPr>
            <a:r>
              <a:rPr lang="en-US" sz="1250" dirty="0">
                <a:solidFill>
                  <a:srgbClr val="C9CED6"/>
                </a:solidFill>
                <a:latin typeface="Segoe UI" pitchFamily="34" charset="0"/>
                <a:ea typeface="Segoe UI" pitchFamily="34" charset="-122"/>
                <a:cs typeface="Segoe UI" pitchFamily="34" charset="-120"/>
              </a:rPr>
              <a:t>The safety step comes first on every job, explained in the technician's own language.</a:t>
            </a:r>
            <a:endParaRPr lang="en-US" sz="1250" dirty="0"/>
          </a:p>
        </p:txBody>
      </p:sp>
      <p:sp>
        <p:nvSpPr>
          <p:cNvPr id="18" name="Shape 14"/>
          <p:cNvSpPr/>
          <p:nvPr/>
        </p:nvSpPr>
        <p:spPr>
          <a:xfrm>
            <a:off x="6035040" y="3776472"/>
            <a:ext cx="5468112" cy="1691640"/>
          </a:xfrm>
          <a:prstGeom prst="roundRect">
            <a:avLst>
              <a:gd name="adj" fmla="val 6486"/>
            </a:avLst>
          </a:prstGeom>
          <a:solidFill>
            <a:srgbClr val="161A20"/>
          </a:solidFill>
          <a:ln w="12700">
            <a:solidFill>
              <a:srgbClr val="262C35"/>
            </a:solidFill>
            <a:prstDash val="solid"/>
          </a:ln>
        </p:spPr>
        <p:txBody>
          <a:bodyPr/>
          <a:lstStyle/>
          <a:p>
            <a:endParaRPr lang="en-US"/>
          </a:p>
        </p:txBody>
      </p:sp>
      <p:sp>
        <p:nvSpPr>
          <p:cNvPr id="19" name="Shape 15"/>
          <p:cNvSpPr/>
          <p:nvPr/>
        </p:nvSpPr>
        <p:spPr>
          <a:xfrm>
            <a:off x="6309360" y="4050792"/>
            <a:ext cx="512064" cy="512064"/>
          </a:xfrm>
          <a:prstGeom prst="roundRect">
            <a:avLst>
              <a:gd name="adj" fmla="val 17857"/>
            </a:avLst>
          </a:prstGeom>
          <a:solidFill>
            <a:srgbClr val="34D399">
              <a:alpha val="14000"/>
            </a:srgbClr>
          </a:solidFill>
          <a:ln w="9525">
            <a:solidFill>
              <a:srgbClr val="34D399">
                <a:alpha val="45000"/>
              </a:srgbClr>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422014" y="4163446"/>
            <a:ext cx="286756" cy="286756"/>
          </a:xfrm>
          <a:prstGeom prst="rect">
            <a:avLst/>
          </a:prstGeom>
        </p:spPr>
      </p:pic>
      <p:sp>
        <p:nvSpPr>
          <p:cNvPr id="21" name="Text 16"/>
          <p:cNvSpPr/>
          <p:nvPr/>
        </p:nvSpPr>
        <p:spPr>
          <a:xfrm>
            <a:off x="7040880" y="4050792"/>
            <a:ext cx="4206240" cy="228600"/>
          </a:xfrm>
          <a:prstGeom prst="rect">
            <a:avLst/>
          </a:prstGeom>
          <a:noFill/>
          <a:ln/>
        </p:spPr>
        <p:txBody>
          <a:bodyPr wrap="square" lIns="0" tIns="0" rIns="0" bIns="0" rtlCol="0" anchor="t"/>
          <a:lstStyle/>
          <a:p>
            <a:pPr>
              <a:lnSpc>
                <a:spcPct val="110000"/>
              </a:lnSpc>
            </a:pPr>
            <a:r>
              <a:rPr lang="en-US" sz="1000" b="1" kern="0" spc="200" dirty="0">
                <a:solidFill>
                  <a:srgbClr val="FFCD11"/>
                </a:solidFill>
                <a:latin typeface="Segoe UI" pitchFamily="34" charset="0"/>
                <a:ea typeface="Segoe UI" pitchFamily="34" charset="-122"/>
                <a:cs typeface="Segoe UI" pitchFamily="34" charset="-120"/>
              </a:rPr>
              <a:t>EFFICIENCY</a:t>
            </a:r>
            <a:endParaRPr lang="en-US" sz="1000" dirty="0"/>
          </a:p>
        </p:txBody>
      </p:sp>
      <p:sp>
        <p:nvSpPr>
          <p:cNvPr id="22" name="Text 17"/>
          <p:cNvSpPr/>
          <p:nvPr/>
        </p:nvSpPr>
        <p:spPr>
          <a:xfrm>
            <a:off x="7040880" y="4306824"/>
            <a:ext cx="4297680" cy="365760"/>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New techs work on their own sooner</a:t>
            </a:r>
            <a:endParaRPr lang="en-US" sz="1700" dirty="0"/>
          </a:p>
        </p:txBody>
      </p:sp>
      <p:sp>
        <p:nvSpPr>
          <p:cNvPr id="23" name="Text 18"/>
          <p:cNvSpPr/>
          <p:nvPr/>
        </p:nvSpPr>
        <p:spPr>
          <a:xfrm>
            <a:off x="7040880" y="4709160"/>
            <a:ext cx="4297680" cy="640080"/>
          </a:xfrm>
          <a:prstGeom prst="rect">
            <a:avLst/>
          </a:prstGeom>
          <a:noFill/>
          <a:ln/>
        </p:spPr>
        <p:txBody>
          <a:bodyPr wrap="square" lIns="0" tIns="0" rIns="0" bIns="0" rtlCol="0" anchor="t"/>
          <a:lstStyle/>
          <a:p>
            <a:pPr marL="0" indent="0" algn="l">
              <a:lnSpc>
                <a:spcPct val="110000"/>
              </a:lnSpc>
              <a:buNone/>
            </a:pPr>
            <a:r>
              <a:rPr lang="en-US" sz="1250" dirty="0">
                <a:solidFill>
                  <a:srgbClr val="C9CED6"/>
                </a:solidFill>
                <a:latin typeface="Segoe UI" pitchFamily="34" charset="0"/>
                <a:cs typeface="Segoe UI" pitchFamily="34" charset="-120"/>
              </a:rPr>
              <a:t>Glasses streamline processes when</a:t>
            </a:r>
            <a:endParaRPr lang="en-US" sz="1250" dirty="0"/>
          </a:p>
        </p:txBody>
      </p:sp>
      <p:sp>
        <p:nvSpPr>
          <p:cNvPr id="24" name="Text 19"/>
          <p:cNvSpPr/>
          <p:nvPr/>
        </p:nvSpPr>
        <p:spPr>
          <a:xfrm>
            <a:off x="685800" y="5669280"/>
            <a:ext cx="10789920" cy="365760"/>
          </a:xfrm>
          <a:prstGeom prst="rect">
            <a:avLst/>
          </a:prstGeom>
          <a:noFill/>
          <a:ln/>
        </p:spPr>
        <p:txBody>
          <a:bodyPr wrap="square" lIns="0" tIns="0" rIns="0" bIns="0" rtlCol="0" anchor="ctr"/>
          <a:lstStyle/>
          <a:p>
            <a:pPr marL="0" indent="0">
              <a:buNone/>
            </a:pPr>
            <a:r>
              <a:rPr lang="en-US" sz="1000" b="1" kern="0" spc="200" dirty="0">
                <a:solidFill>
                  <a:srgbClr val="FFCD11"/>
                </a:solidFill>
                <a:latin typeface="Segoe UI" pitchFamily="34" charset="0"/>
                <a:ea typeface="Segoe UI" pitchFamily="34" charset="-122"/>
                <a:cs typeface="Segoe UI" pitchFamily="34" charset="-120"/>
              </a:rPr>
              <a:t>HOW WE'LL MEASURE IT   </a:t>
            </a:r>
            <a:r>
              <a:rPr lang="en-US" sz="1250" dirty="0">
                <a:solidFill>
                  <a:srgbClr val="C9CED6"/>
                </a:solidFill>
                <a:latin typeface="Segoe UI" pitchFamily="34" charset="0"/>
                <a:ea typeface="Segoe UI" pitchFamily="34" charset="-122"/>
                <a:cs typeface="Segoe UI" pitchFamily="34" charset="-120"/>
              </a:rPr>
              <a:t>In a pilot, comparing new technicians who use DéjàView with those who don't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07   </a:t>
            </a:r>
            <a:r>
              <a:rPr lang="en-US" sz="1100" b="1" kern="0" spc="300" dirty="0">
                <a:solidFill>
                  <a:srgbClr val="9AA3B0"/>
                </a:solidFill>
                <a:latin typeface="Segoe UI" pitchFamily="34" charset="0"/>
                <a:ea typeface="Segoe UI" pitchFamily="34" charset="-122"/>
                <a:cs typeface="Segoe UI" pitchFamily="34" charset="-120"/>
              </a:rPr>
              <a:t>IMPLEMENTATION ROADMAP</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ea typeface="Segoe UI" pitchFamily="34" charset="-122"/>
                <a:cs typeface="Segoe UI" pitchFamily="34" charset="-120"/>
              </a:rPr>
              <a:t>Product timeline</a:t>
            </a:r>
            <a:endParaRPr lang="en-US" sz="3200" dirty="0"/>
          </a:p>
        </p:txBody>
      </p:sp>
      <p:sp>
        <p:nvSpPr>
          <p:cNvPr id="5" name="Shape 3"/>
          <p:cNvSpPr/>
          <p:nvPr/>
        </p:nvSpPr>
        <p:spPr>
          <a:xfrm>
            <a:off x="868680" y="2148840"/>
            <a:ext cx="10424160" cy="0"/>
          </a:xfrm>
          <a:prstGeom prst="line">
            <a:avLst/>
          </a:prstGeom>
          <a:noFill/>
          <a:ln w="25400">
            <a:solidFill>
              <a:srgbClr val="FFCD11">
                <a:alpha val="60000"/>
              </a:srgbClr>
            </a:solidFill>
            <a:prstDash val="solid"/>
          </a:ln>
        </p:spPr>
        <p:txBody>
          <a:bodyPr/>
          <a:lstStyle/>
          <a:p>
            <a:endParaRPr lang="en-US"/>
          </a:p>
        </p:txBody>
      </p:sp>
      <p:sp>
        <p:nvSpPr>
          <p:cNvPr id="6" name="Shape 4"/>
          <p:cNvSpPr/>
          <p:nvPr/>
        </p:nvSpPr>
        <p:spPr>
          <a:xfrm>
            <a:off x="731520" y="1984248"/>
            <a:ext cx="329184" cy="329184"/>
          </a:xfrm>
          <a:prstGeom prst="ellipse">
            <a:avLst/>
          </a:prstGeom>
          <a:solidFill>
            <a:srgbClr val="FFCD11"/>
          </a:solidFill>
          <a:ln w="25400">
            <a:solidFill>
              <a:srgbClr val="FFCD11"/>
            </a:solidFill>
            <a:prstDash val="solid"/>
          </a:ln>
        </p:spPr>
        <p:txBody>
          <a:bodyPr/>
          <a:lstStyle/>
          <a:p>
            <a:endParaRPr lang="en-US"/>
          </a:p>
        </p:txBody>
      </p:sp>
      <p:sp>
        <p:nvSpPr>
          <p:cNvPr id="7" name="Shape 5"/>
          <p:cNvSpPr/>
          <p:nvPr/>
        </p:nvSpPr>
        <p:spPr>
          <a:xfrm>
            <a:off x="685800" y="2514600"/>
            <a:ext cx="2578608" cy="3200400"/>
          </a:xfrm>
          <a:prstGeom prst="roundRect">
            <a:avLst>
              <a:gd name="adj" fmla="val 4255"/>
            </a:avLst>
          </a:prstGeom>
          <a:solidFill>
            <a:srgbClr val="161A20"/>
          </a:solidFill>
          <a:ln w="12700">
            <a:solidFill>
              <a:srgbClr val="FFCD11"/>
            </a:solidFill>
            <a:prstDash val="solid"/>
          </a:ln>
        </p:spPr>
        <p:txBody>
          <a:bodyPr/>
          <a:lstStyle/>
          <a:p>
            <a:endParaRPr lang="en-US"/>
          </a:p>
        </p:txBody>
      </p:sp>
      <p:sp>
        <p:nvSpPr>
          <p:cNvPr id="8" name="Text 6"/>
          <p:cNvSpPr/>
          <p:nvPr/>
        </p:nvSpPr>
        <p:spPr>
          <a:xfrm>
            <a:off x="914400" y="2724912"/>
            <a:ext cx="219456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TODAY</a:t>
            </a:r>
            <a:endParaRPr lang="en-US" sz="1000" dirty="0"/>
          </a:p>
        </p:txBody>
      </p:sp>
      <p:sp>
        <p:nvSpPr>
          <p:cNvPr id="9" name="Text 7"/>
          <p:cNvSpPr/>
          <p:nvPr/>
        </p:nvSpPr>
        <p:spPr>
          <a:xfrm>
            <a:off x="914400" y="2971800"/>
            <a:ext cx="2194560" cy="365760"/>
          </a:xfrm>
          <a:prstGeom prst="rect">
            <a:avLst/>
          </a:prstGeom>
          <a:noFill/>
          <a:ln/>
        </p:spPr>
        <p:txBody>
          <a:bodyPr wrap="square" lIns="0" tIns="0" rIns="0" bIns="0" rtlCol="0" anchor="t"/>
          <a:lstStyle/>
          <a:p>
            <a:pPr marL="0" indent="0" algn="l">
              <a:lnSpc>
                <a:spcPct val="110000"/>
              </a:lnSpc>
              <a:buNone/>
            </a:pPr>
            <a:r>
              <a:rPr lang="en-US" sz="1800" b="1" dirty="0">
                <a:solidFill>
                  <a:srgbClr val="F2F3F5"/>
                </a:solidFill>
                <a:latin typeface="Segoe UI" pitchFamily="34" charset="0"/>
                <a:ea typeface="Segoe UI" pitchFamily="34" charset="-122"/>
                <a:cs typeface="Segoe UI" pitchFamily="34" charset="-120"/>
              </a:rPr>
              <a:t>Working prototype</a:t>
            </a:r>
            <a:endParaRPr lang="en-US" sz="1800" dirty="0"/>
          </a:p>
        </p:txBody>
      </p:sp>
      <p:sp>
        <p:nvSpPr>
          <p:cNvPr id="10" name="Text 8"/>
          <p:cNvSpPr/>
          <p:nvPr/>
        </p:nvSpPr>
        <p:spPr>
          <a:xfrm>
            <a:off x="914400"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Voice glasses view and live dashboard</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Machine memory with a learning loop</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English and Spanish</a:t>
            </a:r>
            <a:endParaRPr lang="en-US" sz="1300" dirty="0"/>
          </a:p>
        </p:txBody>
      </p:sp>
      <p:sp>
        <p:nvSpPr>
          <p:cNvPr id="11" name="Shape 9"/>
          <p:cNvSpPr/>
          <p:nvPr/>
        </p:nvSpPr>
        <p:spPr>
          <a:xfrm>
            <a:off x="3465576" y="1984248"/>
            <a:ext cx="329184" cy="329184"/>
          </a:xfrm>
          <a:prstGeom prst="ellipse">
            <a:avLst/>
          </a:prstGeom>
          <a:solidFill>
            <a:srgbClr val="0B0D10"/>
          </a:solidFill>
          <a:ln w="25400">
            <a:solidFill>
              <a:srgbClr val="FFCD11"/>
            </a:solidFill>
            <a:prstDash val="solid"/>
          </a:ln>
        </p:spPr>
        <p:txBody>
          <a:bodyPr/>
          <a:lstStyle/>
          <a:p>
            <a:endParaRPr lang="en-US"/>
          </a:p>
        </p:txBody>
      </p:sp>
      <p:sp>
        <p:nvSpPr>
          <p:cNvPr id="12" name="Shape 10"/>
          <p:cNvSpPr/>
          <p:nvPr/>
        </p:nvSpPr>
        <p:spPr>
          <a:xfrm>
            <a:off x="3419856" y="2514600"/>
            <a:ext cx="2578608" cy="3200400"/>
          </a:xfrm>
          <a:prstGeom prst="roundRect">
            <a:avLst>
              <a:gd name="adj" fmla="val 4255"/>
            </a:avLst>
          </a:prstGeom>
          <a:solidFill>
            <a:srgbClr val="161A20"/>
          </a:solidFill>
          <a:ln w="12700">
            <a:solidFill>
              <a:srgbClr val="262C35"/>
            </a:solidFill>
            <a:prstDash val="solid"/>
          </a:ln>
        </p:spPr>
        <p:txBody>
          <a:bodyPr/>
          <a:lstStyle/>
          <a:p>
            <a:endParaRPr lang="en-US"/>
          </a:p>
        </p:txBody>
      </p:sp>
      <p:sp>
        <p:nvSpPr>
          <p:cNvPr id="13" name="Text 11"/>
          <p:cNvSpPr/>
          <p:nvPr/>
        </p:nvSpPr>
        <p:spPr>
          <a:xfrm>
            <a:off x="3648456" y="2724912"/>
            <a:ext cx="219456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0-3 MONTHS</a:t>
            </a:r>
            <a:endParaRPr lang="en-US" sz="1000" dirty="0"/>
          </a:p>
        </p:txBody>
      </p:sp>
      <p:sp>
        <p:nvSpPr>
          <p:cNvPr id="14" name="Text 12"/>
          <p:cNvSpPr/>
          <p:nvPr/>
        </p:nvSpPr>
        <p:spPr>
          <a:xfrm>
            <a:off x="3648456" y="2971800"/>
            <a:ext cx="2194560" cy="365760"/>
          </a:xfrm>
          <a:prstGeom prst="rect">
            <a:avLst/>
          </a:prstGeom>
          <a:noFill/>
          <a:ln/>
        </p:spPr>
        <p:txBody>
          <a:bodyPr wrap="square" lIns="0" tIns="0" rIns="0" bIns="0" rtlCol="0" anchor="t"/>
          <a:lstStyle/>
          <a:p>
            <a:pPr marL="0" indent="0" algn="l">
              <a:lnSpc>
                <a:spcPct val="110000"/>
              </a:lnSpc>
              <a:buNone/>
            </a:pPr>
            <a:r>
              <a:rPr lang="en-US" sz="1800" b="1" dirty="0">
                <a:solidFill>
                  <a:srgbClr val="F2F3F5"/>
                </a:solidFill>
                <a:latin typeface="Segoe UI" pitchFamily="34" charset="0"/>
                <a:ea typeface="Segoe UI" pitchFamily="34" charset="-122"/>
                <a:cs typeface="Segoe UI" pitchFamily="34" charset="-120"/>
              </a:rPr>
              <a:t>Pilot</a:t>
            </a:r>
            <a:endParaRPr lang="en-US" sz="1800" dirty="0"/>
          </a:p>
        </p:txBody>
      </p:sp>
      <p:sp>
        <p:nvSpPr>
          <p:cNvPr id="15" name="Text 13"/>
          <p:cNvSpPr/>
          <p:nvPr/>
        </p:nvSpPr>
        <p:spPr>
          <a:xfrm>
            <a:off x="3648456"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One Cat dealer shop, 10-20 new technicians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Connect real service records and manuals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Run on Meta AI glasses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Measure First-Time Fix Rate</a:t>
            </a:r>
            <a:endParaRPr lang="en-US" sz="1300" dirty="0"/>
          </a:p>
        </p:txBody>
      </p:sp>
      <p:sp>
        <p:nvSpPr>
          <p:cNvPr id="16" name="Shape 14"/>
          <p:cNvSpPr/>
          <p:nvPr/>
        </p:nvSpPr>
        <p:spPr>
          <a:xfrm>
            <a:off x="6199632" y="1984248"/>
            <a:ext cx="329184" cy="329184"/>
          </a:xfrm>
          <a:prstGeom prst="ellipse">
            <a:avLst/>
          </a:prstGeom>
          <a:solidFill>
            <a:srgbClr val="0B0D10"/>
          </a:solidFill>
          <a:ln w="25400">
            <a:solidFill>
              <a:srgbClr val="FFCD11"/>
            </a:solidFill>
            <a:prstDash val="solid"/>
          </a:ln>
        </p:spPr>
        <p:txBody>
          <a:bodyPr/>
          <a:lstStyle/>
          <a:p>
            <a:endParaRPr lang="en-US"/>
          </a:p>
        </p:txBody>
      </p:sp>
      <p:sp>
        <p:nvSpPr>
          <p:cNvPr id="17" name="Shape 15"/>
          <p:cNvSpPr/>
          <p:nvPr/>
        </p:nvSpPr>
        <p:spPr>
          <a:xfrm>
            <a:off x="6153912" y="2514600"/>
            <a:ext cx="2578608" cy="3200400"/>
          </a:xfrm>
          <a:prstGeom prst="roundRect">
            <a:avLst>
              <a:gd name="adj" fmla="val 4255"/>
            </a:avLst>
          </a:prstGeom>
          <a:solidFill>
            <a:srgbClr val="161A20"/>
          </a:solidFill>
          <a:ln w="12700">
            <a:solidFill>
              <a:srgbClr val="262C35"/>
            </a:solidFill>
            <a:prstDash val="solid"/>
          </a:ln>
        </p:spPr>
        <p:txBody>
          <a:bodyPr/>
          <a:lstStyle/>
          <a:p>
            <a:endParaRPr lang="en-US"/>
          </a:p>
        </p:txBody>
      </p:sp>
      <p:sp>
        <p:nvSpPr>
          <p:cNvPr id="18" name="Text 16"/>
          <p:cNvSpPr/>
          <p:nvPr/>
        </p:nvSpPr>
        <p:spPr>
          <a:xfrm>
            <a:off x="6382512" y="2724912"/>
            <a:ext cx="219456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3-12 MONTHS</a:t>
            </a:r>
            <a:endParaRPr lang="en-US" sz="1000" dirty="0"/>
          </a:p>
        </p:txBody>
      </p:sp>
      <p:sp>
        <p:nvSpPr>
          <p:cNvPr id="19" name="Text 17"/>
          <p:cNvSpPr/>
          <p:nvPr/>
        </p:nvSpPr>
        <p:spPr>
          <a:xfrm>
            <a:off x="6382512" y="2971800"/>
            <a:ext cx="2194560" cy="365760"/>
          </a:xfrm>
          <a:prstGeom prst="rect">
            <a:avLst/>
          </a:prstGeom>
          <a:noFill/>
          <a:ln/>
        </p:spPr>
        <p:txBody>
          <a:bodyPr wrap="square" lIns="0" tIns="0" rIns="0" bIns="0" rtlCol="0" anchor="t"/>
          <a:lstStyle/>
          <a:p>
            <a:pPr marL="0" indent="0" algn="l">
              <a:lnSpc>
                <a:spcPct val="110000"/>
              </a:lnSpc>
              <a:buNone/>
            </a:pPr>
            <a:r>
              <a:rPr lang="en-US" sz="1800" b="1" dirty="0">
                <a:solidFill>
                  <a:srgbClr val="F2F3F5"/>
                </a:solidFill>
                <a:latin typeface="Segoe UI" pitchFamily="34" charset="0"/>
                <a:ea typeface="Segoe UI" pitchFamily="34" charset="-122"/>
                <a:cs typeface="Segoe UI" pitchFamily="34" charset="-120"/>
              </a:rPr>
              <a:t>Scale</a:t>
            </a:r>
            <a:endParaRPr lang="en-US" sz="1800" dirty="0"/>
          </a:p>
        </p:txBody>
      </p:sp>
      <p:sp>
        <p:nvSpPr>
          <p:cNvPr id="20" name="Text 18"/>
          <p:cNvSpPr/>
          <p:nvPr/>
        </p:nvSpPr>
        <p:spPr>
          <a:xfrm>
            <a:off x="6382512"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Search all 1,000,000+ Cat parts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Live telematics and fault codes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More languages</a:t>
            </a:r>
            <a:endParaRPr lang="en-US" sz="1300" dirty="0"/>
          </a:p>
        </p:txBody>
      </p:sp>
      <p:sp>
        <p:nvSpPr>
          <p:cNvPr id="21" name="Shape 19"/>
          <p:cNvSpPr/>
          <p:nvPr/>
        </p:nvSpPr>
        <p:spPr>
          <a:xfrm>
            <a:off x="8933688" y="1984248"/>
            <a:ext cx="329184" cy="329184"/>
          </a:xfrm>
          <a:prstGeom prst="ellipse">
            <a:avLst/>
          </a:prstGeom>
          <a:solidFill>
            <a:srgbClr val="0B0D10"/>
          </a:solidFill>
          <a:ln w="25400">
            <a:solidFill>
              <a:srgbClr val="FFCD11"/>
            </a:solidFill>
            <a:prstDash val="solid"/>
          </a:ln>
        </p:spPr>
        <p:txBody>
          <a:bodyPr/>
          <a:lstStyle/>
          <a:p>
            <a:endParaRPr lang="en-US"/>
          </a:p>
        </p:txBody>
      </p:sp>
      <p:sp>
        <p:nvSpPr>
          <p:cNvPr id="22" name="Shape 20"/>
          <p:cNvSpPr/>
          <p:nvPr/>
        </p:nvSpPr>
        <p:spPr>
          <a:xfrm>
            <a:off x="8887968" y="2514600"/>
            <a:ext cx="2578608" cy="3200400"/>
          </a:xfrm>
          <a:prstGeom prst="roundRect">
            <a:avLst>
              <a:gd name="adj" fmla="val 4255"/>
            </a:avLst>
          </a:prstGeom>
          <a:solidFill>
            <a:srgbClr val="161A20"/>
          </a:solidFill>
          <a:ln w="12700">
            <a:solidFill>
              <a:srgbClr val="262C35"/>
            </a:solidFill>
            <a:prstDash val="solid"/>
          </a:ln>
        </p:spPr>
        <p:txBody>
          <a:bodyPr/>
          <a:lstStyle/>
          <a:p>
            <a:endParaRPr lang="en-US"/>
          </a:p>
        </p:txBody>
      </p:sp>
      <p:sp>
        <p:nvSpPr>
          <p:cNvPr id="23" name="Text 21"/>
          <p:cNvSpPr/>
          <p:nvPr/>
        </p:nvSpPr>
        <p:spPr>
          <a:xfrm>
            <a:off x="9116568" y="2724912"/>
            <a:ext cx="2194560" cy="228600"/>
          </a:xfrm>
          <a:prstGeom prst="rect">
            <a:avLst/>
          </a:prstGeom>
          <a:noFill/>
          <a:ln/>
        </p:spPr>
        <p:txBody>
          <a:bodyPr wrap="square" lIns="0" tIns="0" rIns="0" bIns="0" rtlCol="0" anchor="t"/>
          <a:lstStyle/>
          <a:p>
            <a:pPr marL="0" indent="0" algn="l">
              <a:lnSpc>
                <a:spcPct val="110000"/>
              </a:lnSpc>
              <a:buNone/>
            </a:pPr>
            <a:r>
              <a:rPr lang="en-US" sz="1000" b="1" kern="0" spc="200" dirty="0">
                <a:solidFill>
                  <a:srgbClr val="FFCD11"/>
                </a:solidFill>
                <a:latin typeface="Segoe UI" pitchFamily="34" charset="0"/>
                <a:ea typeface="Segoe UI" pitchFamily="34" charset="-122"/>
                <a:cs typeface="Segoe UI" pitchFamily="34" charset="-120"/>
              </a:rPr>
              <a:t>12+ MONTHS</a:t>
            </a:r>
            <a:endParaRPr lang="en-US" sz="1000" dirty="0"/>
          </a:p>
        </p:txBody>
      </p:sp>
      <p:sp>
        <p:nvSpPr>
          <p:cNvPr id="24" name="Text 22"/>
          <p:cNvSpPr/>
          <p:nvPr/>
        </p:nvSpPr>
        <p:spPr>
          <a:xfrm>
            <a:off x="9116568" y="2971800"/>
            <a:ext cx="2194560" cy="365760"/>
          </a:xfrm>
          <a:prstGeom prst="rect">
            <a:avLst/>
          </a:prstGeom>
          <a:noFill/>
          <a:ln/>
        </p:spPr>
        <p:txBody>
          <a:bodyPr wrap="square" lIns="0" tIns="0" rIns="0" bIns="0" rtlCol="0" anchor="t"/>
          <a:lstStyle/>
          <a:p>
            <a:pPr marL="0" indent="0" algn="l">
              <a:lnSpc>
                <a:spcPct val="110000"/>
              </a:lnSpc>
              <a:buNone/>
            </a:pPr>
            <a:r>
              <a:rPr lang="en-US" sz="1800" b="1" dirty="0">
                <a:solidFill>
                  <a:srgbClr val="F2F3F5"/>
                </a:solidFill>
                <a:latin typeface="Segoe UI" pitchFamily="34" charset="0"/>
                <a:ea typeface="Segoe UI" pitchFamily="34" charset="-122"/>
                <a:cs typeface="Segoe UI" pitchFamily="34" charset="-120"/>
              </a:rPr>
              <a:t>Fleet-wide</a:t>
            </a:r>
            <a:endParaRPr lang="en-US" sz="1800" dirty="0"/>
          </a:p>
        </p:txBody>
      </p:sp>
      <p:sp>
        <p:nvSpPr>
          <p:cNvPr id="25" name="Text 23"/>
          <p:cNvSpPr/>
          <p:nvPr/>
        </p:nvSpPr>
        <p:spPr>
          <a:xfrm>
            <a:off x="9116568"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Every Cat machine has a memory</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Operators and fleet managers too</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AR highlights on the exact part</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Personal coaching agents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txBody>
          <a:bodyPr/>
          <a:lstStyle/>
          <a:p>
            <a:endParaRPr lang="en-US"/>
          </a:p>
        </p:txBody>
      </p:sp>
      <p:sp>
        <p:nvSpPr>
          <p:cNvPr id="3" name="Text 1"/>
          <p:cNvSpPr/>
          <p:nvPr/>
        </p:nvSpPr>
        <p:spPr>
          <a:xfrm>
            <a:off x="1115568" y="512064"/>
            <a:ext cx="7315200" cy="292608"/>
          </a:xfrm>
          <a:prstGeom prst="rect">
            <a:avLst/>
          </a:prstGeom>
          <a:noFill/>
          <a:ln/>
        </p:spPr>
        <p:txBody>
          <a:bodyPr wrap="square" lIns="0" tIns="0" rIns="0" bIns="0" rtlCol="0" anchor="ctr"/>
          <a:lstStyle/>
          <a:p>
            <a:pPr marL="0" indent="0">
              <a:buNone/>
            </a:pPr>
            <a:r>
              <a:rPr lang="en-US" sz="1100" b="1" kern="0" spc="300" dirty="0">
                <a:solidFill>
                  <a:srgbClr val="FFCD11"/>
                </a:solidFill>
                <a:latin typeface="Segoe UI" pitchFamily="34" charset="0"/>
                <a:ea typeface="Segoe UI" pitchFamily="34" charset="-122"/>
                <a:cs typeface="Segoe UI" pitchFamily="34" charset="-120"/>
              </a:rPr>
              <a:t>08   </a:t>
            </a:r>
            <a:r>
              <a:rPr lang="en-US" sz="1100" b="1" kern="0" spc="300" dirty="0">
                <a:solidFill>
                  <a:srgbClr val="9AA3B0"/>
                </a:solidFill>
                <a:latin typeface="Segoe UI" pitchFamily="34" charset="0"/>
                <a:ea typeface="Segoe UI" pitchFamily="34" charset="-122"/>
                <a:cs typeface="Segoe UI" pitchFamily="34" charset="-120"/>
              </a:rPr>
              <a:t>CONCLUSION</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marL="0" indent="0">
              <a:lnSpc>
                <a:spcPct val="95000"/>
              </a:lnSpc>
              <a:buNone/>
            </a:pPr>
            <a:r>
              <a:rPr lang="en-US" sz="3200" b="1" dirty="0">
                <a:solidFill>
                  <a:srgbClr val="F2F3F5"/>
                </a:solidFill>
                <a:latin typeface="Segoe UI" pitchFamily="34" charset="0"/>
                <a:cs typeface="Segoe UI" pitchFamily="34" charset="-120"/>
              </a:rPr>
              <a:t>Taking the product further</a:t>
            </a:r>
            <a:endParaRPr lang="en-US" sz="3200" dirty="0"/>
          </a:p>
        </p:txBody>
      </p:sp>
      <p:sp>
        <p:nvSpPr>
          <p:cNvPr id="5" name="Shape 3"/>
          <p:cNvSpPr/>
          <p:nvPr/>
        </p:nvSpPr>
        <p:spPr>
          <a:xfrm>
            <a:off x="685800" y="1783080"/>
            <a:ext cx="3474720" cy="1783080"/>
          </a:xfrm>
          <a:prstGeom prst="roundRect">
            <a:avLst>
              <a:gd name="adj" fmla="val 6154"/>
            </a:avLst>
          </a:prstGeom>
          <a:solidFill>
            <a:srgbClr val="161A20"/>
          </a:solidFill>
          <a:ln w="12700">
            <a:solidFill>
              <a:srgbClr val="262C35"/>
            </a:solidFill>
            <a:prstDash val="solid"/>
          </a:ln>
        </p:spPr>
        <p:txBody>
          <a:bodyPr/>
          <a:lstStyle/>
          <a:p>
            <a:endParaRPr lang="en-US"/>
          </a:p>
        </p:txBody>
      </p:sp>
      <p:sp>
        <p:nvSpPr>
          <p:cNvPr id="6" name="Shape 4"/>
          <p:cNvSpPr/>
          <p:nvPr/>
        </p:nvSpPr>
        <p:spPr>
          <a:xfrm>
            <a:off x="960120" y="2029968"/>
            <a:ext cx="512064" cy="512064"/>
          </a:xfrm>
          <a:prstGeom prst="roundRect">
            <a:avLst>
              <a:gd name="adj" fmla="val 17857"/>
            </a:avLst>
          </a:prstGeom>
          <a:solidFill>
            <a:srgbClr val="FFCD11">
              <a:alpha val="14000"/>
            </a:srgbClr>
          </a:solidFill>
          <a:ln w="9525">
            <a:solidFill>
              <a:srgbClr val="FFCD11">
                <a:alpha val="45000"/>
              </a:srgbClr>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72774" y="2142622"/>
            <a:ext cx="286756" cy="286756"/>
          </a:xfrm>
          <a:prstGeom prst="rect">
            <a:avLst/>
          </a:prstGeom>
        </p:spPr>
      </p:pic>
      <p:sp>
        <p:nvSpPr>
          <p:cNvPr id="8" name="Text 5"/>
          <p:cNvSpPr/>
          <p:nvPr/>
        </p:nvSpPr>
        <p:spPr>
          <a:xfrm>
            <a:off x="960120" y="2651760"/>
            <a:ext cx="3017520" cy="329184"/>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More languages</a:t>
            </a:r>
            <a:endParaRPr lang="en-US" sz="1700" dirty="0"/>
          </a:p>
        </p:txBody>
      </p:sp>
      <p:sp>
        <p:nvSpPr>
          <p:cNvPr id="9" name="Text 6"/>
          <p:cNvSpPr/>
          <p:nvPr/>
        </p:nvSpPr>
        <p:spPr>
          <a:xfrm>
            <a:off x="960120" y="2999232"/>
            <a:ext cx="2971800" cy="502920"/>
          </a:xfrm>
          <a:prstGeom prst="rect">
            <a:avLst/>
          </a:prstGeom>
          <a:noFill/>
          <a:ln/>
        </p:spPr>
        <p:txBody>
          <a:bodyPr wrap="square" lIns="0" tIns="0" rIns="0" bIns="0" rtlCol="0" anchor="t"/>
          <a:lstStyle/>
          <a:p>
            <a:pPr marL="0" indent="0" algn="l">
              <a:lnSpc>
                <a:spcPct val="110000"/>
              </a:lnSpc>
              <a:buNone/>
            </a:pPr>
            <a:r>
              <a:rPr lang="en-US" sz="1200" dirty="0">
                <a:solidFill>
                  <a:srgbClr val="9AA3B0"/>
                </a:solidFill>
                <a:latin typeface="Segoe UI" pitchFamily="34" charset="0"/>
                <a:ea typeface="Segoe UI" pitchFamily="34" charset="-122"/>
                <a:cs typeface="Segoe UI" pitchFamily="34" charset="-120"/>
              </a:rPr>
              <a:t>Beyond English and Spanish, so every crew member is covered</a:t>
            </a:r>
            <a:endParaRPr lang="en-US" sz="1200" dirty="0"/>
          </a:p>
        </p:txBody>
      </p:sp>
      <p:sp>
        <p:nvSpPr>
          <p:cNvPr id="10" name="Shape 7"/>
          <p:cNvSpPr/>
          <p:nvPr/>
        </p:nvSpPr>
        <p:spPr>
          <a:xfrm>
            <a:off x="4357116" y="1783080"/>
            <a:ext cx="3474720" cy="1783080"/>
          </a:xfrm>
          <a:prstGeom prst="roundRect">
            <a:avLst>
              <a:gd name="adj" fmla="val 6154"/>
            </a:avLst>
          </a:prstGeom>
          <a:solidFill>
            <a:srgbClr val="161A20"/>
          </a:solidFill>
          <a:ln w="12700">
            <a:solidFill>
              <a:srgbClr val="262C35"/>
            </a:solidFill>
            <a:prstDash val="solid"/>
          </a:ln>
        </p:spPr>
        <p:txBody>
          <a:bodyPr/>
          <a:lstStyle/>
          <a:p>
            <a:endParaRPr lang="en-US"/>
          </a:p>
        </p:txBody>
      </p:sp>
      <p:sp>
        <p:nvSpPr>
          <p:cNvPr id="11" name="Shape 8"/>
          <p:cNvSpPr/>
          <p:nvPr/>
        </p:nvSpPr>
        <p:spPr>
          <a:xfrm>
            <a:off x="4631436" y="2029968"/>
            <a:ext cx="512064" cy="512064"/>
          </a:xfrm>
          <a:prstGeom prst="roundRect">
            <a:avLst>
              <a:gd name="adj" fmla="val 17857"/>
            </a:avLst>
          </a:prstGeom>
          <a:solidFill>
            <a:srgbClr val="FFCD11">
              <a:alpha val="14000"/>
            </a:srgbClr>
          </a:solidFill>
          <a:ln w="9525">
            <a:solidFill>
              <a:srgbClr val="FFCD11">
                <a:alpha val="45000"/>
              </a:srgbClr>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744090" y="2142622"/>
            <a:ext cx="286756" cy="286756"/>
          </a:xfrm>
          <a:prstGeom prst="rect">
            <a:avLst/>
          </a:prstGeom>
        </p:spPr>
      </p:pic>
      <p:sp>
        <p:nvSpPr>
          <p:cNvPr id="13" name="Text 9"/>
          <p:cNvSpPr/>
          <p:nvPr/>
        </p:nvSpPr>
        <p:spPr>
          <a:xfrm>
            <a:off x="4631436" y="2651760"/>
            <a:ext cx="3017520" cy="329184"/>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Smarter personalization</a:t>
            </a:r>
            <a:endParaRPr lang="en-US" sz="1700" dirty="0"/>
          </a:p>
        </p:txBody>
      </p:sp>
      <p:sp>
        <p:nvSpPr>
          <p:cNvPr id="14" name="Text 10"/>
          <p:cNvSpPr/>
          <p:nvPr/>
        </p:nvSpPr>
        <p:spPr>
          <a:xfrm>
            <a:off x="4631436" y="2999232"/>
            <a:ext cx="2971800" cy="502920"/>
          </a:xfrm>
          <a:prstGeom prst="rect">
            <a:avLst/>
          </a:prstGeom>
          <a:noFill/>
          <a:ln/>
        </p:spPr>
        <p:txBody>
          <a:bodyPr wrap="square" lIns="0" tIns="0" rIns="0" bIns="0" rtlCol="0" anchor="t"/>
          <a:lstStyle/>
          <a:p>
            <a:pPr marL="0" indent="0" algn="l">
              <a:lnSpc>
                <a:spcPct val="110000"/>
              </a:lnSpc>
              <a:buNone/>
            </a:pPr>
            <a:r>
              <a:rPr lang="en-US" sz="1200" dirty="0">
                <a:solidFill>
                  <a:srgbClr val="9AA3B0"/>
                </a:solidFill>
                <a:latin typeface="Segoe UI" pitchFamily="34" charset="0"/>
                <a:ea typeface="Segoe UI" pitchFamily="34" charset="-122"/>
                <a:cs typeface="Segoe UI" pitchFamily="34" charset="-120"/>
              </a:rPr>
              <a:t>Agents adapt their tone, depth and coaching to each technician</a:t>
            </a:r>
            <a:endParaRPr lang="en-US" sz="1200" dirty="0"/>
          </a:p>
        </p:txBody>
      </p:sp>
      <p:sp>
        <p:nvSpPr>
          <p:cNvPr id="15" name="Shape 11"/>
          <p:cNvSpPr/>
          <p:nvPr/>
        </p:nvSpPr>
        <p:spPr>
          <a:xfrm>
            <a:off x="8028432" y="1783080"/>
            <a:ext cx="3474720" cy="1783080"/>
          </a:xfrm>
          <a:prstGeom prst="roundRect">
            <a:avLst>
              <a:gd name="adj" fmla="val 6154"/>
            </a:avLst>
          </a:prstGeom>
          <a:solidFill>
            <a:srgbClr val="161A20"/>
          </a:solidFill>
          <a:ln w="12700">
            <a:solidFill>
              <a:srgbClr val="262C35"/>
            </a:solidFill>
            <a:prstDash val="solid"/>
          </a:ln>
        </p:spPr>
        <p:txBody>
          <a:bodyPr/>
          <a:lstStyle/>
          <a:p>
            <a:endParaRPr lang="en-US"/>
          </a:p>
        </p:txBody>
      </p:sp>
      <p:sp>
        <p:nvSpPr>
          <p:cNvPr id="16" name="Shape 12"/>
          <p:cNvSpPr/>
          <p:nvPr/>
        </p:nvSpPr>
        <p:spPr>
          <a:xfrm>
            <a:off x="8302752" y="2029968"/>
            <a:ext cx="512064" cy="512064"/>
          </a:xfrm>
          <a:prstGeom prst="roundRect">
            <a:avLst>
              <a:gd name="adj" fmla="val 17857"/>
            </a:avLst>
          </a:prstGeom>
          <a:solidFill>
            <a:srgbClr val="FFCD11">
              <a:alpha val="14000"/>
            </a:srgbClr>
          </a:solidFill>
          <a:ln w="9525">
            <a:solidFill>
              <a:srgbClr val="FFCD11">
                <a:alpha val="45000"/>
              </a:srgbClr>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415406" y="2142622"/>
            <a:ext cx="286756" cy="286756"/>
          </a:xfrm>
          <a:prstGeom prst="rect">
            <a:avLst/>
          </a:prstGeom>
        </p:spPr>
      </p:pic>
      <p:sp>
        <p:nvSpPr>
          <p:cNvPr id="18" name="Text 13"/>
          <p:cNvSpPr/>
          <p:nvPr/>
        </p:nvSpPr>
        <p:spPr>
          <a:xfrm>
            <a:off x="8302752" y="2651760"/>
            <a:ext cx="3017520" cy="329184"/>
          </a:xfrm>
          <a:prstGeom prst="rect">
            <a:avLst/>
          </a:prstGeom>
          <a:noFill/>
          <a:ln/>
        </p:spPr>
        <p:txBody>
          <a:bodyPr wrap="square" lIns="0" tIns="0" rIns="0" bIns="0" rtlCol="0" anchor="t"/>
          <a:lstStyle/>
          <a:p>
            <a:pPr marL="0" indent="0" algn="l">
              <a:lnSpc>
                <a:spcPct val="110000"/>
              </a:lnSpc>
              <a:buNone/>
            </a:pPr>
            <a:r>
              <a:rPr lang="en-US" sz="1700" b="1" dirty="0">
                <a:solidFill>
                  <a:srgbClr val="F2F3F5"/>
                </a:solidFill>
                <a:latin typeface="Segoe UI" pitchFamily="34" charset="0"/>
                <a:ea typeface="Segoe UI" pitchFamily="34" charset="-122"/>
                <a:cs typeface="Segoe UI" pitchFamily="34" charset="-120"/>
              </a:rPr>
              <a:t>Scale to Cat's data</a:t>
            </a:r>
            <a:endParaRPr lang="en-US" sz="1700" dirty="0"/>
          </a:p>
        </p:txBody>
      </p:sp>
      <p:sp>
        <p:nvSpPr>
          <p:cNvPr id="19" name="Text 14"/>
          <p:cNvSpPr/>
          <p:nvPr/>
        </p:nvSpPr>
        <p:spPr>
          <a:xfrm>
            <a:off x="8302752" y="2999232"/>
            <a:ext cx="2971800" cy="502920"/>
          </a:xfrm>
          <a:prstGeom prst="rect">
            <a:avLst/>
          </a:prstGeom>
          <a:noFill/>
          <a:ln/>
        </p:spPr>
        <p:txBody>
          <a:bodyPr wrap="square" lIns="0" tIns="0" rIns="0" bIns="0" rtlCol="0" anchor="t"/>
          <a:lstStyle/>
          <a:p>
            <a:pPr marL="0" indent="0" algn="l">
              <a:lnSpc>
                <a:spcPct val="110000"/>
              </a:lnSpc>
              <a:buNone/>
            </a:pPr>
            <a:r>
              <a:rPr lang="en-US" sz="1200" dirty="0">
                <a:solidFill>
                  <a:srgbClr val="9AA3B0"/>
                </a:solidFill>
                <a:latin typeface="Segoe UI" pitchFamily="34" charset="0"/>
                <a:ea typeface="Segoe UI" pitchFamily="34" charset="-122"/>
                <a:cs typeface="Segoe UI" pitchFamily="34" charset="-120"/>
              </a:rPr>
              <a:t>Handle 1,000,000+ parts, manuals and live machine data</a:t>
            </a:r>
            <a:endParaRPr lang="en-US" sz="1200" dirty="0"/>
          </a:p>
        </p:txBody>
      </p:sp>
      <p:sp>
        <p:nvSpPr>
          <p:cNvPr id="20" name="Shape 15"/>
          <p:cNvSpPr/>
          <p:nvPr/>
        </p:nvSpPr>
        <p:spPr>
          <a:xfrm>
            <a:off x="685800" y="3886200"/>
            <a:ext cx="10817352" cy="2194560"/>
          </a:xfrm>
          <a:prstGeom prst="roundRect">
            <a:avLst>
              <a:gd name="adj" fmla="val 5000"/>
            </a:avLst>
          </a:prstGeom>
          <a:solidFill>
            <a:srgbClr val="FFCD11">
              <a:alpha val="12000"/>
            </a:srgbClr>
          </a:solidFill>
          <a:ln w="12700">
            <a:solidFill>
              <a:srgbClr val="FFCD11"/>
            </a:solidFill>
            <a:prstDash val="solid"/>
          </a:ln>
        </p:spPr>
        <p:txBody>
          <a:bodyPr/>
          <a:lstStyle/>
          <a:p>
            <a:endParaRPr lang="en-US"/>
          </a:p>
        </p:txBody>
      </p:sp>
      <p:sp>
        <p:nvSpPr>
          <p:cNvPr id="21" name="Text 16"/>
          <p:cNvSpPr/>
          <p:nvPr/>
        </p:nvSpPr>
        <p:spPr>
          <a:xfrm>
            <a:off x="1051560" y="4160520"/>
            <a:ext cx="4572000" cy="822960"/>
          </a:xfrm>
          <a:prstGeom prst="rect">
            <a:avLst/>
          </a:prstGeom>
          <a:noFill/>
          <a:ln/>
        </p:spPr>
        <p:txBody>
          <a:bodyPr wrap="square" lIns="0" tIns="0" rIns="0" bIns="0" rtlCol="0" anchor="ctr"/>
          <a:lstStyle/>
          <a:p>
            <a:pPr marL="0" indent="0">
              <a:buNone/>
            </a:pPr>
            <a:r>
              <a:rPr lang="en-US" sz="4400" b="1" dirty="0">
                <a:solidFill>
                  <a:srgbClr val="F2F3F5"/>
                </a:solidFill>
                <a:latin typeface="Segoe UI" pitchFamily="34" charset="0"/>
                <a:ea typeface="Segoe UI" pitchFamily="34" charset="-122"/>
                <a:cs typeface="Segoe UI" pitchFamily="34" charset="-120"/>
              </a:rPr>
              <a:t>Déjà</a:t>
            </a:r>
            <a:r>
              <a:rPr lang="en-US" sz="4400" b="1" dirty="0">
                <a:solidFill>
                  <a:srgbClr val="FFCD11"/>
                </a:solidFill>
                <a:latin typeface="Segoe UI" pitchFamily="34" charset="0"/>
                <a:ea typeface="Segoe UI" pitchFamily="34" charset="-122"/>
                <a:cs typeface="Segoe UI" pitchFamily="34" charset="-120"/>
              </a:rPr>
              <a:t>View</a:t>
            </a:r>
            <a:endParaRPr lang="en-US" sz="4400" dirty="0"/>
          </a:p>
        </p:txBody>
      </p:sp>
      <p:sp>
        <p:nvSpPr>
          <p:cNvPr id="23" name="Text 18"/>
          <p:cNvSpPr/>
          <p:nvPr/>
        </p:nvSpPr>
        <p:spPr>
          <a:xfrm>
            <a:off x="7132320" y="4343400"/>
            <a:ext cx="4023360" cy="640080"/>
          </a:xfrm>
          <a:prstGeom prst="rect">
            <a:avLst/>
          </a:prstGeom>
          <a:noFill/>
          <a:ln/>
        </p:spPr>
        <p:txBody>
          <a:bodyPr wrap="square" lIns="0" tIns="0" rIns="0" bIns="0" rtlCol="0" anchor="t"/>
          <a:lstStyle/>
          <a:p>
            <a:pPr marL="0" indent="0" algn="r">
              <a:lnSpc>
                <a:spcPct val="110000"/>
              </a:lnSpc>
              <a:buNone/>
            </a:pPr>
            <a:r>
              <a:rPr lang="en-US" sz="3600" b="1" dirty="0">
                <a:solidFill>
                  <a:srgbClr val="F2F3F5"/>
                </a:solidFill>
                <a:latin typeface="Segoe UI" pitchFamily="34" charset="0"/>
                <a:ea typeface="Segoe UI" pitchFamily="34" charset="-122"/>
                <a:cs typeface="Segoe UI" pitchFamily="34" charset="-120"/>
              </a:rPr>
              <a:t>Thank you</a:t>
            </a:r>
            <a:endParaRPr lang="en-US" sz="3600" dirty="0"/>
          </a:p>
        </p:txBody>
      </p:sp>
      <p:sp>
        <p:nvSpPr>
          <p:cNvPr id="24" name="Text 19"/>
          <p:cNvSpPr/>
          <p:nvPr/>
        </p:nvSpPr>
        <p:spPr>
          <a:xfrm>
            <a:off x="7132320" y="5029200"/>
            <a:ext cx="4023360" cy="365760"/>
          </a:xfrm>
          <a:prstGeom prst="rect">
            <a:avLst/>
          </a:prstGeom>
          <a:noFill/>
          <a:ln/>
        </p:spPr>
        <p:txBody>
          <a:bodyPr wrap="square" lIns="0" tIns="0" rIns="0" bIns="0" rtlCol="0" anchor="t"/>
          <a:lstStyle/>
          <a:p>
            <a:pPr marL="0" indent="0" algn="r">
              <a:lnSpc>
                <a:spcPct val="110000"/>
              </a:lnSpc>
              <a:buNone/>
            </a:pPr>
            <a:r>
              <a:rPr lang="en-US" sz="1500" dirty="0">
                <a:solidFill>
                  <a:srgbClr val="9AA3B0"/>
                </a:solidFill>
                <a:latin typeface="Segoe UI" pitchFamily="34" charset="0"/>
                <a:ea typeface="Segoe UI" pitchFamily="34" charset="-122"/>
                <a:cs typeface="Segoe UI" pitchFamily="34" charset="-120"/>
              </a:rPr>
              <a:t>DAAP Developers  ·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1302</Words>
  <Application>Microsoft Office PowerPoint</Application>
  <PresentationFormat>Widescreen</PresentationFormat>
  <Paragraphs>154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DéjàView - DAAP Developers</dc:title>
  <dc:subject>PptxGenJS Presentation</dc:subject>
  <dc:creator>PptxGenJS</dc:creator>
  <cp:lastModifiedBy>Gupta, Aarav</cp:lastModifiedBy>
  <cp:revision>5</cp:revision>
  <dcterms:created xsi:type="dcterms:W3CDTF">2026-10-03T21:23:12Z</dcterms:created>
  <dcterms:modified xsi:type="dcterms:W3CDTF">2026-10-03T22:22:58Z</dcterms:modified>
</cp:coreProperties>
</file>